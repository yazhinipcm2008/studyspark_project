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 id="2147483650" r:id="rId2"/>
  </p:sldMasterIdLst>
  <p:notesMasterIdLst>
    <p:notesMasterId r:id="rId16"/>
  </p:notesMasterIdLst>
  <p:sldIdLst>
    <p:sldId id="256" r:id="rId3"/>
    <p:sldId id="257" r:id="rId4"/>
    <p:sldId id="263" r:id="rId5"/>
    <p:sldId id="264" r:id="rId6"/>
    <p:sldId id="274" r:id="rId7"/>
    <p:sldId id="265" r:id="rId8"/>
    <p:sldId id="266" r:id="rId9"/>
    <p:sldId id="267" r:id="rId10"/>
    <p:sldId id="268" r:id="rId11"/>
    <p:sldId id="270" r:id="rId12"/>
    <p:sldId id="271" r:id="rId13"/>
    <p:sldId id="272" r:id="rId14"/>
    <p:sldId id="275" r:id="rId23"/>
    <p:sldId id="276" r:id="rId24"/>
    <p:sldId id="277" r:id="rId25"/>
    <p:sldId id="278" r:id="rId26"/>
    <p:sldId id="279" r:id="rId27"/>
    <p:sldId id="280" r:id="rId28"/>
    <p:sldId id="273"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52C2"/>
    <a:srgbClr val="F5F7FB"/>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8DCD8DB-7A89-46EF-A653-5C6538CE2F97}" v="123" dt="2026-07-24T13:54:28.20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8" d="100"/>
          <a:sy n="98" d="100"/>
        </p:scale>
        <p:origin x="82"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microsoft.com/office/2016/11/relationships/changesInfo" Target="changesInfos/changesInfo1.xml"/><Relationship Id="rId22" Type="http://schemas.microsoft.com/office/2015/10/relationships/revisionInfo" Target="revisionInfo.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agalya Yazhini" userId="d35c494f9a551c5c" providerId="LiveId" clId="{4D03713D-2768-4164-8F26-9E618C549CA7}"/>
    <pc:docChg chg="undo custSel delSld modSld">
      <pc:chgData name="Bragalya Yazhini" userId="d35c494f9a551c5c" providerId="LiveId" clId="{4D03713D-2768-4164-8F26-9E618C549CA7}" dt="2026-07-27T03:20:03.245" v="936" actId="47"/>
      <pc:docMkLst>
        <pc:docMk/>
      </pc:docMkLst>
      <pc:sldChg chg="modSp mod">
        <pc:chgData name="Bragalya Yazhini" userId="d35c494f9a551c5c" providerId="LiveId" clId="{4D03713D-2768-4164-8F26-9E618C549CA7}" dt="2026-07-24T12:50:57.818" v="286" actId="20577"/>
        <pc:sldMkLst>
          <pc:docMk/>
          <pc:sldMk cId="0" sldId="256"/>
        </pc:sldMkLst>
        <pc:spChg chg="mod">
          <ac:chgData name="Bragalya Yazhini" userId="d35c494f9a551c5c" providerId="LiveId" clId="{4D03713D-2768-4164-8F26-9E618C549CA7}" dt="2026-07-24T12:40:13.753" v="30" actId="20577"/>
          <ac:spMkLst>
            <pc:docMk/>
            <pc:sldMk cId="0" sldId="256"/>
            <ac:spMk id="9" creationId="{00000000-0000-0000-0000-000000000000}"/>
          </ac:spMkLst>
        </pc:spChg>
        <pc:spChg chg="mod">
          <ac:chgData name="Bragalya Yazhini" userId="d35c494f9a551c5c" providerId="LiveId" clId="{4D03713D-2768-4164-8F26-9E618C549CA7}" dt="2026-07-24T12:40:32.404" v="58" actId="20577"/>
          <ac:spMkLst>
            <pc:docMk/>
            <pc:sldMk cId="0" sldId="256"/>
            <ac:spMk id="10" creationId="{00000000-0000-0000-0000-000000000000}"/>
          </ac:spMkLst>
        </pc:spChg>
        <pc:spChg chg="mod">
          <ac:chgData name="Bragalya Yazhini" userId="d35c494f9a551c5c" providerId="LiveId" clId="{4D03713D-2768-4164-8F26-9E618C549CA7}" dt="2026-07-24T12:44:28.972" v="107" actId="20577"/>
          <ac:spMkLst>
            <pc:docMk/>
            <pc:sldMk cId="0" sldId="256"/>
            <ac:spMk id="11" creationId="{00000000-0000-0000-0000-000000000000}"/>
          </ac:spMkLst>
        </pc:spChg>
        <pc:spChg chg="mod">
          <ac:chgData name="Bragalya Yazhini" userId="d35c494f9a551c5c" providerId="LiveId" clId="{4D03713D-2768-4164-8F26-9E618C549CA7}" dt="2026-07-24T12:47:29.956" v="135" actId="20577"/>
          <ac:spMkLst>
            <pc:docMk/>
            <pc:sldMk cId="0" sldId="256"/>
            <ac:spMk id="14" creationId="{00000000-0000-0000-0000-000000000000}"/>
          </ac:spMkLst>
        </pc:spChg>
        <pc:spChg chg="mod">
          <ac:chgData name="Bragalya Yazhini" userId="d35c494f9a551c5c" providerId="LiveId" clId="{4D03713D-2768-4164-8F26-9E618C549CA7}" dt="2026-07-24T12:49:30.981" v="153" actId="20577"/>
          <ac:spMkLst>
            <pc:docMk/>
            <pc:sldMk cId="0" sldId="256"/>
            <ac:spMk id="15" creationId="{00000000-0000-0000-0000-000000000000}"/>
          </ac:spMkLst>
        </pc:spChg>
        <pc:spChg chg="mod">
          <ac:chgData name="Bragalya Yazhini" userId="d35c494f9a551c5c" providerId="LiveId" clId="{4D03713D-2768-4164-8F26-9E618C549CA7}" dt="2026-07-24T12:50:18.934" v="223" actId="20577"/>
          <ac:spMkLst>
            <pc:docMk/>
            <pc:sldMk cId="0" sldId="256"/>
            <ac:spMk id="16" creationId="{00000000-0000-0000-0000-000000000000}"/>
          </ac:spMkLst>
        </pc:spChg>
        <pc:spChg chg="mod">
          <ac:chgData name="Bragalya Yazhini" userId="d35c494f9a551c5c" providerId="LiveId" clId="{4D03713D-2768-4164-8F26-9E618C549CA7}" dt="2026-07-24T12:50:41.881" v="265" actId="20577"/>
          <ac:spMkLst>
            <pc:docMk/>
            <pc:sldMk cId="0" sldId="256"/>
            <ac:spMk id="17" creationId="{00000000-0000-0000-0000-000000000000}"/>
          </ac:spMkLst>
        </pc:spChg>
        <pc:spChg chg="mod">
          <ac:chgData name="Bragalya Yazhini" userId="d35c494f9a551c5c" providerId="LiveId" clId="{4D03713D-2768-4164-8F26-9E618C549CA7}" dt="2026-07-24T12:50:57.818" v="286" actId="20577"/>
          <ac:spMkLst>
            <pc:docMk/>
            <pc:sldMk cId="0" sldId="256"/>
            <ac:spMk id="18" creationId="{00000000-0000-0000-0000-000000000000}"/>
          </ac:spMkLst>
        </pc:spChg>
      </pc:sldChg>
      <pc:sldChg chg="modSp mod">
        <pc:chgData name="Bragalya Yazhini" userId="d35c494f9a551c5c" providerId="LiveId" clId="{4D03713D-2768-4164-8F26-9E618C549CA7}" dt="2026-07-24T13:19:16.758" v="471" actId="20577"/>
        <pc:sldMkLst>
          <pc:docMk/>
          <pc:sldMk cId="0" sldId="257"/>
        </pc:sldMkLst>
        <pc:spChg chg="mod">
          <ac:chgData name="Bragalya Yazhini" userId="d35c494f9a551c5c" providerId="LiveId" clId="{4D03713D-2768-4164-8F26-9E618C549CA7}" dt="2026-07-24T13:19:16.758" v="471" actId="20577"/>
          <ac:spMkLst>
            <pc:docMk/>
            <pc:sldMk cId="0" sldId="257"/>
            <ac:spMk id="25" creationId="{00000000-0000-0000-0000-000000000000}"/>
          </ac:spMkLst>
        </pc:spChg>
      </pc:sldChg>
      <pc:sldChg chg="addSp delSp modSp mod">
        <pc:chgData name="Bragalya Yazhini" userId="d35c494f9a551c5c" providerId="LiveId" clId="{4D03713D-2768-4164-8F26-9E618C549CA7}" dt="2026-07-24T13:18:29.663" v="461" actId="20577"/>
        <pc:sldMkLst>
          <pc:docMk/>
          <pc:sldMk cId="0" sldId="263"/>
        </pc:sldMkLst>
        <pc:spChg chg="mod">
          <ac:chgData name="Bragalya Yazhini" userId="d35c494f9a551c5c" providerId="LiveId" clId="{4D03713D-2768-4164-8F26-9E618C549CA7}" dt="2026-07-24T13:12:59.184" v="402" actId="20577"/>
          <ac:spMkLst>
            <pc:docMk/>
            <pc:sldMk cId="0" sldId="263"/>
            <ac:spMk id="5" creationId="{00000000-0000-0000-0000-000000000000}"/>
          </ac:spMkLst>
        </pc:spChg>
        <pc:spChg chg="mod">
          <ac:chgData name="Bragalya Yazhini" userId="d35c494f9a551c5c" providerId="LiveId" clId="{4D03713D-2768-4164-8F26-9E618C549CA7}" dt="2026-07-24T13:14:10.968" v="412" actId="1076"/>
          <ac:spMkLst>
            <pc:docMk/>
            <pc:sldMk cId="0" sldId="263"/>
            <ac:spMk id="7" creationId="{00000000-0000-0000-0000-000000000000}"/>
          </ac:spMkLst>
        </pc:spChg>
        <pc:spChg chg="mod">
          <ac:chgData name="Bragalya Yazhini" userId="d35c494f9a551c5c" providerId="LiveId" clId="{4D03713D-2768-4164-8F26-9E618C549CA7}" dt="2026-07-24T13:14:32.298" v="418" actId="1076"/>
          <ac:spMkLst>
            <pc:docMk/>
            <pc:sldMk cId="0" sldId="263"/>
            <ac:spMk id="9" creationId="{00000000-0000-0000-0000-000000000000}"/>
          </ac:spMkLst>
        </pc:spChg>
        <pc:spChg chg="mod">
          <ac:chgData name="Bragalya Yazhini" userId="d35c494f9a551c5c" providerId="LiveId" clId="{4D03713D-2768-4164-8F26-9E618C549CA7}" dt="2026-07-24T13:16:01.912" v="419" actId="207"/>
          <ac:spMkLst>
            <pc:docMk/>
            <pc:sldMk cId="0" sldId="263"/>
            <ac:spMk id="10" creationId="{00000000-0000-0000-0000-000000000000}"/>
          </ac:spMkLst>
        </pc:spChg>
        <pc:spChg chg="mod">
          <ac:chgData name="Bragalya Yazhini" userId="d35c494f9a551c5c" providerId="LiveId" clId="{4D03713D-2768-4164-8F26-9E618C549CA7}" dt="2026-07-24T13:16:06.545" v="420" actId="20577"/>
          <ac:spMkLst>
            <pc:docMk/>
            <pc:sldMk cId="0" sldId="263"/>
            <ac:spMk id="13" creationId="{00000000-0000-0000-0000-000000000000}"/>
          </ac:spMkLst>
        </pc:spChg>
        <pc:spChg chg="add del mod">
          <ac:chgData name="Bragalya Yazhini" userId="d35c494f9a551c5c" providerId="LiveId" clId="{4D03713D-2768-4164-8F26-9E618C549CA7}" dt="2026-07-24T13:18:29.663" v="461" actId="20577"/>
          <ac:spMkLst>
            <pc:docMk/>
            <pc:sldMk cId="0" sldId="263"/>
            <ac:spMk id="23" creationId="{00000000-0000-0000-0000-000000000000}"/>
          </ac:spMkLst>
        </pc:spChg>
        <pc:spChg chg="mod">
          <ac:chgData name="Bragalya Yazhini" userId="d35c494f9a551c5c" providerId="LiveId" clId="{4D03713D-2768-4164-8F26-9E618C549CA7}" dt="2026-07-24T13:16:12.573" v="421" actId="1076"/>
          <ac:spMkLst>
            <pc:docMk/>
            <pc:sldMk cId="0" sldId="263"/>
            <ac:spMk id="27" creationId="{38789443-E5D8-9121-C213-563649E88596}"/>
          </ac:spMkLst>
        </pc:spChg>
        <pc:picChg chg="mod">
          <ac:chgData name="Bragalya Yazhini" userId="d35c494f9a551c5c" providerId="LiveId" clId="{4D03713D-2768-4164-8F26-9E618C549CA7}" dt="2026-07-24T13:16:17.488" v="422" actId="1076"/>
          <ac:picMkLst>
            <pc:docMk/>
            <pc:sldMk cId="0" sldId="263"/>
            <ac:picMk id="12" creationId="{00000000-0000-0000-0000-000000000000}"/>
          </ac:picMkLst>
        </pc:picChg>
        <pc:picChg chg="mod">
          <ac:chgData name="Bragalya Yazhini" userId="d35c494f9a551c5c" providerId="LiveId" clId="{4D03713D-2768-4164-8F26-9E618C549CA7}" dt="2026-07-24T13:14:21.993" v="416" actId="1076"/>
          <ac:picMkLst>
            <pc:docMk/>
            <pc:sldMk cId="0" sldId="263"/>
            <ac:picMk id="26" creationId="{148D9D2E-334D-2EB2-59A5-D502D2E6FFFD}"/>
          </ac:picMkLst>
        </pc:picChg>
      </pc:sldChg>
      <pc:sldChg chg="modSp mod">
        <pc:chgData name="Bragalya Yazhini" userId="d35c494f9a551c5c" providerId="LiveId" clId="{4D03713D-2768-4164-8F26-9E618C549CA7}" dt="2026-07-24T13:17:17.615" v="434" actId="20577"/>
        <pc:sldMkLst>
          <pc:docMk/>
          <pc:sldMk cId="0" sldId="264"/>
        </pc:sldMkLst>
        <pc:spChg chg="mod">
          <ac:chgData name="Bragalya Yazhini" userId="d35c494f9a551c5c" providerId="LiveId" clId="{4D03713D-2768-4164-8F26-9E618C549CA7}" dt="2026-07-24T13:17:17.615" v="434" actId="20577"/>
          <ac:spMkLst>
            <pc:docMk/>
            <pc:sldMk cId="0" sldId="264"/>
            <ac:spMk id="32" creationId="{00000000-0000-0000-0000-000000000000}"/>
          </ac:spMkLst>
        </pc:spChg>
      </pc:sldChg>
      <pc:sldChg chg="delSp modSp mod">
        <pc:chgData name="Bragalya Yazhini" userId="d35c494f9a551c5c" providerId="LiveId" clId="{4D03713D-2768-4164-8F26-9E618C549CA7}" dt="2026-07-24T13:27:41.056" v="635" actId="478"/>
        <pc:sldMkLst>
          <pc:docMk/>
          <pc:sldMk cId="0" sldId="265"/>
        </pc:sldMkLst>
        <pc:spChg chg="mod">
          <ac:chgData name="Bragalya Yazhini" userId="d35c494f9a551c5c" providerId="LiveId" clId="{4D03713D-2768-4164-8F26-9E618C549CA7}" dt="2026-07-24T13:25:13.249" v="611" actId="1076"/>
          <ac:spMkLst>
            <pc:docMk/>
            <pc:sldMk cId="0" sldId="265"/>
            <ac:spMk id="11" creationId="{00000000-0000-0000-0000-000000000000}"/>
          </ac:spMkLst>
        </pc:spChg>
        <pc:spChg chg="mod">
          <ac:chgData name="Bragalya Yazhini" userId="d35c494f9a551c5c" providerId="LiveId" clId="{4D03713D-2768-4164-8F26-9E618C549CA7}" dt="2026-07-24T13:25:36.747" v="618" actId="1076"/>
          <ac:spMkLst>
            <pc:docMk/>
            <pc:sldMk cId="0" sldId="265"/>
            <ac:spMk id="12" creationId="{00000000-0000-0000-0000-000000000000}"/>
          </ac:spMkLst>
        </pc:spChg>
        <pc:spChg chg="mod">
          <ac:chgData name="Bragalya Yazhini" userId="d35c494f9a551c5c" providerId="LiveId" clId="{4D03713D-2768-4164-8F26-9E618C549CA7}" dt="2026-07-24T13:26:46.285" v="629" actId="1076"/>
          <ac:spMkLst>
            <pc:docMk/>
            <pc:sldMk cId="0" sldId="265"/>
            <ac:spMk id="15" creationId="{00000000-0000-0000-0000-000000000000}"/>
          </ac:spMkLst>
        </pc:spChg>
        <pc:spChg chg="mod">
          <ac:chgData name="Bragalya Yazhini" userId="d35c494f9a551c5c" providerId="LiveId" clId="{4D03713D-2768-4164-8F26-9E618C549CA7}" dt="2026-07-24T13:25:26.135" v="616" actId="1076"/>
          <ac:spMkLst>
            <pc:docMk/>
            <pc:sldMk cId="0" sldId="265"/>
            <ac:spMk id="16" creationId="{00000000-0000-0000-0000-000000000000}"/>
          </ac:spMkLst>
        </pc:spChg>
        <pc:spChg chg="mod">
          <ac:chgData name="Bragalya Yazhini" userId="d35c494f9a551c5c" providerId="LiveId" clId="{4D03713D-2768-4164-8F26-9E618C549CA7}" dt="2026-07-24T13:25:31.424" v="617" actId="1076"/>
          <ac:spMkLst>
            <pc:docMk/>
            <pc:sldMk cId="0" sldId="265"/>
            <ac:spMk id="17" creationId="{00000000-0000-0000-0000-000000000000}"/>
          </ac:spMkLst>
        </pc:spChg>
        <pc:spChg chg="mod">
          <ac:chgData name="Bragalya Yazhini" userId="d35c494f9a551c5c" providerId="LiveId" clId="{4D03713D-2768-4164-8F26-9E618C549CA7}" dt="2026-07-24T13:26:40.028" v="628" actId="1076"/>
          <ac:spMkLst>
            <pc:docMk/>
            <pc:sldMk cId="0" sldId="265"/>
            <ac:spMk id="20" creationId="{00000000-0000-0000-0000-000000000000}"/>
          </ac:spMkLst>
        </pc:spChg>
        <pc:spChg chg="mod">
          <ac:chgData name="Bragalya Yazhini" userId="d35c494f9a551c5c" providerId="LiveId" clId="{4D03713D-2768-4164-8F26-9E618C549CA7}" dt="2026-07-24T13:26:09.635" v="624" actId="1076"/>
          <ac:spMkLst>
            <pc:docMk/>
            <pc:sldMk cId="0" sldId="265"/>
            <ac:spMk id="22" creationId="{00000000-0000-0000-0000-000000000000}"/>
          </ac:spMkLst>
        </pc:spChg>
        <pc:spChg chg="mod">
          <ac:chgData name="Bragalya Yazhini" userId="d35c494f9a551c5c" providerId="LiveId" clId="{4D03713D-2768-4164-8F26-9E618C549CA7}" dt="2026-07-24T13:27:04.463" v="632" actId="1076"/>
          <ac:spMkLst>
            <pc:docMk/>
            <pc:sldMk cId="0" sldId="265"/>
            <ac:spMk id="25" creationId="{00000000-0000-0000-0000-000000000000}"/>
          </ac:spMkLst>
        </pc:spChg>
        <pc:spChg chg="mod">
          <ac:chgData name="Bragalya Yazhini" userId="d35c494f9a551c5c" providerId="LiveId" clId="{4D03713D-2768-4164-8F26-9E618C549CA7}" dt="2026-07-24T13:26:06.147" v="623" actId="1076"/>
          <ac:spMkLst>
            <pc:docMk/>
            <pc:sldMk cId="0" sldId="265"/>
            <ac:spMk id="27" creationId="{00000000-0000-0000-0000-000000000000}"/>
          </ac:spMkLst>
        </pc:spChg>
        <pc:spChg chg="mod">
          <ac:chgData name="Bragalya Yazhini" userId="d35c494f9a551c5c" providerId="LiveId" clId="{4D03713D-2768-4164-8F26-9E618C549CA7}" dt="2026-07-24T13:27:32.247" v="634" actId="1076"/>
          <ac:spMkLst>
            <pc:docMk/>
            <pc:sldMk cId="0" sldId="265"/>
            <ac:spMk id="30" creationId="{00000000-0000-0000-0000-000000000000}"/>
          </ac:spMkLst>
        </pc:spChg>
        <pc:spChg chg="mod">
          <ac:chgData name="Bragalya Yazhini" userId="d35c494f9a551c5c" providerId="LiveId" clId="{4D03713D-2768-4164-8F26-9E618C549CA7}" dt="2026-07-24T13:19:39.607" v="491" actId="20577"/>
          <ac:spMkLst>
            <pc:docMk/>
            <pc:sldMk cId="0" sldId="265"/>
            <ac:spMk id="34" creationId="{00000000-0000-0000-0000-000000000000}"/>
          </ac:spMkLst>
        </pc:spChg>
      </pc:sldChg>
      <pc:sldChg chg="addSp delSp modSp mod">
        <pc:chgData name="Bragalya Yazhini" userId="d35c494f9a551c5c" providerId="LiveId" clId="{4D03713D-2768-4164-8F26-9E618C549CA7}" dt="2026-07-24T13:41:58.501" v="821" actId="113"/>
        <pc:sldMkLst>
          <pc:docMk/>
          <pc:sldMk cId="0" sldId="266"/>
        </pc:sldMkLst>
        <pc:spChg chg="mod">
          <ac:chgData name="Bragalya Yazhini" userId="d35c494f9a551c5c" providerId="LiveId" clId="{4D03713D-2768-4164-8F26-9E618C549CA7}" dt="2026-07-24T13:32:15.532" v="688" actId="1076"/>
          <ac:spMkLst>
            <pc:docMk/>
            <pc:sldMk cId="0" sldId="266"/>
            <ac:spMk id="7" creationId="{00000000-0000-0000-0000-000000000000}"/>
          </ac:spMkLst>
        </pc:spChg>
        <pc:spChg chg="mod">
          <ac:chgData name="Bragalya Yazhini" userId="d35c494f9a551c5c" providerId="LiveId" clId="{4D03713D-2768-4164-8F26-9E618C549CA7}" dt="2026-07-24T13:32:59.637" v="741" actId="207"/>
          <ac:spMkLst>
            <pc:docMk/>
            <pc:sldMk cId="0" sldId="266"/>
            <ac:spMk id="10" creationId="{00000000-0000-0000-0000-000000000000}"/>
          </ac:spMkLst>
        </pc:spChg>
        <pc:spChg chg="mod">
          <ac:chgData name="Bragalya Yazhini" userId="d35c494f9a551c5c" providerId="LiveId" clId="{4D03713D-2768-4164-8F26-9E618C549CA7}" dt="2026-07-24T13:32:51.954" v="739" actId="207"/>
          <ac:spMkLst>
            <pc:docMk/>
            <pc:sldMk cId="0" sldId="266"/>
            <ac:spMk id="12" creationId="{00000000-0000-0000-0000-000000000000}"/>
          </ac:spMkLst>
        </pc:spChg>
        <pc:spChg chg="mod">
          <ac:chgData name="Bragalya Yazhini" userId="d35c494f9a551c5c" providerId="LiveId" clId="{4D03713D-2768-4164-8F26-9E618C549CA7}" dt="2026-07-24T13:32:54.682" v="740" actId="207"/>
          <ac:spMkLst>
            <pc:docMk/>
            <pc:sldMk cId="0" sldId="266"/>
            <ac:spMk id="14" creationId="{00000000-0000-0000-0000-000000000000}"/>
          </ac:spMkLst>
        </pc:spChg>
        <pc:spChg chg="mod">
          <ac:chgData name="Bragalya Yazhini" userId="d35c494f9a551c5c" providerId="LiveId" clId="{4D03713D-2768-4164-8F26-9E618C549CA7}" dt="2026-07-24T13:36:10.298" v="802" actId="207"/>
          <ac:spMkLst>
            <pc:docMk/>
            <pc:sldMk cId="0" sldId="266"/>
            <ac:spMk id="18" creationId="{00000000-0000-0000-0000-000000000000}"/>
          </ac:spMkLst>
        </pc:spChg>
        <pc:spChg chg="mod">
          <ac:chgData name="Bragalya Yazhini" userId="d35c494f9a551c5c" providerId="LiveId" clId="{4D03713D-2768-4164-8F26-9E618C549CA7}" dt="2026-07-24T13:36:07.401" v="801" actId="207"/>
          <ac:spMkLst>
            <pc:docMk/>
            <pc:sldMk cId="0" sldId="266"/>
            <ac:spMk id="20" creationId="{00000000-0000-0000-0000-000000000000}"/>
          </ac:spMkLst>
        </pc:spChg>
        <pc:spChg chg="mod">
          <ac:chgData name="Bragalya Yazhini" userId="d35c494f9a551c5c" providerId="LiveId" clId="{4D03713D-2768-4164-8F26-9E618C549CA7}" dt="2026-07-24T13:36:02.361" v="800" actId="207"/>
          <ac:spMkLst>
            <pc:docMk/>
            <pc:sldMk cId="0" sldId="266"/>
            <ac:spMk id="22" creationId="{00000000-0000-0000-0000-000000000000}"/>
          </ac:spMkLst>
        </pc:spChg>
        <pc:spChg chg="mod">
          <ac:chgData name="Bragalya Yazhini" userId="d35c494f9a551c5c" providerId="LiveId" clId="{4D03713D-2768-4164-8F26-9E618C549CA7}" dt="2026-07-24T13:41:29.384" v="818" actId="207"/>
          <ac:spMkLst>
            <pc:docMk/>
            <pc:sldMk cId="0" sldId="266"/>
            <ac:spMk id="26" creationId="{00000000-0000-0000-0000-000000000000}"/>
          </ac:spMkLst>
        </pc:spChg>
        <pc:spChg chg="mod">
          <ac:chgData name="Bragalya Yazhini" userId="d35c494f9a551c5c" providerId="LiveId" clId="{4D03713D-2768-4164-8F26-9E618C549CA7}" dt="2026-07-24T13:41:25.540" v="817" actId="207"/>
          <ac:spMkLst>
            <pc:docMk/>
            <pc:sldMk cId="0" sldId="266"/>
            <ac:spMk id="28" creationId="{00000000-0000-0000-0000-000000000000}"/>
          </ac:spMkLst>
        </pc:spChg>
        <pc:spChg chg="mod">
          <ac:chgData name="Bragalya Yazhini" userId="d35c494f9a551c5c" providerId="LiveId" clId="{4D03713D-2768-4164-8F26-9E618C549CA7}" dt="2026-07-24T13:41:21.523" v="816" actId="207"/>
          <ac:spMkLst>
            <pc:docMk/>
            <pc:sldMk cId="0" sldId="266"/>
            <ac:spMk id="30" creationId="{00000000-0000-0000-0000-000000000000}"/>
          </ac:spMkLst>
        </pc:spChg>
        <pc:spChg chg="mod">
          <ac:chgData name="Bragalya Yazhini" userId="d35c494f9a551c5c" providerId="LiveId" clId="{4D03713D-2768-4164-8F26-9E618C549CA7}" dt="2026-07-24T13:41:49.742" v="819" actId="1076"/>
          <ac:spMkLst>
            <pc:docMk/>
            <pc:sldMk cId="0" sldId="266"/>
            <ac:spMk id="31" creationId="{00000000-0000-0000-0000-000000000000}"/>
          </ac:spMkLst>
        </pc:spChg>
        <pc:spChg chg="mod">
          <ac:chgData name="Bragalya Yazhini" userId="d35c494f9a551c5c" providerId="LiveId" clId="{4D03713D-2768-4164-8F26-9E618C549CA7}" dt="2026-07-24T13:41:58.501" v="821" actId="113"/>
          <ac:spMkLst>
            <pc:docMk/>
            <pc:sldMk cId="0" sldId="266"/>
            <ac:spMk id="33" creationId="{00000000-0000-0000-0000-000000000000}"/>
          </ac:spMkLst>
        </pc:spChg>
        <pc:spChg chg="mod">
          <ac:chgData name="Bragalya Yazhini" userId="d35c494f9a551c5c" providerId="LiveId" clId="{4D03713D-2768-4164-8F26-9E618C549CA7}" dt="2026-07-24T13:19:48.584" v="501" actId="20577"/>
          <ac:spMkLst>
            <pc:docMk/>
            <pc:sldMk cId="0" sldId="266"/>
            <ac:spMk id="34" creationId="{00000000-0000-0000-0000-000000000000}"/>
          </ac:spMkLst>
        </pc:spChg>
      </pc:sldChg>
      <pc:sldChg chg="addSp delSp modSp mod">
        <pc:chgData name="Bragalya Yazhini" userId="d35c494f9a551c5c" providerId="LiveId" clId="{4D03713D-2768-4164-8F26-9E618C549CA7}" dt="2026-07-24T13:47:58.473" v="881" actId="20577"/>
        <pc:sldMkLst>
          <pc:docMk/>
          <pc:sldMk cId="0" sldId="267"/>
        </pc:sldMkLst>
        <pc:spChg chg="mod">
          <ac:chgData name="Bragalya Yazhini" userId="d35c494f9a551c5c" providerId="LiveId" clId="{4D03713D-2768-4164-8F26-9E618C549CA7}" dt="2026-07-24T13:44:14.854" v="840" actId="1076"/>
          <ac:spMkLst>
            <pc:docMk/>
            <pc:sldMk cId="0" sldId="267"/>
            <ac:spMk id="9" creationId="{00000000-0000-0000-0000-000000000000}"/>
          </ac:spMkLst>
        </pc:spChg>
        <pc:spChg chg="mod">
          <ac:chgData name="Bragalya Yazhini" userId="d35c494f9a551c5c" providerId="LiveId" clId="{4D03713D-2768-4164-8F26-9E618C549CA7}" dt="2026-07-24T13:47:32.284" v="875" actId="1076"/>
          <ac:spMkLst>
            <pc:docMk/>
            <pc:sldMk cId="0" sldId="267"/>
            <ac:spMk id="10" creationId="{00000000-0000-0000-0000-000000000000}"/>
          </ac:spMkLst>
        </pc:spChg>
        <pc:spChg chg="mod">
          <ac:chgData name="Bragalya Yazhini" userId="d35c494f9a551c5c" providerId="LiveId" clId="{4D03713D-2768-4164-8F26-9E618C549CA7}" dt="2026-07-24T13:42:58.663" v="825" actId="20577"/>
          <ac:spMkLst>
            <pc:docMk/>
            <pc:sldMk cId="0" sldId="267"/>
            <ac:spMk id="11" creationId="{00000000-0000-0000-0000-000000000000}"/>
          </ac:spMkLst>
        </pc:spChg>
        <pc:spChg chg="mod">
          <ac:chgData name="Bragalya Yazhini" userId="d35c494f9a551c5c" providerId="LiveId" clId="{4D03713D-2768-4164-8F26-9E618C549CA7}" dt="2026-07-24T13:43:49.416" v="833" actId="1076"/>
          <ac:spMkLst>
            <pc:docMk/>
            <pc:sldMk cId="0" sldId="267"/>
            <ac:spMk id="13" creationId="{00000000-0000-0000-0000-000000000000}"/>
          </ac:spMkLst>
        </pc:spChg>
        <pc:spChg chg="mod">
          <ac:chgData name="Bragalya Yazhini" userId="d35c494f9a551c5c" providerId="LiveId" clId="{4D03713D-2768-4164-8F26-9E618C549CA7}" dt="2026-07-24T13:47:58.473" v="881" actId="20577"/>
          <ac:spMkLst>
            <pc:docMk/>
            <pc:sldMk cId="0" sldId="267"/>
            <ac:spMk id="14" creationId="{00000000-0000-0000-0000-000000000000}"/>
          </ac:spMkLst>
        </pc:spChg>
        <pc:spChg chg="mod">
          <ac:chgData name="Bragalya Yazhini" userId="d35c494f9a551c5c" providerId="LiveId" clId="{4D03713D-2768-4164-8F26-9E618C549CA7}" dt="2026-07-24T13:43:54.883" v="836" actId="1076"/>
          <ac:spMkLst>
            <pc:docMk/>
            <pc:sldMk cId="0" sldId="267"/>
            <ac:spMk id="15" creationId="{00000000-0000-0000-0000-000000000000}"/>
          </ac:spMkLst>
        </pc:spChg>
        <pc:spChg chg="add mod">
          <ac:chgData name="Bragalya Yazhini" userId="d35c494f9a551c5c" providerId="LiveId" clId="{4D03713D-2768-4164-8F26-9E618C549CA7}" dt="2026-07-24T13:47:41.336" v="877" actId="1076"/>
          <ac:spMkLst>
            <pc:docMk/>
            <pc:sldMk cId="0" sldId="267"/>
            <ac:spMk id="16" creationId="{2E38D658-AD12-E2ED-A9FE-0294333B0D78}"/>
          </ac:spMkLst>
        </pc:spChg>
        <pc:spChg chg="mod">
          <ac:chgData name="Bragalya Yazhini" userId="d35c494f9a551c5c" providerId="LiveId" clId="{4D03713D-2768-4164-8F26-9E618C549CA7}" dt="2026-07-24T13:45:06.942" v="858" actId="207"/>
          <ac:spMkLst>
            <pc:docMk/>
            <pc:sldMk cId="0" sldId="267"/>
            <ac:spMk id="27" creationId="{00000000-0000-0000-0000-000000000000}"/>
          </ac:spMkLst>
        </pc:spChg>
        <pc:spChg chg="mod">
          <ac:chgData name="Bragalya Yazhini" userId="d35c494f9a551c5c" providerId="LiveId" clId="{4D03713D-2768-4164-8F26-9E618C549CA7}" dt="2026-07-24T13:46:33.231" v="869" actId="207"/>
          <ac:spMkLst>
            <pc:docMk/>
            <pc:sldMk cId="0" sldId="267"/>
            <ac:spMk id="28" creationId="{00000000-0000-0000-0000-000000000000}"/>
          </ac:spMkLst>
        </pc:spChg>
        <pc:spChg chg="mod">
          <ac:chgData name="Bragalya Yazhini" userId="d35c494f9a551c5c" providerId="LiveId" clId="{4D03713D-2768-4164-8F26-9E618C549CA7}" dt="2026-07-24T13:45:47.561" v="864" actId="207"/>
          <ac:spMkLst>
            <pc:docMk/>
            <pc:sldMk cId="0" sldId="267"/>
            <ac:spMk id="31" creationId="{00000000-0000-0000-0000-000000000000}"/>
          </ac:spMkLst>
        </pc:spChg>
        <pc:spChg chg="mod">
          <ac:chgData name="Bragalya Yazhini" userId="d35c494f9a551c5c" providerId="LiveId" clId="{4D03713D-2768-4164-8F26-9E618C549CA7}" dt="2026-07-24T13:46:47.204" v="871" actId="207"/>
          <ac:spMkLst>
            <pc:docMk/>
            <pc:sldMk cId="0" sldId="267"/>
            <ac:spMk id="32" creationId="{00000000-0000-0000-0000-000000000000}"/>
          </ac:spMkLst>
        </pc:spChg>
        <pc:spChg chg="mod">
          <ac:chgData name="Bragalya Yazhini" userId="d35c494f9a551c5c" providerId="LiveId" clId="{4D03713D-2768-4164-8F26-9E618C549CA7}" dt="2026-07-24T13:46:02.293" v="866" actId="207"/>
          <ac:spMkLst>
            <pc:docMk/>
            <pc:sldMk cId="0" sldId="267"/>
            <ac:spMk id="35" creationId="{00000000-0000-0000-0000-000000000000}"/>
          </ac:spMkLst>
        </pc:spChg>
        <pc:spChg chg="mod">
          <ac:chgData name="Bragalya Yazhini" userId="d35c494f9a551c5c" providerId="LiveId" clId="{4D03713D-2768-4164-8F26-9E618C549CA7}" dt="2026-07-24T13:46:57.391" v="873" actId="207"/>
          <ac:spMkLst>
            <pc:docMk/>
            <pc:sldMk cId="0" sldId="267"/>
            <ac:spMk id="36" creationId="{00000000-0000-0000-0000-000000000000}"/>
          </ac:spMkLst>
        </pc:spChg>
        <pc:spChg chg="mod">
          <ac:chgData name="Bragalya Yazhini" userId="d35c494f9a551c5c" providerId="LiveId" clId="{4D03713D-2768-4164-8F26-9E618C549CA7}" dt="2026-07-24T13:19:58.343" v="511" actId="20577"/>
          <ac:spMkLst>
            <pc:docMk/>
            <pc:sldMk cId="0" sldId="267"/>
            <ac:spMk id="40" creationId="{00000000-0000-0000-0000-000000000000}"/>
          </ac:spMkLst>
        </pc:spChg>
        <pc:spChg chg="mod">
          <ac:chgData name="Bragalya Yazhini" userId="d35c494f9a551c5c" providerId="LiveId" clId="{4D03713D-2768-4164-8F26-9E618C549CA7}" dt="2026-07-24T13:44:05.678" v="838" actId="1076"/>
          <ac:spMkLst>
            <pc:docMk/>
            <pc:sldMk cId="0" sldId="267"/>
            <ac:spMk id="47" creationId="{EC628F76-8A5E-75A7-4B44-4DBE6F01DA8B}"/>
          </ac:spMkLst>
        </pc:spChg>
        <pc:picChg chg="mod">
          <ac:chgData name="Bragalya Yazhini" userId="d35c494f9a551c5c" providerId="LiveId" clId="{4D03713D-2768-4164-8F26-9E618C549CA7}" dt="2026-07-24T13:44:12.451" v="839" actId="1076"/>
          <ac:picMkLst>
            <pc:docMk/>
            <pc:sldMk cId="0" sldId="267"/>
            <ac:picMk id="8" creationId="{00000000-0000-0000-0000-000000000000}"/>
          </ac:picMkLst>
        </pc:picChg>
        <pc:picChg chg="mod">
          <ac:chgData name="Bragalya Yazhini" userId="d35c494f9a551c5c" providerId="LiveId" clId="{4D03713D-2768-4164-8F26-9E618C549CA7}" dt="2026-07-24T13:43:45.982" v="832" actId="1076"/>
          <ac:picMkLst>
            <pc:docMk/>
            <pc:sldMk cId="0" sldId="267"/>
            <ac:picMk id="12" creationId="{00000000-0000-0000-0000-000000000000}"/>
          </ac:picMkLst>
        </pc:picChg>
        <pc:picChg chg="mod">
          <ac:chgData name="Bragalya Yazhini" userId="d35c494f9a551c5c" providerId="LiveId" clId="{4D03713D-2768-4164-8F26-9E618C549CA7}" dt="2026-07-24T13:44:00.031" v="837" actId="1076"/>
          <ac:picMkLst>
            <pc:docMk/>
            <pc:sldMk cId="0" sldId="267"/>
            <ac:picMk id="45" creationId="{8DDCAB67-D207-A987-4255-33A39229378E}"/>
          </ac:picMkLst>
        </pc:picChg>
      </pc:sldChg>
      <pc:sldChg chg="addSp delSp modSp mod">
        <pc:chgData name="Bragalya Yazhini" userId="d35c494f9a551c5c" providerId="LiveId" clId="{4D03713D-2768-4164-8F26-9E618C549CA7}" dt="2026-07-24T13:54:28.206" v="935"/>
        <pc:sldMkLst>
          <pc:docMk/>
          <pc:sldMk cId="0" sldId="268"/>
        </pc:sldMkLst>
        <pc:spChg chg="mod">
          <ac:chgData name="Bragalya Yazhini" userId="d35c494f9a551c5c" providerId="LiveId" clId="{4D03713D-2768-4164-8F26-9E618C549CA7}" dt="2026-07-24T13:49:44.821" v="891" actId="1076"/>
          <ac:spMkLst>
            <pc:docMk/>
            <pc:sldMk cId="0" sldId="268"/>
            <ac:spMk id="6" creationId="{00000000-0000-0000-0000-000000000000}"/>
          </ac:spMkLst>
        </pc:spChg>
        <pc:spChg chg="add mod">
          <ac:chgData name="Bragalya Yazhini" userId="d35c494f9a551c5c" providerId="LiveId" clId="{4D03713D-2768-4164-8F26-9E618C549CA7}" dt="2026-07-24T13:50:57.085" v="903" actId="1076"/>
          <ac:spMkLst>
            <pc:docMk/>
            <pc:sldMk cId="0" sldId="268"/>
            <ac:spMk id="7" creationId="{A6524620-5E93-4EF8-4BB2-79DB88189984}"/>
          </ac:spMkLst>
        </pc:spChg>
        <pc:spChg chg="mod">
          <ac:chgData name="Bragalya Yazhini" userId="d35c494f9a551c5c" providerId="LiveId" clId="{4D03713D-2768-4164-8F26-9E618C549CA7}" dt="2026-07-24T13:20:10.441" v="525" actId="20577"/>
          <ac:spMkLst>
            <pc:docMk/>
            <pc:sldMk cId="0" sldId="268"/>
            <ac:spMk id="15" creationId="{00000000-0000-0000-0000-000000000000}"/>
          </ac:spMkLst>
        </pc:spChg>
        <pc:graphicFrameChg chg="mod modGraphic">
          <ac:chgData name="Bragalya Yazhini" userId="d35c494f9a551c5c" providerId="LiveId" clId="{4D03713D-2768-4164-8F26-9E618C549CA7}" dt="2026-07-24T13:54:28.206" v="935"/>
          <ac:graphicFrameMkLst>
            <pc:docMk/>
            <pc:sldMk cId="0" sldId="268"/>
            <ac:graphicFrameMk id="14" creationId="{00000000-0000-0000-0000-000000000000}"/>
          </ac:graphicFrameMkLst>
        </pc:graphicFrameChg>
      </pc:sldChg>
      <pc:sldChg chg="modSp mod">
        <pc:chgData name="Bragalya Yazhini" userId="d35c494f9a551c5c" providerId="LiveId" clId="{4D03713D-2768-4164-8F26-9E618C549CA7}" dt="2026-07-24T13:20:18.497" v="535" actId="20577"/>
        <pc:sldMkLst>
          <pc:docMk/>
          <pc:sldMk cId="0" sldId="270"/>
        </pc:sldMkLst>
        <pc:spChg chg="mod">
          <ac:chgData name="Bragalya Yazhini" userId="d35c494f9a551c5c" providerId="LiveId" clId="{4D03713D-2768-4164-8F26-9E618C549CA7}" dt="2026-07-24T13:20:18.497" v="535" actId="20577"/>
          <ac:spMkLst>
            <pc:docMk/>
            <pc:sldMk cId="0" sldId="270"/>
            <ac:spMk id="57" creationId="{00000000-0000-0000-0000-000000000000}"/>
          </ac:spMkLst>
        </pc:spChg>
      </pc:sldChg>
      <pc:sldChg chg="modSp mod">
        <pc:chgData name="Bragalya Yazhini" userId="d35c494f9a551c5c" providerId="LiveId" clId="{4D03713D-2768-4164-8F26-9E618C549CA7}" dt="2026-07-24T13:20:25.297" v="545" actId="20577"/>
        <pc:sldMkLst>
          <pc:docMk/>
          <pc:sldMk cId="0" sldId="271"/>
        </pc:sldMkLst>
        <pc:spChg chg="mod">
          <ac:chgData name="Bragalya Yazhini" userId="d35c494f9a551c5c" providerId="LiveId" clId="{4D03713D-2768-4164-8F26-9E618C549CA7}" dt="2026-07-24T13:20:25.297" v="545" actId="20577"/>
          <ac:spMkLst>
            <pc:docMk/>
            <pc:sldMk cId="0" sldId="271"/>
            <ac:spMk id="18" creationId="{00000000-0000-0000-0000-000000000000}"/>
          </ac:spMkLst>
        </pc:spChg>
        <pc:graphicFrameChg chg="modGraphic">
          <ac:chgData name="Bragalya Yazhini" userId="d35c494f9a551c5c" providerId="LiveId" clId="{4D03713D-2768-4164-8F26-9E618C549CA7}" dt="2026-07-24T12:53:44.341" v="398" actId="20577"/>
          <ac:graphicFrameMkLst>
            <pc:docMk/>
            <pc:sldMk cId="0" sldId="271"/>
            <ac:graphicFrameMk id="17" creationId="{00000000-0000-0000-0000-000000000000}"/>
          </ac:graphicFrameMkLst>
        </pc:graphicFrameChg>
      </pc:sldChg>
      <pc:sldChg chg="modSp mod">
        <pc:chgData name="Bragalya Yazhini" userId="d35c494f9a551c5c" providerId="LiveId" clId="{4D03713D-2768-4164-8F26-9E618C549CA7}" dt="2026-07-24T13:20:33.647" v="555" actId="20577"/>
        <pc:sldMkLst>
          <pc:docMk/>
          <pc:sldMk cId="0" sldId="272"/>
        </pc:sldMkLst>
        <pc:spChg chg="mod">
          <ac:chgData name="Bragalya Yazhini" userId="d35c494f9a551c5c" providerId="LiveId" clId="{4D03713D-2768-4164-8F26-9E618C549CA7}" dt="2026-07-24T13:20:33.647" v="555" actId="20577"/>
          <ac:spMkLst>
            <pc:docMk/>
            <pc:sldMk cId="0" sldId="272"/>
            <ac:spMk id="35" creationId="{00000000-0000-0000-0000-000000000000}"/>
          </ac:spMkLst>
        </pc:spChg>
      </pc:sldChg>
      <pc:sldChg chg="addSp delSp modSp mod">
        <pc:chgData name="Bragalya Yazhini" userId="d35c494f9a551c5c" providerId="LiveId" clId="{4D03713D-2768-4164-8F26-9E618C549CA7}" dt="2026-07-24T13:23:51.459" v="585" actId="478"/>
        <pc:sldMkLst>
          <pc:docMk/>
          <pc:sldMk cId="0" sldId="274"/>
        </pc:sldMkLst>
        <pc:spChg chg="add mod">
          <ac:chgData name="Bragalya Yazhini" userId="d35c494f9a551c5c" providerId="LiveId" clId="{4D03713D-2768-4164-8F26-9E618C549CA7}" dt="2026-07-24T13:23:19.190" v="579" actId="14100"/>
          <ac:spMkLst>
            <pc:docMk/>
            <pc:sldMk cId="0" sldId="274"/>
            <ac:spMk id="4" creationId="{87231FAE-AB3C-7CE5-6A2A-78DA4F37EA2D}"/>
          </ac:spMkLst>
        </pc:spChg>
        <pc:spChg chg="add mod">
          <ac:chgData name="Bragalya Yazhini" userId="d35c494f9a551c5c" providerId="LiveId" clId="{4D03713D-2768-4164-8F26-9E618C549CA7}" dt="2026-07-24T13:23:45.244" v="584" actId="14100"/>
          <ac:spMkLst>
            <pc:docMk/>
            <pc:sldMk cId="0" sldId="274"/>
            <ac:spMk id="7" creationId="{9608DCC6-88B2-F87A-EE10-B0142761E9AC}"/>
          </ac:spMkLst>
        </pc:spChg>
        <pc:spChg chg="mod">
          <ac:chgData name="Bragalya Yazhini" userId="d35c494f9a551c5c" providerId="LiveId" clId="{4D03713D-2768-4164-8F26-9E618C549CA7}" dt="2026-07-24T13:19:27.955" v="481" actId="20577"/>
          <ac:spMkLst>
            <pc:docMk/>
            <pc:sldMk cId="0" sldId="274"/>
            <ac:spMk id="32" creationId="{00000000-0000-0000-0000-000000000000}"/>
          </ac:spMkLst>
        </pc:spChg>
        <pc:spChg chg="mod">
          <ac:chgData name="Bragalya Yazhini" userId="d35c494f9a551c5c" providerId="LiveId" clId="{4D03713D-2768-4164-8F26-9E618C549CA7}" dt="2026-07-24T13:22:32.716" v="569" actId="1076"/>
          <ac:spMkLst>
            <pc:docMk/>
            <pc:sldMk cId="0" sldId="274"/>
            <ac:spMk id="107" creationId="{00000000-0000-0000-0000-000000000000}"/>
          </ac:spMkLst>
        </pc:spChg>
        <pc:spChg chg="mod">
          <ac:chgData name="Bragalya Yazhini" userId="d35c494f9a551c5c" providerId="LiveId" clId="{4D03713D-2768-4164-8F26-9E618C549CA7}" dt="2026-07-24T13:23:22.095" v="580"/>
          <ac:spMkLst>
            <pc:docMk/>
            <pc:sldMk cId="0" sldId="274"/>
            <ac:spMk id="117" creationId="{00000000-0000-0000-0000-000000000000}"/>
          </ac:spMkLst>
        </pc:spChg>
      </pc:sldChg>
      <pc:sldChg chg="del">
        <pc:chgData name="Bragalya Yazhini" userId="d35c494f9a551c5c" providerId="LiveId" clId="{4D03713D-2768-4164-8F26-9E618C549CA7}" dt="2026-07-27T03:20:03.245" v="936" actId="47"/>
        <pc:sldMkLst>
          <pc:docMk/>
          <pc:sldMk cId="2266170436" sldId="27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22703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mentor. Keep this to 30 seconds.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only recaps. Everything after this is new work from the Ideate stage.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reviewers remember. Say the pitch line out loud, clearly.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frames: problem → user meets solution → user uses it → outcome.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BEFORE story aloud first, then the AFTER story. Use real details from your field visit — names, times, what the person actually said. A story full of [ blanks ] or generic phrases shows the team never met a real user.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feature has no matching pain point, it is a feature you invented — drop 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Novelty is a scoring criterion. Be specific about the gap.</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Naming a risk is a strength, not a weakness.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Approximate figures are fine. Show the thinking, not precision.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one primary SDG. Two at most. Do not tick every box.</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 work is a scored criterion. Everyone should speak at least once.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with a clear ask. Mentors can only help if you name what you need.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 name="Date Placeholder"/>
          <p:cNvSpPr>
            <a:spLocks noGrp="1"/>
          </p:cNvSpPr>
          <p:nvPr>
            <p:ph type="dt" sz="quarter" idx="10"/>
          </p:nvPr>
        </p:nvSpPr>
        <p:spPr>
          <a:xfrm>
            <a:off x="502920" y="6382512"/>
            <a:ext cx="2926080" cy="256032"/>
          </a:xfrm>
          <a:prstGeom prst="rect">
            <a:avLst/>
          </a:prstGeom>
        </p:spPr>
        <p:txBody>
          <a:bodyPr vert="horz" lIns="0" tIns="0" rIns="0" bIns="0" rtlCol="0" anchor="ctr"/>
          <a:lstStyle>
            <a:lvl1pPr algn="l">
              <a:defRPr sz="900">
                <a:solidFill>
                  <a:srgbClr val="8A93A8"/>
                </a:solidFill>
                <a:latin typeface="Calibri" pitchFamily="34" charset="0"/>
                <a:cs typeface="Calibri" pitchFamily="34" charset="0"/>
              </a:defRPr>
            </a:lvl1pPr>
          </a:lstStyle>
          <a:p>
            <a:fld id="{A3464B84-BDE3-4D1F-9B63-5F2E66B19489}" type="datetime1">
              <a:rPr lang="en-IN" smtClean="0"/>
              <a:t>27-07-2026</a:t>
            </a:fld>
            <a:endParaRPr lang="en-IN"/>
          </a:p>
        </p:txBody>
      </p:sp>
      <p:sp>
        <p:nvSpPr>
          <p:cNvPr id="3" name="Footer Placeholder"/>
          <p:cNvSpPr>
            <a:spLocks noGrp="1"/>
          </p:cNvSpPr>
          <p:nvPr>
            <p:ph type="ftr" sz="quarter" idx="11"/>
          </p:nvPr>
        </p:nvSpPr>
        <p:spPr>
          <a:xfrm>
            <a:off x="3657600" y="6382512"/>
            <a:ext cx="4873752" cy="256032"/>
          </a:xfrm>
          <a:prstGeom prst="rect">
            <a:avLst/>
          </a:prstGeom>
        </p:spPr>
        <p:txBody>
          <a:bodyPr vert="horz" lIns="0" tIns="0" rIns="0" bIns="0" rtlCol="0" anchor="ctr"/>
          <a:lstStyle>
            <a:lvl1pPr algn="ctr">
              <a:defRPr sz="900">
                <a:solidFill>
                  <a:srgbClr val="8A93A8"/>
                </a:solidFill>
                <a:latin typeface="Calibri" pitchFamily="34" charset="0"/>
                <a:cs typeface="Calibri" pitchFamily="34" charset="0"/>
              </a:defRPr>
            </a:lvl1pPr>
          </a:lstStyle>
          <a:p>
            <a:endParaRPr lang="en-IN"/>
          </a:p>
        </p:txBody>
      </p:sp>
      <p:sp>
        <p:nvSpPr>
          <p:cNvPr id="4" name="Slide Number Placeholder"/>
          <p:cNvSpPr>
            <a:spLocks noGrp="1"/>
          </p:cNvSpPr>
          <p:nvPr>
            <p:ph type="sldNum" sz="quarter" idx="12"/>
          </p:nvPr>
        </p:nvSpPr>
        <p:spPr>
          <a:xfrm>
            <a:off x="10424160" y="6382512"/>
            <a:ext cx="1261872" cy="256032"/>
          </a:xfrm>
          <a:prstGeom prst="rect">
            <a:avLst/>
          </a:prstGeom>
        </p:spPr>
        <p:txBody>
          <a:bodyPr vert="horz" lIns="0" tIns="0" rIns="0" bIns="0" rtlCol="0" anchor="ctr"/>
          <a:lstStyle>
            <a:lvl1pPr algn="r">
              <a:defRPr sz="900">
                <a:solidFill>
                  <a:srgbClr val="8A93A8"/>
                </a:solidFill>
                <a:latin typeface="Calibri" pitchFamily="34" charset="0"/>
                <a:cs typeface="Calibri" pitchFamily="34" charset="0"/>
              </a:defRPr>
            </a:lvl1pPr>
          </a:lstStyle>
          <a:p>
            <a:fld id="{5DA69706-AA36-4E7E-8FCC-9F872632B4D5}"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685877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Date Placeholder"/>
          <p:cNvSpPr>
            <a:spLocks noGrp="1"/>
          </p:cNvSpPr>
          <p:nvPr>
            <p:ph type="dt" sz="quarter" idx="2"/>
          </p:nvPr>
        </p:nvSpPr>
        <p:spPr>
          <a:xfrm>
            <a:off x="502920" y="6382512"/>
            <a:ext cx="2926080" cy="256032"/>
          </a:xfrm>
          <a:prstGeom prst="rect">
            <a:avLst/>
          </a:prstGeom>
        </p:spPr>
        <p:txBody>
          <a:bodyPr vert="horz" lIns="0" tIns="0" rIns="0" bIns="0" rtlCol="0" anchor="ctr"/>
          <a:lstStyle>
            <a:lvl1pPr algn="l">
              <a:defRPr sz="900">
                <a:solidFill>
                  <a:srgbClr val="8A93A8"/>
                </a:solidFill>
                <a:latin typeface="Calibri" pitchFamily="34" charset="0"/>
                <a:cs typeface="Calibri" pitchFamily="34" charset="0"/>
              </a:defRPr>
            </a:lvl1pPr>
          </a:lstStyle>
          <a:p>
            <a:fld id="{3B21E6B7-6C87-44B0-9505-88B357C2A70C}" type="datetime1">
              <a:rPr lang="en-IN" smtClean="0"/>
              <a:t>27-07-2026</a:t>
            </a:fld>
            <a:endParaRPr lang="en-IN"/>
          </a:p>
        </p:txBody>
      </p:sp>
      <p:sp>
        <p:nvSpPr>
          <p:cNvPr id="3" name="Footer Placeholder"/>
          <p:cNvSpPr>
            <a:spLocks noGrp="1"/>
          </p:cNvSpPr>
          <p:nvPr>
            <p:ph type="ftr" sz="quarter" idx="3"/>
          </p:nvPr>
        </p:nvSpPr>
        <p:spPr>
          <a:xfrm>
            <a:off x="3657600" y="6382512"/>
            <a:ext cx="4873752" cy="256032"/>
          </a:xfrm>
          <a:prstGeom prst="rect">
            <a:avLst/>
          </a:prstGeom>
        </p:spPr>
        <p:txBody>
          <a:bodyPr vert="horz" lIns="0" tIns="0" rIns="0" bIns="0" rtlCol="0" anchor="ctr"/>
          <a:lstStyle>
            <a:lvl1pPr algn="ctr">
              <a:defRPr sz="900">
                <a:solidFill>
                  <a:srgbClr val="8A93A8"/>
                </a:solidFill>
                <a:latin typeface="Calibri" pitchFamily="34" charset="0"/>
                <a:cs typeface="Calibri" pitchFamily="34" charset="0"/>
              </a:defRPr>
            </a:lvl1pPr>
          </a:lstStyle>
          <a:p>
            <a:endParaRPr lang="en-IN"/>
          </a:p>
        </p:txBody>
      </p:sp>
      <p:sp>
        <p:nvSpPr>
          <p:cNvPr id="4" name="Slide Number Placeholder"/>
          <p:cNvSpPr>
            <a:spLocks noGrp="1"/>
          </p:cNvSpPr>
          <p:nvPr>
            <p:ph type="sldNum" sz="quarter" idx="4"/>
          </p:nvPr>
        </p:nvSpPr>
        <p:spPr>
          <a:xfrm>
            <a:off x="10424160" y="6382512"/>
            <a:ext cx="1261872" cy="256032"/>
          </a:xfrm>
          <a:prstGeom prst="rect">
            <a:avLst/>
          </a:prstGeom>
        </p:spPr>
        <p:txBody>
          <a:bodyPr vert="horz" lIns="0" tIns="0" rIns="0" bIns="0" rtlCol="0" anchor="ctr"/>
          <a:lstStyle>
            <a:lvl1pPr algn="r">
              <a:defRPr sz="900">
                <a:solidFill>
                  <a:srgbClr val="8A93A8"/>
                </a:solidFill>
                <a:latin typeface="Calibri" pitchFamily="34" charset="0"/>
                <a:cs typeface="Calibri" pitchFamily="34" charset="0"/>
              </a:defRPr>
            </a:lvl1pPr>
          </a:lstStyle>
          <a:p>
            <a:fld id="{DE66FFF3-00B7-4355-ADB4-2E871AF7C504}"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6496056"/>
      </p:ext>
    </p:extLst>
  </p:cSld>
  <p:clrMap bg1="lt1" tx1="dk1" bg2="lt2" tx2="dk2" accent1="accent1" accent2="accent2" accent3="accent3" accent4="accent4" accent5="accent5" accent6="accent6" hlink="hlink" folHlink="folHlink"/>
  <p:sldLayoutIdLst>
    <p:sldLayoutId id="214748365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image" Target="../media/image4.png"/><Relationship Id="rId6" Type="http://schemas.openxmlformats.org/officeDocument/2006/relationships/image" Target="../media/image11.png"/><Relationship Id="rId7"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image" Target="../media/image5.png"/><Relationship Id="rId6"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image" Target="../media/image11.png"/><Relationship Id="rId6" Type="http://schemas.openxmlformats.org/officeDocument/2006/relationships/image" Target="../media/image14.png"/><Relationship Id="rId7"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15.jpg"/><Relationship Id="rId5" Type="http://schemas.openxmlformats.org/officeDocument/2006/relationships/image" Target="../media/image16.jpg"/><Relationship Id="rId6" Type="http://schemas.openxmlformats.org/officeDocument/2006/relationships/image" Target="../media/image17.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18.jpg"/><Relationship Id="rId5" Type="http://schemas.openxmlformats.org/officeDocument/2006/relationships/image" Target="../media/image19.jpg"/><Relationship Id="rId6" Type="http://schemas.openxmlformats.org/officeDocument/2006/relationships/image" Target="../media/image20.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21.jpg"/><Relationship Id="rId5" Type="http://schemas.openxmlformats.org/officeDocument/2006/relationships/image" Target="../media/image22.jpg"/><Relationship Id="rId6" Type="http://schemas.openxmlformats.org/officeDocument/2006/relationships/image" Target="../media/image23.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24.jpg"/><Relationship Id="rId5" Type="http://schemas.openxmlformats.org/officeDocument/2006/relationships/image" Target="../media/image25.jpg"/><Relationship Id="rId6" Type="http://schemas.openxmlformats.org/officeDocument/2006/relationships/image" Target="../media/image26.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4" name="Text 1"/>
          <p:cNvSpPr/>
          <p:nvPr/>
        </p:nvSpPr>
        <p:spPr>
          <a:xfrm>
            <a:off x="758952" y="1494954"/>
            <a:ext cx="10927080" cy="502920"/>
          </a:xfrm>
          <a:prstGeom prst="rect">
            <a:avLst/>
          </a:prstGeom>
          <a:noFill/>
          <a:ln/>
        </p:spPr>
        <p:txBody>
          <a:bodyPr wrap="square" lIns="0" tIns="0" rIns="0" bIns="0" rtlCol="0" anchor="ctr"/>
          <a:lstStyle/>
          <a:p>
            <a:pPr marL="0" indent="0" algn="ctr">
              <a:buNone/>
            </a:pPr>
            <a:r>
              <a:rPr lang="en-US" sz="3400" b="1" dirty="0">
                <a:solidFill>
                  <a:srgbClr val="071A45"/>
                </a:solidFill>
                <a:latin typeface="Calibri" pitchFamily="34" charset="0"/>
                <a:ea typeface="Calibri" pitchFamily="34" charset="-122"/>
                <a:cs typeface="Calibri" pitchFamily="34" charset="-120"/>
              </a:rPr>
              <a:t>Design Thinking &amp; Innovation</a:t>
            </a:r>
            <a:endParaRPr lang="en-US" sz="3400" dirty="0"/>
          </a:p>
        </p:txBody>
      </p:sp>
      <p:sp>
        <p:nvSpPr>
          <p:cNvPr id="5" name="Text 2"/>
          <p:cNvSpPr/>
          <p:nvPr/>
        </p:nvSpPr>
        <p:spPr>
          <a:xfrm>
            <a:off x="758951" y="1956816"/>
            <a:ext cx="10927079" cy="457200"/>
          </a:xfrm>
          <a:prstGeom prst="rect">
            <a:avLst/>
          </a:prstGeom>
          <a:noFill/>
          <a:ln/>
        </p:spPr>
        <p:txBody>
          <a:bodyPr wrap="square" lIns="0" tIns="0" rIns="0" bIns="0" rtlCol="0" anchor="ctr"/>
          <a:lstStyle/>
          <a:p>
            <a:pPr marL="0" indent="0" algn="ctr">
              <a:buNone/>
              <a:defRPr sz="2200" b="1">
                <a:solidFill>
                  <a:srgbClr val="D97706"/>
                </a:solidFill>
                <a:latin typeface="Calibri"/>
              </a:defRPr>
            </a:pPr>
            <a:r>
              <a:t>StudySpark — AI-Powered Personalized Study Companion</a:t>
            </a:r>
            <a:endParaRPr lang="en-US" sz="2800" dirty="0"/>
          </a:p>
        </p:txBody>
      </p:sp>
      <p:sp>
        <p:nvSpPr>
          <p:cNvPr id="6" name="Text 3"/>
          <p:cNvSpPr/>
          <p:nvPr/>
        </p:nvSpPr>
        <p:spPr>
          <a:xfrm>
            <a:off x="758952" y="2605862"/>
            <a:ext cx="10927078" cy="338328"/>
          </a:xfrm>
          <a:prstGeom prst="rect">
            <a:avLst/>
          </a:prstGeom>
          <a:noFill/>
          <a:ln/>
        </p:spPr>
        <p:txBody>
          <a:bodyPr wrap="square" lIns="0" tIns="0" rIns="0" bIns="0" rtlCol="0" anchor="ctr"/>
          <a:lstStyle/>
          <a:p>
            <a:pPr marL="0" indent="0" algn="ctr">
              <a:buNone/>
              <a:defRPr sz="1800" b="1">
                <a:solidFill>
                  <a:srgbClr val="1C52C2"/>
                </a:solidFill>
                <a:latin typeface="Calibri"/>
              </a:defRPr>
            </a:pPr>
            <a:r>
              <a:t>Review - I &amp; Working Prototype Showcase</a:t>
            </a:r>
            <a:endParaRPr lang="en-US" sz="1200" dirty="0"/>
          </a:p>
        </p:txBody>
      </p:sp>
      <p:sp>
        <p:nvSpPr>
          <p:cNvPr id="7" name="Shape 4"/>
          <p:cNvSpPr/>
          <p:nvPr/>
        </p:nvSpPr>
        <p:spPr>
          <a:xfrm>
            <a:off x="502920" y="3223689"/>
            <a:ext cx="5303520" cy="2514600"/>
          </a:xfrm>
          <a:prstGeom prst="roundRect">
            <a:avLst>
              <a:gd name="adj" fmla="val 2909"/>
            </a:avLst>
          </a:prstGeom>
          <a:solidFill>
            <a:schemeClr val="accent1">
              <a:lumMod val="50000"/>
            </a:schemeClr>
          </a:solidFill>
          <a:ln w="12700">
            <a:solidFill>
              <a:srgbClr val="DFE4EE"/>
            </a:solidFill>
            <a:prstDash val="solid"/>
          </a:ln>
        </p:spPr>
        <p:txBody>
          <a:bodyPr/>
          <a:p/>
        </p:txBody>
      </p:sp>
      <p:sp>
        <p:nvSpPr>
          <p:cNvPr id="8" name="Text 5"/>
          <p:cNvSpPr/>
          <p:nvPr/>
        </p:nvSpPr>
        <p:spPr>
          <a:xfrm>
            <a:off x="822960" y="3401568"/>
            <a:ext cx="4663440" cy="237744"/>
          </a:xfrm>
          <a:prstGeom prst="rect">
            <a:avLst/>
          </a:prstGeom>
          <a:noFill/>
          <a:ln/>
        </p:spPr>
        <p:txBody>
          <a:bodyPr wrap="square" lIns="0" tIns="0" rIns="0" bIns="0" rtlCol="0" anchor="ctr"/>
          <a:lstStyle/>
          <a:p>
            <a:pPr marL="0" indent="0" algn="l">
              <a:buNone/>
            </a:pPr>
            <a:r>
              <a:rPr lang="en-US" sz="1200" b="1" kern="0" spc="60" dirty="0">
                <a:solidFill>
                  <a:srgbClr val="FFC000"/>
                </a:solidFill>
                <a:latin typeface="Calibri" pitchFamily="34" charset="0"/>
                <a:ea typeface="Calibri" pitchFamily="34" charset="-122"/>
                <a:cs typeface="Calibri" pitchFamily="34" charset="-120"/>
              </a:rPr>
              <a:t>FACULTY MENTOR</a:t>
            </a:r>
            <a:endParaRPr lang="en-US" sz="1200" dirty="0">
              <a:solidFill>
                <a:srgbClr val="FFC000"/>
              </a:solidFill>
            </a:endParaRPr>
          </a:p>
        </p:txBody>
      </p:sp>
      <p:sp>
        <p:nvSpPr>
          <p:cNvPr id="9" name="Text 6"/>
          <p:cNvSpPr/>
          <p:nvPr/>
        </p:nvSpPr>
        <p:spPr>
          <a:xfrm>
            <a:off x="822960" y="3886200"/>
            <a:ext cx="4663440" cy="320040"/>
          </a:xfrm>
          <a:prstGeom prst="rect">
            <a:avLst/>
          </a:prstGeom>
          <a:noFill/>
          <a:ln/>
        </p:spPr>
        <p:txBody>
          <a:bodyPr wrap="square" lIns="0" tIns="0" rIns="0" bIns="0" rtlCol="0" anchor="t"/>
          <a:lstStyle/>
          <a:p>
            <a:pPr marL="0" indent="0" algn="l">
              <a:lnSpc>
                <a:spcPct val="105000"/>
              </a:lnSpc>
              <a:buNone/>
            </a:pPr>
            <a:r>
              <a:rPr lang="en-US" sz="1200" dirty="0">
                <a:solidFill>
                  <a:schemeClr val="bg1"/>
                </a:solidFill>
                <a:latin typeface="Calibri" pitchFamily="34" charset="0"/>
                <a:ea typeface="Calibri" pitchFamily="34" charset="-122"/>
                <a:cs typeface="Calibri" pitchFamily="34" charset="-120"/>
              </a:rPr>
              <a:t>Name:  Sowmiya S</a:t>
            </a:r>
            <a:endParaRPr lang="en-US" sz="1200" dirty="0">
              <a:solidFill>
                <a:schemeClr val="bg1"/>
              </a:solidFill>
            </a:endParaRPr>
          </a:p>
        </p:txBody>
      </p:sp>
      <p:sp>
        <p:nvSpPr>
          <p:cNvPr id="10" name="Text 7"/>
          <p:cNvSpPr/>
          <p:nvPr/>
        </p:nvSpPr>
        <p:spPr>
          <a:xfrm>
            <a:off x="822960" y="4361688"/>
            <a:ext cx="4663440" cy="320040"/>
          </a:xfrm>
          <a:prstGeom prst="rect">
            <a:avLst/>
          </a:prstGeom>
          <a:noFill/>
          <a:ln/>
        </p:spPr>
        <p:txBody>
          <a:bodyPr wrap="square" lIns="0" tIns="0" rIns="0" bIns="0" rtlCol="0" anchor="t"/>
          <a:lstStyle/>
          <a:p>
            <a:pPr marL="0" indent="0" algn="l">
              <a:lnSpc>
                <a:spcPct val="105000"/>
              </a:lnSpc>
              <a:buNone/>
            </a:pPr>
            <a:r>
              <a:rPr lang="en-US" sz="1200" dirty="0">
                <a:solidFill>
                  <a:schemeClr val="bg1"/>
                </a:solidFill>
                <a:latin typeface="Calibri" pitchFamily="34" charset="0"/>
                <a:ea typeface="Calibri" pitchFamily="34" charset="-122"/>
                <a:cs typeface="Calibri" pitchFamily="34" charset="-120"/>
              </a:rPr>
              <a:t>Designation:  Assistant Professor</a:t>
            </a:r>
            <a:endParaRPr lang="en-US" sz="1200" dirty="0">
              <a:solidFill>
                <a:schemeClr val="bg1"/>
              </a:solidFill>
            </a:endParaRPr>
          </a:p>
        </p:txBody>
      </p:sp>
      <p:sp>
        <p:nvSpPr>
          <p:cNvPr id="11" name="Text 8"/>
          <p:cNvSpPr/>
          <p:nvPr/>
        </p:nvSpPr>
        <p:spPr>
          <a:xfrm>
            <a:off x="822960" y="4837176"/>
            <a:ext cx="4663440" cy="320040"/>
          </a:xfrm>
          <a:prstGeom prst="rect">
            <a:avLst/>
          </a:prstGeom>
          <a:noFill/>
          <a:ln/>
        </p:spPr>
        <p:txBody>
          <a:bodyPr wrap="square" lIns="0" tIns="0" rIns="0" bIns="0" rtlCol="0" anchor="t"/>
          <a:lstStyle/>
          <a:p>
            <a:pPr marL="0" indent="0" algn="l">
              <a:lnSpc>
                <a:spcPct val="105000"/>
              </a:lnSpc>
              <a:buNone/>
            </a:pPr>
            <a:r>
              <a:rPr lang="en-US" sz="1200" dirty="0">
                <a:solidFill>
                  <a:schemeClr val="bg1"/>
                </a:solidFill>
                <a:latin typeface="Calibri" pitchFamily="34" charset="0"/>
                <a:ea typeface="Calibri" pitchFamily="34" charset="-122"/>
                <a:cs typeface="Calibri" pitchFamily="34" charset="-120"/>
              </a:rPr>
              <a:t>Department:  Artificial Intelligence And Data Science</a:t>
            </a:r>
            <a:endParaRPr lang="en-US" sz="1200" dirty="0">
              <a:solidFill>
                <a:schemeClr val="bg1"/>
              </a:solidFill>
            </a:endParaRPr>
          </a:p>
        </p:txBody>
      </p:sp>
      <p:sp>
        <p:nvSpPr>
          <p:cNvPr id="12" name="Shape 9"/>
          <p:cNvSpPr/>
          <p:nvPr/>
        </p:nvSpPr>
        <p:spPr>
          <a:xfrm>
            <a:off x="6382512" y="3215062"/>
            <a:ext cx="5303520" cy="2514600"/>
          </a:xfrm>
          <a:prstGeom prst="roundRect">
            <a:avLst>
              <a:gd name="adj" fmla="val 2909"/>
            </a:avLst>
          </a:prstGeom>
          <a:solidFill>
            <a:schemeClr val="accent1">
              <a:lumMod val="50000"/>
            </a:schemeClr>
          </a:solidFill>
          <a:ln w="12700">
            <a:solidFill>
              <a:srgbClr val="C3CDE8"/>
            </a:solidFill>
            <a:prstDash val="solid"/>
          </a:ln>
        </p:spPr>
        <p:txBody>
          <a:bodyPr/>
          <a:p/>
        </p:txBody>
      </p:sp>
      <p:sp>
        <p:nvSpPr>
          <p:cNvPr id="13" name="Text 10"/>
          <p:cNvSpPr/>
          <p:nvPr/>
        </p:nvSpPr>
        <p:spPr>
          <a:xfrm>
            <a:off x="6702552" y="3401568"/>
            <a:ext cx="4663440" cy="237744"/>
          </a:xfrm>
          <a:prstGeom prst="rect">
            <a:avLst/>
          </a:prstGeom>
          <a:noFill/>
          <a:ln/>
        </p:spPr>
        <p:txBody>
          <a:bodyPr wrap="square" lIns="0" tIns="0" rIns="0" bIns="0" rtlCol="0" anchor="ctr"/>
          <a:lstStyle/>
          <a:p>
            <a:pPr marL="0" indent="0" algn="l">
              <a:buNone/>
            </a:pPr>
            <a:r>
              <a:rPr lang="en-US" sz="1200" b="1" kern="0" spc="60" dirty="0">
                <a:solidFill>
                  <a:srgbClr val="FFC000"/>
                </a:solidFill>
                <a:latin typeface="Calibri" pitchFamily="34" charset="0"/>
                <a:ea typeface="Calibri" pitchFamily="34" charset="-122"/>
                <a:cs typeface="Calibri" pitchFamily="34" charset="-120"/>
              </a:rPr>
              <a:t>TEAM</a:t>
            </a:r>
            <a:endParaRPr lang="en-US" sz="1200" dirty="0">
              <a:solidFill>
                <a:srgbClr val="FFC000"/>
              </a:solidFill>
            </a:endParaRPr>
          </a:p>
        </p:txBody>
      </p:sp>
      <p:sp>
        <p:nvSpPr>
          <p:cNvPr id="14" name="Text 11"/>
          <p:cNvSpPr/>
          <p:nvPr/>
        </p:nvSpPr>
        <p:spPr>
          <a:xfrm>
            <a:off x="6702552" y="3886200"/>
            <a:ext cx="4663440" cy="274320"/>
          </a:xfrm>
          <a:prstGeom prst="rect">
            <a:avLst/>
          </a:prstGeom>
          <a:noFill/>
          <a:ln/>
        </p:spPr>
        <p:txBody>
          <a:bodyPr wrap="square" lIns="0" tIns="0" rIns="0" bIns="0" rtlCol="0" anchor="t"/>
          <a:lstStyle/>
          <a:p>
            <a:pPr marL="0" indent="0" algn="l">
              <a:lnSpc>
                <a:spcPct val="105000"/>
              </a:lnSpc>
              <a:buNone/>
            </a:pPr>
            <a:r>
              <a:rPr lang="en-US" sz="1150" dirty="0">
                <a:solidFill>
                  <a:schemeClr val="bg1"/>
                </a:solidFill>
                <a:latin typeface="Calibri" pitchFamily="34" charset="0"/>
                <a:ea typeface="Calibri" pitchFamily="34" charset="-122"/>
                <a:cs typeface="Calibri" pitchFamily="34" charset="-120"/>
              </a:rPr>
              <a:t>Team Name / Batch No:   Nexus / 15</a:t>
            </a:r>
            <a:endParaRPr lang="en-US" sz="1150" dirty="0">
              <a:solidFill>
                <a:schemeClr val="bg1"/>
              </a:solidFill>
            </a:endParaRPr>
          </a:p>
        </p:txBody>
      </p:sp>
      <p:sp>
        <p:nvSpPr>
          <p:cNvPr id="15" name="Text 12"/>
          <p:cNvSpPr/>
          <p:nvPr/>
        </p:nvSpPr>
        <p:spPr>
          <a:xfrm>
            <a:off x="6702552" y="4197096"/>
            <a:ext cx="4663440" cy="274320"/>
          </a:xfrm>
          <a:prstGeom prst="rect">
            <a:avLst/>
          </a:prstGeom>
          <a:noFill/>
          <a:ln/>
        </p:spPr>
        <p:txBody>
          <a:bodyPr wrap="square" lIns="0" tIns="0" rIns="0" bIns="0" rtlCol="0" anchor="t"/>
          <a:lstStyle/>
          <a:p>
            <a:pPr marL="0" indent="0" algn="l">
              <a:lnSpc>
                <a:spcPct val="105000"/>
              </a:lnSpc>
              <a:buNone/>
            </a:pPr>
            <a:r>
              <a:rPr lang="en-US" sz="1150" dirty="0">
                <a:solidFill>
                  <a:schemeClr val="bg1"/>
                </a:solidFill>
                <a:latin typeface="Calibri" pitchFamily="34" charset="0"/>
                <a:ea typeface="Calibri" pitchFamily="34" charset="-122"/>
                <a:cs typeface="Calibri" pitchFamily="34" charset="-120"/>
              </a:rPr>
              <a:t>Year &amp; Dept / Section:   II / AIDS / A</a:t>
            </a:r>
            <a:endParaRPr lang="en-US" sz="1150" dirty="0">
              <a:solidFill>
                <a:schemeClr val="bg1"/>
              </a:solidFill>
            </a:endParaRPr>
          </a:p>
        </p:txBody>
      </p:sp>
      <p:sp>
        <p:nvSpPr>
          <p:cNvPr id="16" name="Text 13"/>
          <p:cNvSpPr/>
          <p:nvPr/>
        </p:nvSpPr>
        <p:spPr>
          <a:xfrm>
            <a:off x="6702552" y="4507992"/>
            <a:ext cx="4663440" cy="274320"/>
          </a:xfrm>
          <a:prstGeom prst="rect">
            <a:avLst/>
          </a:prstGeom>
          <a:noFill/>
          <a:ln/>
        </p:spPr>
        <p:txBody>
          <a:bodyPr wrap="square" lIns="0" tIns="0" rIns="0" bIns="0" rtlCol="0" anchor="t"/>
          <a:lstStyle/>
          <a:p>
            <a:pPr marL="0" indent="0" algn="l">
              <a:lnSpc>
                <a:spcPct val="105000"/>
              </a:lnSpc>
              <a:buNone/>
            </a:pPr>
            <a:r>
              <a:rPr lang="en-US" sz="1150" dirty="0">
                <a:solidFill>
                  <a:schemeClr val="bg1"/>
                </a:solidFill>
                <a:latin typeface="Calibri" pitchFamily="34" charset="0"/>
                <a:ea typeface="Calibri" pitchFamily="34" charset="-122"/>
                <a:cs typeface="Calibri" pitchFamily="34" charset="-120"/>
              </a:rPr>
              <a:t>Members:   1. Aswathy J — 25AD018 </a:t>
            </a:r>
            <a:endParaRPr lang="en-US" sz="1150" dirty="0">
              <a:solidFill>
                <a:schemeClr val="bg1"/>
              </a:solidFill>
            </a:endParaRPr>
          </a:p>
        </p:txBody>
      </p:sp>
      <p:sp>
        <p:nvSpPr>
          <p:cNvPr id="17" name="Text 14"/>
          <p:cNvSpPr/>
          <p:nvPr/>
        </p:nvSpPr>
        <p:spPr>
          <a:xfrm>
            <a:off x="6702552" y="4818888"/>
            <a:ext cx="4663440" cy="274320"/>
          </a:xfrm>
          <a:prstGeom prst="rect">
            <a:avLst/>
          </a:prstGeom>
          <a:noFill/>
          <a:ln/>
        </p:spPr>
        <p:txBody>
          <a:bodyPr wrap="square" lIns="0" tIns="0" rIns="0" bIns="0" rtlCol="0" anchor="t"/>
          <a:lstStyle/>
          <a:p>
            <a:pPr marL="0" indent="0" algn="l">
              <a:lnSpc>
                <a:spcPct val="105000"/>
              </a:lnSpc>
              <a:buNone/>
            </a:pPr>
            <a:r>
              <a:rPr lang="en-US" sz="1150" dirty="0">
                <a:solidFill>
                  <a:schemeClr val="bg1"/>
                </a:solidFill>
                <a:latin typeface="Calibri" pitchFamily="34" charset="0"/>
                <a:ea typeface="Calibri" pitchFamily="34" charset="-122"/>
                <a:cs typeface="Calibri" pitchFamily="34" charset="-120"/>
              </a:rPr>
              <a:t>                      2. Bragalya Yazhini KM — 25AD026</a:t>
            </a:r>
            <a:endParaRPr lang="en-US" sz="1150" dirty="0">
              <a:solidFill>
                <a:schemeClr val="bg1"/>
              </a:solidFill>
            </a:endParaRPr>
          </a:p>
        </p:txBody>
      </p:sp>
      <p:sp>
        <p:nvSpPr>
          <p:cNvPr id="18" name="Text 15"/>
          <p:cNvSpPr/>
          <p:nvPr/>
        </p:nvSpPr>
        <p:spPr>
          <a:xfrm>
            <a:off x="6702552" y="5129784"/>
            <a:ext cx="4663440" cy="274320"/>
          </a:xfrm>
          <a:prstGeom prst="rect">
            <a:avLst/>
          </a:prstGeom>
          <a:noFill/>
          <a:ln/>
        </p:spPr>
        <p:txBody>
          <a:bodyPr wrap="square" lIns="0" tIns="0" rIns="0" bIns="0" rtlCol="0" anchor="t"/>
          <a:lstStyle/>
          <a:p>
            <a:pPr marL="0" indent="0" algn="l">
              <a:lnSpc>
                <a:spcPct val="105000"/>
              </a:lnSpc>
              <a:buNone/>
            </a:pPr>
            <a:r>
              <a:rPr lang="en-US" sz="1150" dirty="0">
                <a:solidFill>
                  <a:schemeClr val="bg1"/>
                </a:solidFill>
                <a:latin typeface="Calibri" pitchFamily="34" charset="0"/>
                <a:ea typeface="Calibri" pitchFamily="34" charset="-122"/>
                <a:cs typeface="Calibri" pitchFamily="34" charset="-120"/>
              </a:rPr>
              <a:t>                       3. Harini S— 25AD063</a:t>
            </a:r>
            <a:endParaRPr lang="en-US" sz="1150" dirty="0">
              <a:solidFill>
                <a:schemeClr val="bg1"/>
              </a:solidFill>
            </a:endParaRPr>
          </a:p>
        </p:txBody>
      </p:sp>
      <p:pic>
        <p:nvPicPr>
          <p:cNvPr id="21" name="Picture 20">
            <a:extLst>
              <a:ext uri="{FF2B5EF4-FFF2-40B4-BE49-F238E27FC236}">
                <a16:creationId xmlns:a16="http://schemas.microsoft.com/office/drawing/2014/main" id="{93D77664-1E80-67D1-A01A-FBAA83A415E0}"/>
              </a:ext>
            </a:extLst>
          </p:cNvPr>
          <p:cNvPicPr>
            <a:picLocks noChangeAspect="1"/>
          </p:cNvPicPr>
          <p:nvPr/>
        </p:nvPicPr>
        <p:blipFill>
          <a:blip r:embed="rId3"/>
          <a:stretch>
            <a:fillRect/>
          </a:stretch>
        </p:blipFill>
        <p:spPr>
          <a:xfrm>
            <a:off x="10363654" y="371776"/>
            <a:ext cx="1325426" cy="603504"/>
          </a:xfrm>
          <a:prstGeom prst="rect">
            <a:avLst/>
          </a:prstGeom>
        </p:spPr>
      </p:pic>
      <p:pic>
        <p:nvPicPr>
          <p:cNvPr id="23" name="Picture 22">
            <a:extLst>
              <a:ext uri="{FF2B5EF4-FFF2-40B4-BE49-F238E27FC236}">
                <a16:creationId xmlns:a16="http://schemas.microsoft.com/office/drawing/2014/main" id="{23343B99-B2E8-5230-6374-21976BA654AC}"/>
              </a:ext>
            </a:extLst>
          </p:cNvPr>
          <p:cNvPicPr>
            <a:picLocks noChangeAspect="1"/>
          </p:cNvPicPr>
          <p:nvPr/>
        </p:nvPicPr>
        <p:blipFill>
          <a:blip r:embed="rId4"/>
          <a:stretch>
            <a:fillRect/>
          </a:stretch>
        </p:blipFill>
        <p:spPr>
          <a:xfrm>
            <a:off x="3864504" y="224159"/>
            <a:ext cx="4462991" cy="1242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assets/logo.png"/>
          <p:cNvPicPr>
            <a:picLocks noChangeAspect="1"/>
          </p:cNvPicPr>
          <p:nvPr/>
        </p:nvPicPr>
        <p:blipFill>
          <a:blip r:embed="rId3"/>
          <a:stretch>
            <a:fillRect/>
          </a:stretch>
        </p:blipFill>
        <p:spPr>
          <a:xfrm>
            <a:off x="457200" y="237744"/>
            <a:ext cx="1024128" cy="283464"/>
          </a:xfrm>
          <a:prstGeom prst="rect">
            <a:avLst/>
          </a:prstGeom>
        </p:spPr>
      </p:pic>
      <p:sp>
        <p:nvSpPr>
          <p:cNvPr id="4" name="Text 1"/>
          <p:cNvSpPr/>
          <p:nvPr/>
        </p:nvSpPr>
        <p:spPr>
          <a:xfrm>
            <a:off x="502920" y="658368"/>
            <a:ext cx="11183112" cy="457200"/>
          </a:xfrm>
          <a:prstGeom prst="rect">
            <a:avLst/>
          </a:prstGeom>
          <a:noFill/>
          <a:ln/>
        </p:spPr>
        <p:txBody>
          <a:bodyPr wrap="square" lIns="0" tIns="0" rIns="0" bIns="0" rtlCol="0" anchor="ctr"/>
          <a:lstStyle/>
          <a:p>
            <a:pPr marL="0" indent="0">
              <a:buNone/>
            </a:pPr>
            <a:r>
              <a:rPr lang="en-US" sz="2800" b="1" dirty="0">
                <a:solidFill>
                  <a:srgbClr val="071A45"/>
                </a:solidFill>
                <a:latin typeface="Calibri" pitchFamily="34" charset="0"/>
                <a:ea typeface="Calibri" pitchFamily="34" charset="-122"/>
                <a:cs typeface="Calibri" pitchFamily="34" charset="-120"/>
              </a:rPr>
              <a:t>Empathy &amp; Problem statement</a:t>
            </a:r>
            <a:endParaRPr lang="en-US" sz="2800" dirty="0"/>
          </a:p>
        </p:txBody>
      </p:sp>
      <p:sp>
        <p:nvSpPr>
          <p:cNvPr id="6" name="Shape 3"/>
          <p:cNvSpPr/>
          <p:nvPr/>
        </p:nvSpPr>
        <p:spPr>
          <a:xfrm>
            <a:off x="502920" y="1239012"/>
            <a:ext cx="11183112" cy="0"/>
          </a:xfrm>
          <a:prstGeom prst="line">
            <a:avLst/>
          </a:prstGeom>
          <a:noFill/>
          <a:ln w="12700">
            <a:solidFill>
              <a:srgbClr val="DFE4EE"/>
            </a:solidFill>
            <a:prstDash val="solid"/>
          </a:ln>
        </p:spPr>
        <p:txBody>
          <a:bodyPr/>
          <a:p/>
        </p:txBody>
      </p:sp>
      <p:sp>
        <p:nvSpPr>
          <p:cNvPr id="7" name="Shape 4"/>
          <p:cNvSpPr/>
          <p:nvPr/>
        </p:nvSpPr>
        <p:spPr>
          <a:xfrm>
            <a:off x="502920" y="1540764"/>
            <a:ext cx="3657600" cy="2103120"/>
          </a:xfrm>
          <a:prstGeom prst="roundRect">
            <a:avLst>
              <a:gd name="adj" fmla="val 3478"/>
            </a:avLst>
          </a:prstGeom>
          <a:solidFill>
            <a:srgbClr val="F5F7FB"/>
          </a:solidFill>
          <a:ln w="12700">
            <a:solidFill>
              <a:srgbClr val="DFE4EE"/>
            </a:solidFill>
            <a:prstDash val="solid"/>
          </a:ln>
        </p:spPr>
        <p:txBody>
          <a:bodyPr/>
          <a:p/>
        </p:txBody>
      </p:sp>
      <p:pic>
        <p:nvPicPr>
          <p:cNvPr id="8" name="Image 1" descr="assets/ic_empathy.png"/>
          <p:cNvPicPr>
            <a:picLocks noChangeAspect="1"/>
          </p:cNvPicPr>
          <p:nvPr/>
        </p:nvPicPr>
        <p:blipFill>
          <a:blip r:embed="rId4"/>
          <a:stretch>
            <a:fillRect/>
          </a:stretch>
        </p:blipFill>
        <p:spPr>
          <a:xfrm>
            <a:off x="795528" y="1769364"/>
            <a:ext cx="329184" cy="329184"/>
          </a:xfrm>
          <a:prstGeom prst="rect">
            <a:avLst/>
          </a:prstGeom>
        </p:spPr>
      </p:pic>
      <p:sp>
        <p:nvSpPr>
          <p:cNvPr id="9" name="Text 5"/>
          <p:cNvSpPr/>
          <p:nvPr/>
        </p:nvSpPr>
        <p:spPr>
          <a:xfrm>
            <a:off x="1280160" y="1787652"/>
            <a:ext cx="2743200" cy="237744"/>
          </a:xfrm>
          <a:prstGeom prst="rect">
            <a:avLst/>
          </a:prstGeom>
          <a:noFill/>
          <a:ln/>
        </p:spPr>
        <p:txBody>
          <a:bodyPr wrap="square" lIns="0" tIns="0" rIns="0" bIns="0" rtlCol="0" anchor="ctr"/>
          <a:lstStyle/>
          <a:p>
            <a:pPr marL="0" indent="0" algn="l">
              <a:buNone/>
            </a:pPr>
            <a:r>
              <a:rPr lang="en-US" sz="1150" b="1" kern="0" spc="60" dirty="0">
                <a:solidFill>
                  <a:srgbClr val="071A45"/>
                </a:solidFill>
                <a:latin typeface="Calibri" pitchFamily="34" charset="0"/>
                <a:ea typeface="Calibri" pitchFamily="34" charset="-122"/>
                <a:cs typeface="Calibri" pitchFamily="34" charset="-120"/>
              </a:rPr>
              <a:t>OUR USER</a:t>
            </a:r>
            <a:endParaRPr lang="en-US" sz="1150" dirty="0"/>
          </a:p>
        </p:txBody>
      </p:sp>
      <p:sp>
        <p:nvSpPr>
          <p:cNvPr id="10" name="Text 6"/>
          <p:cNvSpPr/>
          <p:nvPr/>
        </p:nvSpPr>
        <p:spPr>
          <a:xfrm>
            <a:off x="795528" y="2299716"/>
            <a:ext cx="3108960" cy="1097280"/>
          </a:xfrm>
          <a:prstGeom prst="rect">
            <a:avLst/>
          </a:prstGeom>
          <a:noFill/>
          <a:ln/>
        </p:spPr>
        <p:txBody>
          <a:bodyPr wrap="square" lIns="0" tIns="0" rIns="0" bIns="0" rtlCol="0" anchor="t"/>
          <a:lstStyle/>
          <a:p>
            <a:pPr>
              <a:lnSpc>
                <a:spcPct val="105000"/>
              </a:lnSpc>
            </a:pPr>
            <a:r>
              <a:rPr lang="en-IN" sz="1400" b="1" dirty="0"/>
              <a:t>First-year engineering students (18–20 years)</a:t>
            </a:r>
            <a:r>
              <a:rPr lang="en-IN" sz="1400" dirty="0"/>
              <a:t> who struggle with managing multiple subjects, assignments, and exam preparation.</a:t>
            </a:r>
            <a:endParaRPr lang="en-US" sz="1400" i="1" dirty="0">
              <a:solidFill>
                <a:srgbClr val="FF0000"/>
              </a:solidFill>
            </a:endParaRPr>
          </a:p>
        </p:txBody>
      </p:sp>
      <p:sp>
        <p:nvSpPr>
          <p:cNvPr id="11" name="Shape 7"/>
          <p:cNvSpPr/>
          <p:nvPr/>
        </p:nvSpPr>
        <p:spPr>
          <a:xfrm>
            <a:off x="4416552" y="1540764"/>
            <a:ext cx="3657600" cy="2103120"/>
          </a:xfrm>
          <a:prstGeom prst="roundRect">
            <a:avLst>
              <a:gd name="adj" fmla="val 3478"/>
            </a:avLst>
          </a:prstGeom>
          <a:solidFill>
            <a:srgbClr val="E9EFFC"/>
          </a:solidFill>
          <a:ln w="12700">
            <a:solidFill>
              <a:srgbClr val="C3CDE8"/>
            </a:solidFill>
            <a:prstDash val="solid"/>
          </a:ln>
        </p:spPr>
        <p:txBody>
          <a:bodyPr/>
          <a:p/>
        </p:txBody>
      </p:sp>
      <p:pic>
        <p:nvPicPr>
          <p:cNvPr id="12" name="Image 2" descr="assets/ic_research.png"/>
          <p:cNvPicPr>
            <a:picLocks noChangeAspect="1"/>
          </p:cNvPicPr>
          <p:nvPr/>
        </p:nvPicPr>
        <p:blipFill>
          <a:blip r:embed="rId5"/>
          <a:stretch>
            <a:fillRect/>
          </a:stretch>
        </p:blipFill>
        <p:spPr>
          <a:xfrm>
            <a:off x="4709160" y="1769364"/>
            <a:ext cx="329184" cy="329184"/>
          </a:xfrm>
          <a:prstGeom prst="rect">
            <a:avLst/>
          </a:prstGeom>
        </p:spPr>
      </p:pic>
      <p:sp>
        <p:nvSpPr>
          <p:cNvPr id="13" name="Text 8"/>
          <p:cNvSpPr/>
          <p:nvPr/>
        </p:nvSpPr>
        <p:spPr>
          <a:xfrm>
            <a:off x="5193792" y="1787652"/>
            <a:ext cx="2743200" cy="237744"/>
          </a:xfrm>
          <a:prstGeom prst="rect">
            <a:avLst/>
          </a:prstGeom>
          <a:noFill/>
          <a:ln/>
        </p:spPr>
        <p:txBody>
          <a:bodyPr wrap="square" lIns="0" tIns="0" rIns="0" bIns="0" rtlCol="0" anchor="ctr"/>
          <a:lstStyle/>
          <a:p>
            <a:pPr marL="0" indent="0" algn="l">
              <a:buNone/>
            </a:pPr>
            <a:r>
              <a:rPr lang="en-US" sz="1150" b="1" kern="0" spc="60" dirty="0">
                <a:solidFill>
                  <a:srgbClr val="071A45"/>
                </a:solidFill>
                <a:latin typeface="Calibri" pitchFamily="34" charset="0"/>
                <a:ea typeface="Calibri" pitchFamily="34" charset="-122"/>
                <a:cs typeface="Calibri" pitchFamily="34" charset="-120"/>
              </a:rPr>
              <a:t>THEIR TOP PAIN POINT</a:t>
            </a:r>
            <a:endParaRPr lang="en-US" sz="1150" dirty="0"/>
          </a:p>
        </p:txBody>
      </p:sp>
      <p:sp>
        <p:nvSpPr>
          <p:cNvPr id="14" name="Text 9"/>
          <p:cNvSpPr/>
          <p:nvPr/>
        </p:nvSpPr>
        <p:spPr>
          <a:xfrm>
            <a:off x="4709160" y="2299716"/>
            <a:ext cx="3108960" cy="1097280"/>
          </a:xfrm>
          <a:prstGeom prst="rect">
            <a:avLst/>
          </a:prstGeom>
          <a:noFill/>
          <a:ln/>
        </p:spPr>
        <p:txBody>
          <a:bodyPr wrap="square" lIns="0" tIns="0" rIns="0" bIns="0" rtlCol="0" anchor="t"/>
          <a:lstStyle/>
          <a:p>
            <a:pPr>
              <a:lnSpc>
                <a:spcPct val="105000"/>
              </a:lnSpc>
            </a:pPr>
            <a:r>
              <a:rPr lang="en-IN" sz="1400" dirty="0"/>
              <a:t>Students find it difficult to identify weak topics, manage study time, and follow a consistent study plan.</a:t>
            </a:r>
            <a:endParaRPr lang="en-US" sz="1400" i="1" dirty="0">
              <a:solidFill>
                <a:srgbClr val="FF0000"/>
              </a:solidFill>
            </a:endParaRPr>
          </a:p>
        </p:txBody>
      </p:sp>
      <p:sp>
        <p:nvSpPr>
          <p:cNvPr id="15" name="Shape 10"/>
          <p:cNvSpPr/>
          <p:nvPr/>
        </p:nvSpPr>
        <p:spPr>
          <a:xfrm>
            <a:off x="8028432" y="1540764"/>
            <a:ext cx="3657600" cy="2103120"/>
          </a:xfrm>
          <a:prstGeom prst="roundRect">
            <a:avLst>
              <a:gd name="adj" fmla="val 3478"/>
            </a:avLst>
          </a:prstGeom>
          <a:solidFill>
            <a:srgbClr val="FFF6DD"/>
          </a:solidFill>
          <a:ln w="12700">
            <a:solidFill>
              <a:srgbClr val="F2D98A"/>
            </a:solidFill>
            <a:prstDash val="solid"/>
          </a:ln>
        </p:spPr>
        <p:txBody>
          <a:bodyPr/>
          <a:p/>
        </p:txBody>
      </p:sp>
      <p:pic>
        <p:nvPicPr>
          <p:cNvPr id="16" name="Image 3" descr="assets/ic_check.png"/>
          <p:cNvPicPr>
            <a:picLocks noChangeAspect="1"/>
          </p:cNvPicPr>
          <p:nvPr/>
        </p:nvPicPr>
        <p:blipFill>
          <a:blip r:embed="rId6"/>
          <a:stretch>
            <a:fillRect/>
          </a:stretch>
        </p:blipFill>
        <p:spPr>
          <a:xfrm>
            <a:off x="8321040" y="1769364"/>
            <a:ext cx="329184" cy="329184"/>
          </a:xfrm>
          <a:prstGeom prst="rect">
            <a:avLst/>
          </a:prstGeom>
        </p:spPr>
      </p:pic>
      <p:sp>
        <p:nvSpPr>
          <p:cNvPr id="17" name="Text 11"/>
          <p:cNvSpPr/>
          <p:nvPr/>
        </p:nvSpPr>
        <p:spPr>
          <a:xfrm>
            <a:off x="8805672" y="1787652"/>
            <a:ext cx="2743200" cy="237744"/>
          </a:xfrm>
          <a:prstGeom prst="rect">
            <a:avLst/>
          </a:prstGeom>
          <a:noFill/>
          <a:ln/>
        </p:spPr>
        <p:txBody>
          <a:bodyPr wrap="square" lIns="0" tIns="0" rIns="0" bIns="0" rtlCol="0" anchor="ctr"/>
          <a:lstStyle/>
          <a:p>
            <a:pPr marL="0" indent="0" algn="l">
              <a:buNone/>
            </a:pPr>
            <a:r>
              <a:rPr lang="en-US" sz="1150" b="1" kern="0" spc="60" dirty="0">
                <a:solidFill>
                  <a:srgbClr val="7A5E16"/>
                </a:solidFill>
                <a:latin typeface="Calibri" pitchFamily="34" charset="0"/>
                <a:ea typeface="Calibri" pitchFamily="34" charset="-122"/>
                <a:cs typeface="Calibri" pitchFamily="34" charset="-120"/>
              </a:rPr>
              <a:t>WHAT WE VALIDATED</a:t>
            </a:r>
            <a:endParaRPr lang="en-US" sz="1150" dirty="0"/>
          </a:p>
        </p:txBody>
      </p:sp>
      <p:sp>
        <p:nvSpPr>
          <p:cNvPr id="18" name="Text 12"/>
          <p:cNvSpPr/>
          <p:nvPr/>
        </p:nvSpPr>
        <p:spPr>
          <a:xfrm>
            <a:off x="8321040" y="2248913"/>
            <a:ext cx="3108960" cy="1097280"/>
          </a:xfrm>
          <a:prstGeom prst="rect">
            <a:avLst/>
          </a:prstGeom>
          <a:noFill/>
          <a:ln/>
        </p:spPr>
        <p:txBody>
          <a:bodyPr wrap="square" lIns="0" tIns="0" rIns="0" bIns="0" rtlCol="0" anchor="t"/>
          <a:lstStyle/>
          <a:p>
            <a:r>
              <a:rPr lang="en-IN" sz="1400" dirty="0"/>
              <a:t>Interviewed first-year students. </a:t>
            </a:r>
          </a:p>
          <a:p>
            <a:r>
              <a:rPr lang="en-IN" sz="1400" dirty="0"/>
              <a:t>Observed poor time management and last-minute studying. </a:t>
            </a:r>
          </a:p>
          <a:p>
            <a:r>
              <a:rPr lang="en-IN" sz="1400" dirty="0"/>
              <a:t>Most students wanted personalized study guidance instead of generic planners. </a:t>
            </a:r>
          </a:p>
        </p:txBody>
      </p:sp>
      <p:sp>
        <p:nvSpPr>
          <p:cNvPr id="19" name="Shape 13"/>
          <p:cNvSpPr/>
          <p:nvPr/>
        </p:nvSpPr>
        <p:spPr>
          <a:xfrm>
            <a:off x="502920" y="3803393"/>
            <a:ext cx="11183112" cy="1019556"/>
          </a:xfrm>
          <a:prstGeom prst="roundRect">
            <a:avLst>
              <a:gd name="adj" fmla="val 8000"/>
            </a:avLst>
          </a:prstGeom>
          <a:solidFill>
            <a:srgbClr val="F5F7FB"/>
          </a:solidFill>
          <a:ln w="12700">
            <a:solidFill>
              <a:srgbClr val="DFE4EE"/>
            </a:solidFill>
            <a:prstDash val="solid"/>
          </a:ln>
        </p:spPr>
        <p:txBody>
          <a:bodyPr/>
          <a:p/>
        </p:txBody>
      </p:sp>
      <p:sp>
        <p:nvSpPr>
          <p:cNvPr id="20" name="Text 14"/>
          <p:cNvSpPr/>
          <p:nvPr/>
        </p:nvSpPr>
        <p:spPr>
          <a:xfrm>
            <a:off x="822960" y="3929379"/>
            <a:ext cx="3657600" cy="237744"/>
          </a:xfrm>
          <a:prstGeom prst="rect">
            <a:avLst/>
          </a:prstGeom>
          <a:noFill/>
          <a:ln/>
        </p:spPr>
        <p:txBody>
          <a:bodyPr wrap="square" lIns="0" tIns="0" rIns="0" bIns="0" rtlCol="0" anchor="ctr"/>
          <a:lstStyle/>
          <a:p>
            <a:pPr marL="0" indent="0" algn="l">
              <a:buNone/>
            </a:pPr>
            <a:r>
              <a:rPr lang="en-US" sz="1050" b="1" kern="0" spc="60" dirty="0">
                <a:solidFill>
                  <a:srgbClr val="071A45"/>
                </a:solidFill>
                <a:latin typeface="Calibri" pitchFamily="34" charset="0"/>
                <a:ea typeface="Calibri" pitchFamily="34" charset="-122"/>
                <a:cs typeface="Calibri" pitchFamily="34" charset="-120"/>
              </a:rPr>
              <a:t>PROBLEM STATEMENT</a:t>
            </a:r>
            <a:endParaRPr lang="en-US" sz="1050" dirty="0"/>
          </a:p>
        </p:txBody>
      </p:sp>
      <p:sp>
        <p:nvSpPr>
          <p:cNvPr id="21" name="Text 15"/>
          <p:cNvSpPr/>
          <p:nvPr/>
        </p:nvSpPr>
        <p:spPr>
          <a:xfrm>
            <a:off x="801780" y="4163172"/>
            <a:ext cx="10515600" cy="534533"/>
          </a:xfrm>
          <a:prstGeom prst="rect">
            <a:avLst/>
          </a:prstGeom>
          <a:noFill/>
          <a:ln/>
        </p:spPr>
        <p:txBody>
          <a:bodyPr wrap="square" lIns="0" tIns="0" rIns="0" bIns="0" rtlCol="0" anchor="t"/>
          <a:lstStyle/>
          <a:p>
            <a:pPr>
              <a:lnSpc>
                <a:spcPct val="105000"/>
              </a:lnSpc>
            </a:pPr>
            <a:r>
              <a:rPr lang="en-IN" sz="1600" b="1" dirty="0"/>
              <a:t>First-year engineering students</a:t>
            </a:r>
            <a:r>
              <a:rPr lang="en-IN" sz="1600" dirty="0"/>
              <a:t> need a way to </a:t>
            </a:r>
            <a:r>
              <a:rPr lang="en-IN" sz="1600" b="1" dirty="0"/>
              <a:t>identify weak topics and create personalized study plans</a:t>
            </a:r>
            <a:r>
              <a:rPr lang="en-IN" sz="1600" dirty="0"/>
              <a:t> because </a:t>
            </a:r>
            <a:r>
              <a:rPr lang="en-IN" sz="1600" b="1" dirty="0"/>
              <a:t>they struggle with time management and effective exam preparation.</a:t>
            </a:r>
            <a:endParaRPr lang="en-US" sz="1500" dirty="0"/>
          </a:p>
        </p:txBody>
      </p:sp>
      <p:sp>
        <p:nvSpPr>
          <p:cNvPr id="22" name="Shape 16"/>
          <p:cNvSpPr/>
          <p:nvPr/>
        </p:nvSpPr>
        <p:spPr>
          <a:xfrm>
            <a:off x="502920" y="4982458"/>
            <a:ext cx="11183112" cy="1052582"/>
          </a:xfrm>
          <a:prstGeom prst="roundRect">
            <a:avLst>
              <a:gd name="adj" fmla="val 8000"/>
            </a:avLst>
          </a:prstGeom>
          <a:solidFill>
            <a:srgbClr val="E9EFFC"/>
          </a:solidFill>
          <a:ln w="12700">
            <a:solidFill>
              <a:srgbClr val="C3CDE8"/>
            </a:solidFill>
            <a:prstDash val="solid"/>
          </a:ln>
        </p:spPr>
        <p:txBody>
          <a:bodyPr/>
          <a:p/>
        </p:txBody>
      </p:sp>
      <p:sp>
        <p:nvSpPr>
          <p:cNvPr id="23" name="Text 17"/>
          <p:cNvSpPr/>
          <p:nvPr/>
        </p:nvSpPr>
        <p:spPr>
          <a:xfrm>
            <a:off x="822960" y="5114194"/>
            <a:ext cx="3657600" cy="237744"/>
          </a:xfrm>
          <a:prstGeom prst="rect">
            <a:avLst/>
          </a:prstGeom>
          <a:noFill/>
          <a:ln/>
        </p:spPr>
        <p:txBody>
          <a:bodyPr wrap="square" lIns="0" tIns="0" rIns="0" bIns="0" rtlCol="0" anchor="ctr"/>
          <a:lstStyle/>
          <a:p>
            <a:pPr marL="0" indent="0" algn="l">
              <a:buNone/>
            </a:pPr>
            <a:r>
              <a:rPr lang="en-US" sz="1050" b="1" kern="0" spc="60" dirty="0">
                <a:solidFill>
                  <a:srgbClr val="1C52C2"/>
                </a:solidFill>
                <a:latin typeface="Calibri" pitchFamily="34" charset="0"/>
                <a:ea typeface="Calibri" pitchFamily="34" charset="-122"/>
                <a:cs typeface="Calibri" pitchFamily="34" charset="-120"/>
              </a:rPr>
              <a:t>HOW MIGHT WE</a:t>
            </a:r>
            <a:endParaRPr lang="en-US" sz="1050" dirty="0"/>
          </a:p>
        </p:txBody>
      </p:sp>
      <p:sp>
        <p:nvSpPr>
          <p:cNvPr id="24" name="Text 18"/>
          <p:cNvSpPr/>
          <p:nvPr/>
        </p:nvSpPr>
        <p:spPr>
          <a:xfrm>
            <a:off x="795528" y="5384528"/>
            <a:ext cx="10515600" cy="365760"/>
          </a:xfrm>
          <a:prstGeom prst="rect">
            <a:avLst/>
          </a:prstGeom>
          <a:noFill/>
          <a:ln/>
        </p:spPr>
        <p:txBody>
          <a:bodyPr wrap="square" lIns="0" tIns="0" rIns="0" bIns="0" rtlCol="0" anchor="t"/>
          <a:lstStyle/>
          <a:p>
            <a:pPr>
              <a:lnSpc>
                <a:spcPct val="105000"/>
              </a:lnSpc>
            </a:pPr>
            <a:r>
              <a:rPr lang="en-IN" sz="1600" dirty="0"/>
              <a:t>How might we help first-year engineering students create personalized study plans so that they can manage time effectively and improve academic performance?</a:t>
            </a:r>
            <a:endParaRPr lang="en-US" sz="1500" dirty="0"/>
          </a:p>
        </p:txBody>
      </p:sp>
      <p:sp>
        <p:nvSpPr>
          <p:cNvPr id="25" name="Date Placeholder"/>
          <p:cNvSpPr>
            <a:spLocks noGrp="1"/>
          </p:cNvSpPr>
          <p:nvPr>
            <p:ph type="dt" sz="quarter" idx="10"/>
          </p:nvPr>
        </p:nvSpPr>
        <p:spPr>
          <a:xfrm>
            <a:off x="502920" y="6382512"/>
            <a:ext cx="2926080" cy="256032"/>
          </a:xfrm>
          <a:prstGeom prst="rect">
            <a:avLst/>
          </a:prstGeom>
        </p:spPr>
        <p:txBody>
          <a:bodyPr vert="horz" lIns="0" tIns="0" rIns="0" bIns="0" rtlCol="0" anchor="ctr"/>
          <a:lstStyle>
            <a:lvl1pPr algn="l">
              <a:defRPr sz="900">
                <a:solidFill>
                  <a:srgbClr val="8A93A8"/>
                </a:solidFill>
                <a:latin typeface="Calibri" pitchFamily="34" charset="0"/>
                <a:cs typeface="Calibri" pitchFamily="34" charset="0"/>
              </a:defRPr>
            </a:lvl1pPr>
          </a:lstStyle>
          <a:p>
            <a:r>
              <a:rPr lang="en-IN" dirty="0"/>
              <a:t>25-07-2026</a:t>
            </a:r>
          </a:p>
        </p:txBody>
      </p:sp>
      <p:sp>
        <p:nvSpPr>
          <p:cNvPr id="26" name="Footer Placeholder"/>
          <p:cNvSpPr>
            <a:spLocks noGrp="1"/>
          </p:cNvSpPr>
          <p:nvPr>
            <p:ph type="ftr" sz="quarter" idx="11"/>
          </p:nvPr>
        </p:nvSpPr>
        <p:spPr>
          <a:xfrm>
            <a:off x="3657600" y="6382512"/>
            <a:ext cx="4873752" cy="256032"/>
          </a:xfrm>
          <a:prstGeom prst="rect">
            <a:avLst/>
          </a:prstGeom>
        </p:spPr>
        <p:txBody>
          <a:bodyPr vert="horz" lIns="0" tIns="0" rIns="0" bIns="0" rtlCol="0" anchor="ctr"/>
          <a:lstStyle>
            <a:lvl1pPr algn="ctr">
              <a:defRPr sz="900">
                <a:solidFill>
                  <a:srgbClr val="8A93A8"/>
                </a:solidFill>
                <a:latin typeface="Calibri" pitchFamily="34" charset="0"/>
                <a:cs typeface="Calibri" pitchFamily="34" charset="0"/>
              </a:defRPr>
            </a:lvl1pPr>
          </a:lstStyle>
          <a:p>
            <a:r>
              <a:rPr lang="en-IN"/>
              <a:t>Sri Eshwar College of Engineering  ·  Design Thinking &amp; Innovation</a:t>
            </a:r>
          </a:p>
        </p:txBody>
      </p:sp>
      <p:sp>
        <p:nvSpPr>
          <p:cNvPr id="27" name="Slide Number Placeholder"/>
          <p:cNvSpPr>
            <a:spLocks noGrp="1"/>
          </p:cNvSpPr>
          <p:nvPr>
            <p:ph type="sldNum" sz="quarter" idx="12"/>
          </p:nvPr>
        </p:nvSpPr>
        <p:spPr>
          <a:xfrm>
            <a:off x="10424160" y="6382512"/>
            <a:ext cx="1261872" cy="256032"/>
          </a:xfrm>
          <a:prstGeom prst="rect">
            <a:avLst/>
          </a:prstGeom>
        </p:spPr>
        <p:txBody>
          <a:bodyPr vert="horz" lIns="0" tIns="0" rIns="0" bIns="0" rtlCol="0" anchor="ctr"/>
          <a:lstStyle>
            <a:lvl1pPr algn="r">
              <a:defRPr sz="900">
                <a:solidFill>
                  <a:srgbClr val="8A93A8"/>
                </a:solidFill>
                <a:latin typeface="Calibri" pitchFamily="34" charset="0"/>
                <a:cs typeface="Calibri" pitchFamily="34" charset="0"/>
              </a:defRPr>
            </a:lvl1pPr>
          </a:lstStyle>
          <a:p>
            <a:pPr>
              <a:defRPr sz="1000">
                <a:solidFill>
                  <a:srgbClr val="475569"/>
                </a:solidFill>
                <a:latin typeface="Calibri"/>
              </a:defRPr>
            </a:pPr>
            <a:r>
              <a:t>2</a:t>
            </a:r>
            <a:endParaRPr lang="en-IN"/>
          </a:p>
        </p:txBody>
      </p:sp>
      <p:pic>
        <p:nvPicPr>
          <p:cNvPr id="28" name="Picture 27">
            <a:extLst>
              <a:ext uri="{FF2B5EF4-FFF2-40B4-BE49-F238E27FC236}">
                <a16:creationId xmlns:a16="http://schemas.microsoft.com/office/drawing/2014/main" id="{2011FFB7-3D48-36F2-45B2-8F9E4B20C720}"/>
              </a:ext>
            </a:extLst>
          </p:cNvPr>
          <p:cNvPicPr>
            <a:picLocks noChangeAspect="1"/>
          </p:cNvPicPr>
          <p:nvPr/>
        </p:nvPicPr>
        <p:blipFill>
          <a:blip r:embed="rId7"/>
          <a:stretch>
            <a:fillRect/>
          </a:stretch>
        </p:blipFill>
        <p:spPr>
          <a:xfrm>
            <a:off x="10363654" y="371776"/>
            <a:ext cx="1325426" cy="60350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2" name="Image 0" descr="assets/logo.png"/>
          <p:cNvPicPr>
            <a:picLocks noChangeAspect="1"/>
          </p:cNvPicPr>
          <p:nvPr/>
        </p:nvPicPr>
        <p:blipFill>
          <a:blip r:embed="rId3"/>
          <a:stretch>
            <a:fillRect/>
          </a:stretch>
        </p:blipFill>
        <p:spPr>
          <a:xfrm>
            <a:off x="457200" y="237744"/>
            <a:ext cx="1024128" cy="283464"/>
          </a:xfrm>
          <a:prstGeom prst="rect">
            <a:avLst/>
          </a:prstGeom>
        </p:spPr>
      </p:pic>
      <p:sp>
        <p:nvSpPr>
          <p:cNvPr id="4" name="Text 1"/>
          <p:cNvSpPr/>
          <p:nvPr/>
        </p:nvSpPr>
        <p:spPr>
          <a:xfrm>
            <a:off x="539496" y="504992"/>
            <a:ext cx="11183112" cy="457200"/>
          </a:xfrm>
          <a:prstGeom prst="rect">
            <a:avLst/>
          </a:prstGeom>
          <a:noFill/>
          <a:ln/>
        </p:spPr>
        <p:txBody>
          <a:bodyPr wrap="square" lIns="0" tIns="0" rIns="0" bIns="0" rtlCol="0" anchor="ctr"/>
          <a:lstStyle/>
          <a:p>
            <a:pPr marL="0" indent="0">
              <a:buNone/>
            </a:pPr>
            <a:r>
              <a:rPr lang="en-US" sz="2800" b="1" dirty="0">
                <a:solidFill>
                  <a:srgbClr val="071A45"/>
                </a:solidFill>
                <a:latin typeface="Calibri" pitchFamily="34" charset="0"/>
                <a:ea typeface="Calibri" pitchFamily="34" charset="-122"/>
                <a:cs typeface="Calibri" pitchFamily="34" charset="-120"/>
              </a:rPr>
              <a:t>Solution</a:t>
            </a:r>
            <a:endParaRPr lang="en-US" sz="2800" dirty="0"/>
          </a:p>
        </p:txBody>
      </p:sp>
      <p:sp>
        <p:nvSpPr>
          <p:cNvPr id="5" name="Text 2"/>
          <p:cNvSpPr/>
          <p:nvPr/>
        </p:nvSpPr>
        <p:spPr>
          <a:xfrm>
            <a:off x="502920" y="822796"/>
            <a:ext cx="11183112" cy="292608"/>
          </a:xfrm>
          <a:prstGeom prst="rect">
            <a:avLst/>
          </a:prstGeom>
          <a:noFill/>
          <a:ln/>
        </p:spPr>
        <p:txBody>
          <a:bodyPr wrap="square" lIns="0" tIns="0" rIns="0" bIns="0" rtlCol="0" anchor="ctr"/>
          <a:lstStyle/>
          <a:p>
            <a:pPr marL="0" indent="0">
              <a:buNone/>
            </a:pPr>
            <a:endParaRPr lang="en-US" sz="1200" i="1" dirty="0">
              <a:solidFill>
                <a:srgbClr val="FF0000"/>
              </a:solidFill>
            </a:endParaRPr>
          </a:p>
        </p:txBody>
      </p:sp>
      <p:sp>
        <p:nvSpPr>
          <p:cNvPr id="6" name="Shape 3"/>
          <p:cNvSpPr/>
          <p:nvPr/>
        </p:nvSpPr>
        <p:spPr>
          <a:xfrm>
            <a:off x="502920" y="1112991"/>
            <a:ext cx="11183112" cy="0"/>
          </a:xfrm>
          <a:prstGeom prst="line">
            <a:avLst/>
          </a:prstGeom>
          <a:noFill/>
          <a:ln w="12700">
            <a:solidFill>
              <a:srgbClr val="DFE4EE"/>
            </a:solidFill>
            <a:prstDash val="solid"/>
          </a:ln>
        </p:spPr>
        <p:txBody>
          <a:bodyPr/>
          <a:p/>
        </p:txBody>
      </p:sp>
      <p:sp>
        <p:nvSpPr>
          <p:cNvPr id="7" name="Shape 4"/>
          <p:cNvSpPr/>
          <p:nvPr/>
        </p:nvSpPr>
        <p:spPr>
          <a:xfrm>
            <a:off x="505968" y="1218100"/>
            <a:ext cx="11183112" cy="777526"/>
          </a:xfrm>
          <a:prstGeom prst="roundRect">
            <a:avLst>
              <a:gd name="adj" fmla="val 5333"/>
            </a:avLst>
          </a:prstGeom>
          <a:solidFill>
            <a:srgbClr val="E9EFFC"/>
          </a:solidFill>
          <a:ln w="12700">
            <a:solidFill>
              <a:srgbClr val="C3CDE8"/>
            </a:solidFill>
            <a:prstDash val="solid"/>
          </a:ln>
        </p:spPr>
        <p:txBody>
          <a:bodyPr/>
          <a:p/>
        </p:txBody>
      </p:sp>
      <p:pic>
        <p:nvPicPr>
          <p:cNvPr id="8" name="Image 1" descr="assets/ic_rocket.png"/>
          <p:cNvPicPr>
            <a:picLocks noChangeAspect="1"/>
          </p:cNvPicPr>
          <p:nvPr/>
        </p:nvPicPr>
        <p:blipFill>
          <a:blip r:embed="rId4"/>
          <a:stretch>
            <a:fillRect/>
          </a:stretch>
        </p:blipFill>
        <p:spPr>
          <a:xfrm>
            <a:off x="658368" y="1298200"/>
            <a:ext cx="457200" cy="457200"/>
          </a:xfrm>
          <a:prstGeom prst="rect">
            <a:avLst/>
          </a:prstGeom>
        </p:spPr>
      </p:pic>
      <p:sp>
        <p:nvSpPr>
          <p:cNvPr id="9" name="Text 5"/>
          <p:cNvSpPr/>
          <p:nvPr/>
        </p:nvSpPr>
        <p:spPr>
          <a:xfrm>
            <a:off x="1267968" y="1298200"/>
            <a:ext cx="7528560" cy="457200"/>
          </a:xfrm>
          <a:prstGeom prst="rect">
            <a:avLst/>
          </a:prstGeom>
          <a:noFill/>
          <a:ln/>
        </p:spPr>
        <p:txBody>
          <a:bodyPr wrap="square" lIns="0" tIns="0" rIns="0" bIns="0" rtlCol="0" anchor="t"/>
          <a:lstStyle/>
          <a:p>
            <a:pPr>
              <a:lnSpc>
                <a:spcPct val="105000"/>
              </a:lnSpc>
            </a:pPr>
            <a:r>
              <a:rPr lang="en-IN" sz="2400" dirty="0">
                <a:solidFill>
                  <a:schemeClr val="accent1">
                    <a:lumMod val="50000"/>
                  </a:schemeClr>
                </a:solidFill>
              </a:rPr>
              <a:t>AI-Based Personalized Learning System</a:t>
            </a:r>
            <a:endParaRPr lang="en-US" sz="2400" dirty="0">
              <a:solidFill>
                <a:schemeClr val="accent1">
                  <a:lumMod val="50000"/>
                </a:schemeClr>
              </a:solidFill>
            </a:endParaRPr>
          </a:p>
        </p:txBody>
      </p:sp>
      <p:sp>
        <p:nvSpPr>
          <p:cNvPr id="10" name="Text 6"/>
          <p:cNvSpPr/>
          <p:nvPr/>
        </p:nvSpPr>
        <p:spPr>
          <a:xfrm>
            <a:off x="1264919" y="1699056"/>
            <a:ext cx="10421113" cy="304232"/>
          </a:xfrm>
          <a:prstGeom prst="rect">
            <a:avLst/>
          </a:prstGeom>
          <a:noFill/>
          <a:ln/>
        </p:spPr>
        <p:txBody>
          <a:bodyPr wrap="square" lIns="0" tIns="0" rIns="0" bIns="0" rtlCol="0" anchor="t"/>
          <a:lstStyle/>
          <a:p>
            <a:pPr>
              <a:defRPr sz="1300" b="1">
                <a:solidFill>
                  <a:srgbClr val="1C52C2"/>
                </a:solidFill>
                <a:latin typeface="Calibri"/>
              </a:defRPr>
            </a:pPr>
            <a:r>
              <a:t>StudySpark: Intelligent Adaptive Learning &amp; Exam Preparation System</a:t>
            </a:r>
          </a:p>
        </p:txBody>
      </p:sp>
      <p:sp>
        <p:nvSpPr>
          <p:cNvPr id="11" name="Shape 7"/>
          <p:cNvSpPr/>
          <p:nvPr/>
        </p:nvSpPr>
        <p:spPr>
          <a:xfrm>
            <a:off x="505968" y="2236156"/>
            <a:ext cx="11183112" cy="4072943"/>
          </a:xfrm>
          <a:prstGeom prst="roundRect">
            <a:avLst>
              <a:gd name="adj" fmla="val 2712"/>
            </a:avLst>
          </a:prstGeom>
          <a:solidFill>
            <a:srgbClr val="F5F7FB"/>
          </a:solidFill>
          <a:ln w="12700">
            <a:solidFill>
              <a:srgbClr val="DFE4EE"/>
            </a:solidFill>
            <a:prstDash val="solid"/>
          </a:ln>
        </p:spPr>
        <p:txBody>
          <a:bodyPr/>
          <a:p/>
        </p:txBody>
      </p:sp>
      <p:pic>
        <p:nvPicPr>
          <p:cNvPr id="12" name="Image 2" descr="assets/ic_idea.png"/>
          <p:cNvPicPr>
            <a:picLocks noChangeAspect="1"/>
          </p:cNvPicPr>
          <p:nvPr/>
        </p:nvPicPr>
        <p:blipFill>
          <a:blip r:embed="rId5"/>
          <a:stretch>
            <a:fillRect/>
          </a:stretch>
        </p:blipFill>
        <p:spPr>
          <a:xfrm>
            <a:off x="701567" y="2424467"/>
            <a:ext cx="292608" cy="292608"/>
          </a:xfrm>
          <a:prstGeom prst="rect">
            <a:avLst/>
          </a:prstGeom>
        </p:spPr>
      </p:pic>
      <p:sp>
        <p:nvSpPr>
          <p:cNvPr id="13" name="Text 8"/>
          <p:cNvSpPr/>
          <p:nvPr/>
        </p:nvSpPr>
        <p:spPr>
          <a:xfrm>
            <a:off x="1081407" y="2186723"/>
            <a:ext cx="6544344" cy="237744"/>
          </a:xfrm>
          <a:prstGeom prst="rect">
            <a:avLst/>
          </a:prstGeom>
          <a:noFill/>
          <a:ln/>
        </p:spPr>
        <p:txBody>
          <a:bodyPr wrap="square" lIns="0" tIns="0" rIns="0" bIns="0" rtlCol="0" anchor="ctr"/>
          <a:lstStyle/>
          <a:p>
            <a:endParaRPr lang="en-US" sz="1150" dirty="0"/>
          </a:p>
        </p:txBody>
      </p:sp>
      <p:sp>
        <p:nvSpPr>
          <p:cNvPr id="14" name="Text 9"/>
          <p:cNvSpPr/>
          <p:nvPr/>
        </p:nvSpPr>
        <p:spPr>
          <a:xfrm>
            <a:off x="727897" y="2424467"/>
            <a:ext cx="10719356" cy="3734793"/>
          </a:xfrm>
          <a:prstGeom prst="rect">
            <a:avLst/>
          </a:prstGeom>
          <a:noFill/>
          <a:ln/>
        </p:spPr>
        <p:txBody>
          <a:bodyPr wrap="square" lIns="0" tIns="0" rIns="0" bIns="0" rtlCol="0" anchor="t"/>
          <a:lstStyle/>
          <a:p>
            <a:pPr>
              <a:lnSpc>
                <a:spcPct val="150000"/>
              </a:lnSpc>
            </a:pPr>
            <a:endParaRPr lang="en-IN" sz="1400" dirty="0"/>
          </a:p>
          <a:p>
            <a:pPr>
              <a:lnSpc>
                <a:spcPct val="150000"/>
              </a:lnSpc>
            </a:pPr>
            <a:r>
              <a:rPr lang="en-IN" sz="1400" dirty="0"/>
              <a:t>	</a:t>
            </a:r>
            <a:endParaRPr lang="en-US" sz="1200" i="1" dirty="0">
              <a:solidFill>
                <a:srgbClr val="FF0000"/>
              </a:solidFill>
            </a:endParaRPr>
          </a:p>
        </p:txBody>
      </p:sp>
      <p:sp>
        <p:nvSpPr>
          <p:cNvPr id="23" name="Date Placeholder"/>
          <p:cNvSpPr>
            <a:spLocks noGrp="1"/>
          </p:cNvSpPr>
          <p:nvPr>
            <p:ph type="dt" sz="quarter" idx="10"/>
          </p:nvPr>
        </p:nvSpPr>
        <p:spPr>
          <a:xfrm>
            <a:off x="502920" y="6382512"/>
            <a:ext cx="2926080" cy="256032"/>
          </a:xfrm>
          <a:prstGeom prst="rect">
            <a:avLst/>
          </a:prstGeom>
        </p:spPr>
        <p:txBody>
          <a:bodyPr vert="horz" lIns="0" tIns="0" rIns="0" bIns="0" rtlCol="0" anchor="ctr"/>
          <a:lstStyle>
            <a:lvl1pPr algn="l">
              <a:defRPr sz="900">
                <a:solidFill>
                  <a:srgbClr val="8A93A8"/>
                </a:solidFill>
                <a:latin typeface="Calibri" pitchFamily="34" charset="0"/>
                <a:cs typeface="Calibri" pitchFamily="34" charset="0"/>
              </a:defRPr>
            </a:lvl1pPr>
          </a:lstStyle>
          <a:p>
            <a:r>
              <a:rPr lang="en-IN" dirty="0"/>
              <a:t>25-07-2026</a:t>
            </a:r>
          </a:p>
        </p:txBody>
      </p:sp>
      <p:sp>
        <p:nvSpPr>
          <p:cNvPr id="24" name="Footer Placeholder"/>
          <p:cNvSpPr>
            <a:spLocks noGrp="1"/>
          </p:cNvSpPr>
          <p:nvPr>
            <p:ph type="ftr" sz="quarter" idx="11"/>
          </p:nvPr>
        </p:nvSpPr>
        <p:spPr>
          <a:xfrm>
            <a:off x="3657600" y="6382512"/>
            <a:ext cx="4873752" cy="256032"/>
          </a:xfrm>
          <a:prstGeom prst="rect">
            <a:avLst/>
          </a:prstGeom>
        </p:spPr>
        <p:txBody>
          <a:bodyPr vert="horz" lIns="0" tIns="0" rIns="0" bIns="0" rtlCol="0" anchor="ctr"/>
          <a:lstStyle>
            <a:lvl1pPr algn="ctr">
              <a:defRPr sz="900">
                <a:solidFill>
                  <a:srgbClr val="8A93A8"/>
                </a:solidFill>
                <a:latin typeface="Calibri" pitchFamily="34" charset="0"/>
                <a:cs typeface="Calibri" pitchFamily="34" charset="0"/>
              </a:defRPr>
            </a:lvl1pPr>
          </a:lstStyle>
          <a:p>
            <a:r>
              <a:rPr lang="en-IN"/>
              <a:t>Sri Eshwar College of Engineering  ·  Design Thinking &amp; Innovation</a:t>
            </a:r>
          </a:p>
        </p:txBody>
      </p:sp>
      <p:sp>
        <p:nvSpPr>
          <p:cNvPr id="25" name="Slide Number Placeholder"/>
          <p:cNvSpPr>
            <a:spLocks noGrp="1"/>
          </p:cNvSpPr>
          <p:nvPr>
            <p:ph type="sldNum" sz="quarter" idx="12"/>
          </p:nvPr>
        </p:nvSpPr>
        <p:spPr>
          <a:xfrm>
            <a:off x="10424160" y="6382512"/>
            <a:ext cx="1261872" cy="256032"/>
          </a:xfrm>
          <a:prstGeom prst="rect">
            <a:avLst/>
          </a:prstGeom>
        </p:spPr>
        <p:txBody>
          <a:bodyPr vert="horz" lIns="0" tIns="0" rIns="0" bIns="0" rtlCol="0" anchor="ctr"/>
          <a:lstStyle>
            <a:lvl1pPr algn="r">
              <a:defRPr sz="900">
                <a:solidFill>
                  <a:srgbClr val="8A93A8"/>
                </a:solidFill>
                <a:latin typeface="Calibri" pitchFamily="34" charset="0"/>
                <a:cs typeface="Calibri" pitchFamily="34" charset="0"/>
              </a:defRPr>
            </a:lvl1pPr>
          </a:lstStyle>
          <a:p>
            <a:pPr>
              <a:defRPr sz="1000">
                <a:solidFill>
                  <a:srgbClr val="475569"/>
                </a:solidFill>
                <a:latin typeface="Calibri"/>
              </a:defRPr>
            </a:pPr>
            <a:r>
              <a:t>3</a:t>
            </a:r>
            <a:endParaRPr lang="en-IN"/>
          </a:p>
        </p:txBody>
      </p:sp>
      <p:pic>
        <p:nvPicPr>
          <p:cNvPr id="26" name="Picture 25">
            <a:extLst>
              <a:ext uri="{FF2B5EF4-FFF2-40B4-BE49-F238E27FC236}">
                <a16:creationId xmlns:a16="http://schemas.microsoft.com/office/drawing/2014/main" id="{148D9D2E-334D-2EB2-59A5-D502D2E6FFFD}"/>
              </a:ext>
            </a:extLst>
          </p:cNvPr>
          <p:cNvPicPr>
            <a:picLocks noChangeAspect="1"/>
          </p:cNvPicPr>
          <p:nvPr/>
        </p:nvPicPr>
        <p:blipFill>
          <a:blip r:embed="rId6"/>
          <a:stretch>
            <a:fillRect/>
          </a:stretch>
        </p:blipFill>
        <p:spPr>
          <a:xfrm>
            <a:off x="10363654" y="371776"/>
            <a:ext cx="1325426" cy="603504"/>
          </a:xfrm>
          <a:prstGeom prst="rect">
            <a:avLst/>
          </a:prstGeom>
        </p:spPr>
      </p:pic>
      <p:sp>
        <p:nvSpPr>
          <p:cNvPr id="27" name="TextBox 26">
            <a:extLst>
              <a:ext uri="{FF2B5EF4-FFF2-40B4-BE49-F238E27FC236}">
                <a16:creationId xmlns:a16="http://schemas.microsoft.com/office/drawing/2014/main" id="{38789443-E5D8-9121-C213-563649E88596}"/>
              </a:ext>
            </a:extLst>
          </p:cNvPr>
          <p:cNvSpPr txBox="1"/>
          <p:nvPr/>
        </p:nvSpPr>
        <p:spPr>
          <a:xfrm>
            <a:off x="754227" y="2781473"/>
            <a:ext cx="10719356" cy="3290581"/>
          </a:xfrm>
          <a:prstGeom prst="rect">
            <a:avLst/>
          </a:prstGeom>
          <a:noFill/>
        </p:spPr>
        <p:txBody>
          <a:bodyPr wrap="square" rtlCol="0">
            <a:spAutoFit/>
          </a:bodyPr>
          <a:lstStyle/>
          <a:p>
            <a:pPr algn="just">
              <a:lnSpc>
                <a:spcPct val="150000"/>
              </a:lnSpc>
              <a:spcAft>
                <a:spcPts val="1000"/>
              </a:spcAft>
              <a:defRPr sz="1300">
                <a:solidFill>
                  <a:srgbClr val="0F172A"/>
                </a:solidFill>
                <a:latin typeface="Calibri"/>
              </a:defRPr>
            </a:pPr>
            <a:r>
              <a:t>StudySpark is an all-in-one AI study companion engineered to solve student study paralysis, weak-topic blindness, and unstructured exam preparation. The system creates a continuous, adaptive learning feedback loop:</a:t>
            </a:r>
            <a:endParaRPr lang="en-IN" sz="1400" dirty="0">
              <a:solidFill>
                <a:srgbClr val="FF0000"/>
              </a:solidFill>
              <a:latin typeface="Calibri" pitchFamily="34" charset="0"/>
              <a:ea typeface="Calibri" pitchFamily="34" charset="-122"/>
              <a:cs typeface="Calibri" pitchFamily="34" charset="-120"/>
            </a:endParaRPr>
          </a:p>
          <a:p>
            <a:pPr>
              <a:spcAft>
                <a:spcPts val="600"/>
              </a:spcAft>
              <a:defRPr sz="1200">
                <a:solidFill>
                  <a:srgbClr val="0F172A"/>
                </a:solidFill>
                <a:latin typeface="Calibri"/>
              </a:defRPr>
            </a:pPr>
            <a:r>
              <a:rPr b="0"/>
              <a:t>•  Adaptive Spaced-Repetition Study Planner: Automatically schedules daily study sessions, balances multi-subject workloads, and features a 'One-Click Smart Re-Plan' when tasks are missed.</a:t>
            </a:r>
          </a:p>
          <a:p>
            <a:pPr>
              <a:spcAft>
                <a:spcPts val="600"/>
              </a:spcAft>
              <a:defRPr sz="1200">
                <a:solidFill>
                  <a:srgbClr val="0F172A"/>
                </a:solidFill>
                <a:latin typeface="Calibri"/>
              </a:defRPr>
            </a:pPr>
            <a:r>
              <a:rPr b="0"/>
              <a:t>•  AI-Grounded Active Recall &amp; Quizzes: Extracts key concepts from uploaded lecture PDFs, notes, and YouTube videos, generating practice quizzes with instant feedback.</a:t>
            </a:r>
          </a:p>
          <a:p>
            <a:pPr>
              <a:spcAft>
                <a:spcPts val="600"/>
              </a:spcAft>
              <a:defRPr sz="1200">
                <a:solidFill>
                  <a:srgbClr val="0F172A"/>
                </a:solidFill>
                <a:latin typeface="Calibri"/>
              </a:defRPr>
            </a:pPr>
            <a:r>
              <a:rPr b="0"/>
              <a:t>•  Deterministic Weak-Topic Detector: Analyzes quiz attempts and automatically flags topics under 60% accuracy, generating immediate targeted practice drills.</a:t>
            </a:r>
          </a:p>
          <a:p>
            <a:pPr>
              <a:spcAft>
                <a:spcPts val="600"/>
              </a:spcAft>
              <a:defRPr sz="1200">
                <a:solidFill>
                  <a:srgbClr val="0F172A"/>
                </a:solidFill>
                <a:latin typeface="Calibri"/>
              </a:defRPr>
            </a:pPr>
            <a:r>
              <a:rPr b="0"/>
              <a:t>•  Peer Study Rooms &amp; Focus Workspace: Combines live WebRTC peer video rooms with synchronized code execution, ambient audio focus timers, and a 24/7 AI course tutor.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2" name="Image 0" descr="assets/logo.png"/>
          <p:cNvPicPr>
            <a:picLocks noChangeAspect="1"/>
          </p:cNvPicPr>
          <p:nvPr/>
        </p:nvPicPr>
        <p:blipFill>
          <a:blip r:embed="rId3"/>
          <a:stretch>
            <a:fillRect/>
          </a:stretch>
        </p:blipFill>
        <p:spPr>
          <a:xfrm>
            <a:off x="457200" y="237744"/>
            <a:ext cx="1024128" cy="283464"/>
          </a:xfrm>
          <a:prstGeom prst="rect">
            <a:avLst/>
          </a:prstGeom>
        </p:spPr>
      </p:pic>
      <p:sp>
        <p:nvSpPr>
          <p:cNvPr id="4" name="Text 1"/>
          <p:cNvSpPr/>
          <p:nvPr/>
        </p:nvSpPr>
        <p:spPr>
          <a:xfrm>
            <a:off x="502920" y="658368"/>
            <a:ext cx="11183112" cy="310896"/>
          </a:xfrm>
          <a:prstGeom prst="rect">
            <a:avLst/>
          </a:prstGeom>
          <a:noFill/>
          <a:ln/>
        </p:spPr>
        <p:txBody>
          <a:bodyPr wrap="square" lIns="0" tIns="0" rIns="0" bIns="0" rtlCol="0" anchor="ctr"/>
          <a:lstStyle/>
          <a:p>
            <a:pPr marL="0" indent="0">
              <a:buNone/>
            </a:pPr>
            <a:r>
              <a:rPr lang="en-US" sz="2800" b="1" dirty="0">
                <a:solidFill>
                  <a:srgbClr val="071A45"/>
                </a:solidFill>
                <a:latin typeface="Calibri" pitchFamily="34" charset="0"/>
                <a:ea typeface="Calibri" pitchFamily="34" charset="-122"/>
                <a:cs typeface="Calibri" pitchFamily="34" charset="-120"/>
              </a:rPr>
              <a:t>Concept Sketch / Block diagram</a:t>
            </a:r>
            <a:endParaRPr lang="en-US" sz="2800" dirty="0"/>
          </a:p>
        </p:txBody>
      </p:sp>
      <p:sp>
        <p:nvSpPr>
          <p:cNvPr id="5" name="Text 2"/>
          <p:cNvSpPr/>
          <p:nvPr/>
        </p:nvSpPr>
        <p:spPr>
          <a:xfrm>
            <a:off x="502920" y="960120"/>
            <a:ext cx="11183112" cy="292608"/>
          </a:xfrm>
          <a:prstGeom prst="rect">
            <a:avLst/>
          </a:prstGeom>
          <a:noFill/>
          <a:ln/>
        </p:spPr>
        <p:txBody>
          <a:bodyPr wrap="square" lIns="0" tIns="0" rIns="0" bIns="0" rtlCol="0" anchor="ctr"/>
          <a:lstStyle/>
          <a:p>
            <a:pPr marL="0" indent="0">
              <a:buNone/>
            </a:pPr>
            <a:r>
              <a:rPr lang="en-US" sz="1200" i="1" dirty="0">
                <a:solidFill>
                  <a:srgbClr val="FF0000"/>
                </a:solidFill>
                <a:latin typeface="Calibri" pitchFamily="34" charset="0"/>
                <a:ea typeface="Calibri" pitchFamily="34" charset="-122"/>
                <a:cs typeface="Calibri" pitchFamily="34" charset="-120"/>
              </a:rPr>
              <a:t>A hand-drawn sketch is perfectly acceptable — clarity matters more than polish and AI generated Images.</a:t>
            </a:r>
            <a:endParaRPr lang="en-US" sz="1200" i="1" dirty="0">
              <a:solidFill>
                <a:srgbClr val="FF0000"/>
              </a:solidFill>
            </a:endParaRPr>
          </a:p>
        </p:txBody>
      </p:sp>
      <p:sp>
        <p:nvSpPr>
          <p:cNvPr id="6" name="Shape 3"/>
          <p:cNvSpPr/>
          <p:nvPr/>
        </p:nvSpPr>
        <p:spPr>
          <a:xfrm>
            <a:off x="505968" y="1317426"/>
            <a:ext cx="11183112" cy="0"/>
          </a:xfrm>
          <a:prstGeom prst="line">
            <a:avLst/>
          </a:prstGeom>
          <a:noFill/>
          <a:ln w="12700">
            <a:solidFill>
              <a:srgbClr val="DFE4EE"/>
            </a:solidFill>
            <a:prstDash val="solid"/>
          </a:ln>
        </p:spPr>
        <p:txBody>
          <a:bodyPr/>
          <a:p/>
        </p:txBody>
      </p:sp>
      <p:sp>
        <p:nvSpPr>
          <p:cNvPr id="32" name="Date Placeholder"/>
          <p:cNvSpPr>
            <a:spLocks noGrp="1"/>
          </p:cNvSpPr>
          <p:nvPr>
            <p:ph type="dt" sz="quarter" idx="10"/>
          </p:nvPr>
        </p:nvSpPr>
        <p:spPr>
          <a:xfrm>
            <a:off x="502920" y="6382512"/>
            <a:ext cx="2926080" cy="256032"/>
          </a:xfrm>
          <a:prstGeom prst="rect">
            <a:avLst/>
          </a:prstGeom>
        </p:spPr>
        <p:txBody>
          <a:bodyPr vert="horz" lIns="0" tIns="0" rIns="0" bIns="0" rtlCol="0" anchor="ctr"/>
          <a:lstStyle>
            <a:lvl1pPr algn="l">
              <a:defRPr sz="900">
                <a:solidFill>
                  <a:srgbClr val="8A93A8"/>
                </a:solidFill>
                <a:latin typeface="Calibri" pitchFamily="34" charset="0"/>
                <a:cs typeface="Calibri" pitchFamily="34" charset="0"/>
              </a:defRPr>
            </a:lvl1pPr>
          </a:lstStyle>
          <a:p>
            <a:r>
              <a:rPr lang="en-IN" dirty="0"/>
              <a:t>25-07-2026</a:t>
            </a:r>
          </a:p>
        </p:txBody>
      </p:sp>
      <p:sp>
        <p:nvSpPr>
          <p:cNvPr id="33" name="Footer Placeholder"/>
          <p:cNvSpPr>
            <a:spLocks noGrp="1"/>
          </p:cNvSpPr>
          <p:nvPr>
            <p:ph type="ftr" sz="quarter" idx="11"/>
          </p:nvPr>
        </p:nvSpPr>
        <p:spPr>
          <a:xfrm>
            <a:off x="3657600" y="6382512"/>
            <a:ext cx="4873752" cy="256032"/>
          </a:xfrm>
          <a:prstGeom prst="rect">
            <a:avLst/>
          </a:prstGeom>
        </p:spPr>
        <p:txBody>
          <a:bodyPr vert="horz" lIns="0" tIns="0" rIns="0" bIns="0" rtlCol="0" anchor="ctr"/>
          <a:lstStyle>
            <a:lvl1pPr algn="ctr">
              <a:defRPr sz="900">
                <a:solidFill>
                  <a:srgbClr val="8A93A8"/>
                </a:solidFill>
                <a:latin typeface="Calibri" pitchFamily="34" charset="0"/>
                <a:cs typeface="Calibri" pitchFamily="34" charset="0"/>
              </a:defRPr>
            </a:lvl1pPr>
          </a:lstStyle>
          <a:p>
            <a:r>
              <a:rPr lang="en-IN"/>
              <a:t>Sri Eshwar College of Engineering  ·  Design Thinking &amp; Innovation</a:t>
            </a:r>
          </a:p>
        </p:txBody>
      </p:sp>
      <p:sp>
        <p:nvSpPr>
          <p:cNvPr id="34" name="Slide Number Placeholder"/>
          <p:cNvSpPr>
            <a:spLocks noGrp="1"/>
          </p:cNvSpPr>
          <p:nvPr>
            <p:ph type="sldNum" sz="quarter" idx="12"/>
          </p:nvPr>
        </p:nvSpPr>
        <p:spPr>
          <a:xfrm>
            <a:off x="10424160" y="6382512"/>
            <a:ext cx="1261872" cy="256032"/>
          </a:xfrm>
          <a:prstGeom prst="rect">
            <a:avLst/>
          </a:prstGeom>
        </p:spPr>
        <p:txBody>
          <a:bodyPr vert="horz" lIns="0" tIns="0" rIns="0" bIns="0" rtlCol="0" anchor="ctr"/>
          <a:lstStyle>
            <a:lvl1pPr algn="r">
              <a:defRPr sz="900">
                <a:solidFill>
                  <a:srgbClr val="8A93A8"/>
                </a:solidFill>
                <a:latin typeface="Calibri" pitchFamily="34" charset="0"/>
                <a:cs typeface="Calibri" pitchFamily="34" charset="0"/>
              </a:defRPr>
            </a:lvl1pPr>
          </a:lstStyle>
          <a:p>
            <a:pPr>
              <a:defRPr sz="1000">
                <a:solidFill>
                  <a:srgbClr val="475569"/>
                </a:solidFill>
                <a:latin typeface="Calibri"/>
              </a:defRPr>
            </a:pPr>
            <a:r>
              <a:t>4</a:t>
            </a:r>
            <a:endParaRPr lang="en-IN"/>
          </a:p>
        </p:txBody>
      </p:sp>
      <p:pic>
        <p:nvPicPr>
          <p:cNvPr id="35" name="Picture 34">
            <a:extLst>
              <a:ext uri="{FF2B5EF4-FFF2-40B4-BE49-F238E27FC236}">
                <a16:creationId xmlns:a16="http://schemas.microsoft.com/office/drawing/2014/main" id="{E02DDAC9-7330-F2D5-2AD6-AEC4FDDD78D0}"/>
              </a:ext>
            </a:extLst>
          </p:cNvPr>
          <p:cNvPicPr>
            <a:picLocks noChangeAspect="1"/>
          </p:cNvPicPr>
          <p:nvPr/>
        </p:nvPicPr>
        <p:blipFill>
          <a:blip r:embed="rId5"/>
          <a:stretch>
            <a:fillRect/>
          </a:stretch>
        </p:blipFill>
        <p:spPr>
          <a:xfrm>
            <a:off x="10363654" y="371776"/>
            <a:ext cx="1325426" cy="603504"/>
          </a:xfrm>
          <a:prstGeom prst="rect">
            <a:avLst/>
          </a:prstGeom>
        </p:spPr>
      </p:pic>
      <p:sp>
        <p:nvSpPr>
          <p:cNvPr id="36" name="Rounded Rectangle 35"/>
          <p:cNvSpPr/>
          <p:nvPr/>
        </p:nvSpPr>
        <p:spPr>
          <a:xfrm>
            <a:off x="502920" y="1480000"/>
            <a:ext cx="11183112" cy="980000"/>
          </a:xfrm>
          <a:prstGeom prst="roundRect">
            <a:avLst/>
          </a:prstGeom>
          <a:solidFill>
            <a:srgbClr val="EEF2FF"/>
          </a:solidFill>
          <a:ln w="19050">
            <a:solidFill>
              <a:srgbClr val="C3CDE8"/>
            </a:solidFill>
          </a:ln>
        </p:spPr>
        <p:style>
          <a:lnRef idx="1">
            <a:schemeClr val="accent1"/>
          </a:lnRef>
          <a:fillRef idx="3">
            <a:schemeClr val="accent1"/>
          </a:fillRef>
          <a:effectRef idx="2">
            <a:schemeClr val="accent1"/>
          </a:effectRef>
          <a:fontRef idx="minor">
            <a:schemeClr val="lt1"/>
          </a:fontRef>
        </p:style>
        <p:txBody>
          <a:bodyPr rtlCol="0" anchor="ctr" wrap="square" lIns="250000" tIns="100000" rIns="250000" bIns="80000"/>
          <a:lstStyle/>
          <a:p>
            <a:pPr algn="ctr">
              <a:defRPr sz="1300" b="1">
                <a:solidFill>
                  <a:srgbClr val="071A45"/>
                </a:solidFill>
                <a:latin typeface="Calibri"/>
              </a:defRPr>
            </a:pPr>
            <a:r>
              <a:t>1. CLIENT &amp; PWA PRESENTATION LAYER</a:t>
            </a:r>
          </a:p>
          <a:p>
            <a:pPr>
              <a:defRPr sz="1100" b="1">
                <a:solidFill>
                  <a:srgbClr val="1C52C2"/>
                </a:solidFill>
                <a:latin typeface="Calibri"/>
              </a:defRPr>
            </a:pPr>
            <a:r>
              <a:t>Tech: React 19  ·  TypeScript  ·  Tailwind CSS  ·  Vite PWA  ·  Lucide Icons  ·  Recharts Visualizations</a:t>
            </a:r>
          </a:p>
          <a:p>
            <a:pPr>
              <a:defRPr sz="1100">
                <a:solidFill>
                  <a:srgbClr val="0F172A"/>
                </a:solidFill>
                <a:latin typeface="Calibri"/>
              </a:defRPr>
            </a:pPr>
            <a:r>
              <a:t>• Responsive Dashboard &amp; Quick Action Tiles   • Pomodoro Timer with Ambient Audio   • Dark / Light Mode Settings</a:t>
            </a:r>
          </a:p>
        </p:txBody>
      </p:sp>
      <p:sp>
        <p:nvSpPr>
          <p:cNvPr id="37" name="Rounded Rectangle 36"/>
          <p:cNvSpPr/>
          <p:nvPr/>
        </p:nvSpPr>
        <p:spPr>
          <a:xfrm>
            <a:off x="502920" y="2620000"/>
            <a:ext cx="11183112" cy="980000"/>
          </a:xfrm>
          <a:prstGeom prst="roundRect">
            <a:avLst/>
          </a:prstGeom>
          <a:solidFill>
            <a:srgbClr val="FEF3C7"/>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250000" tIns="100000" rIns="250000" bIns="80000"/>
          <a:lstStyle/>
          <a:p>
            <a:pPr algn="ctr">
              <a:defRPr sz="1300" b="1">
                <a:solidFill>
                  <a:srgbClr val="071A45"/>
                </a:solidFill>
                <a:latin typeface="Calibri"/>
              </a:defRPr>
            </a:pPr>
            <a:r>
              <a:t>2. ADAPTIVE INTELLIGENCE &amp; PEDAGOGICAL ENGINE</a:t>
            </a:r>
          </a:p>
          <a:p>
            <a:pPr>
              <a:defRPr sz="1100" b="1">
                <a:solidFill>
                  <a:srgbClr val="1C52C2"/>
                </a:solidFill>
                <a:latin typeface="Calibri"/>
              </a:defRPr>
            </a:pPr>
            <a:r>
              <a:t>Tech: Anthropic Claude 3.5 Sonnet API  ·  SuperMemo SM-2 Algorithm  ·  Deterministic Weak-Topic Detection</a:t>
            </a:r>
          </a:p>
          <a:p>
            <a:pPr>
              <a:defRPr sz="1100">
                <a:solidFill>
                  <a:srgbClr val="0F172A"/>
                </a:solidFill>
                <a:latin typeface="Calibri"/>
              </a:defRPr>
            </a:pPr>
            <a:r>
              <a:t>• Document Concept Extraction (PDF.js / Mammoth)   • Active Recall Quiz Generator   • Rigorous Exam Simulation Mode</a:t>
            </a:r>
          </a:p>
        </p:txBody>
      </p:sp>
      <p:sp>
        <p:nvSpPr>
          <p:cNvPr id="38" name="Rounded Rectangle 37"/>
          <p:cNvSpPr/>
          <p:nvPr/>
        </p:nvSpPr>
        <p:spPr>
          <a:xfrm>
            <a:off x="502920" y="3760000"/>
            <a:ext cx="11183112" cy="980000"/>
          </a:xfrm>
          <a:prstGeom prst="roundRect">
            <a:avLst/>
          </a:prstGeom>
          <a:solidFill>
            <a:srgbClr val="ECFDF5"/>
          </a:solidFill>
          <a:ln w="19050">
            <a:solidFill>
              <a:srgbClr val="047857"/>
            </a:solidFill>
          </a:ln>
        </p:spPr>
        <p:style>
          <a:lnRef idx="1">
            <a:schemeClr val="accent1"/>
          </a:lnRef>
          <a:fillRef idx="3">
            <a:schemeClr val="accent1"/>
          </a:fillRef>
          <a:effectRef idx="2">
            <a:schemeClr val="accent1"/>
          </a:effectRef>
          <a:fontRef idx="minor">
            <a:schemeClr val="lt1"/>
          </a:fontRef>
        </p:style>
        <p:txBody>
          <a:bodyPr rtlCol="0" anchor="ctr" wrap="square" lIns="250000" tIns="100000" rIns="250000" bIns="80000"/>
          <a:lstStyle/>
          <a:p>
            <a:pPr algn="ctr">
              <a:defRPr sz="1300" b="1">
                <a:solidFill>
                  <a:srgbClr val="071A45"/>
                </a:solidFill>
                <a:latin typeface="Calibri"/>
              </a:defRPr>
            </a:pPr>
            <a:r>
              <a:t>3. REAL-TIME COLLABORATION &amp; STUDY TOOLS</a:t>
            </a:r>
          </a:p>
          <a:p>
            <a:pPr>
              <a:defRPr sz="1100" b="1">
                <a:solidFill>
                  <a:srgbClr val="1C52C2"/>
                </a:solidFill>
                <a:latin typeface="Calibri"/>
              </a:defRPr>
            </a:pPr>
            <a:r>
              <a:t>Tech: WebRTC Peer-to-Peer Mesh  ·  Live Multi-Language Code Sandbox  ·  Web Audio API Soundscapes</a:t>
            </a:r>
          </a:p>
          <a:p>
            <a:pPr>
              <a:defRPr sz="1100">
                <a:solidFill>
                  <a:srgbClr val="0F172A"/>
                </a:solidFill>
                <a:latin typeface="Calibri"/>
              </a:defRPr>
            </a:pPr>
            <a:r>
              <a:t>• Live Study Video/Audio Calls   • Synchronized Collaborative Code Execution   • 24/7 Contextual AI Course Tutor</a:t>
            </a:r>
          </a:p>
        </p:txBody>
      </p:sp>
      <p:sp>
        <p:nvSpPr>
          <p:cNvPr id="39" name="Rounded Rectangle 38"/>
          <p:cNvSpPr/>
          <p:nvPr/>
        </p:nvSpPr>
        <p:spPr>
          <a:xfrm>
            <a:off x="502920" y="4900000"/>
            <a:ext cx="11183112" cy="980000"/>
          </a:xfrm>
          <a:prstGeom prst="roundRect">
            <a:avLst/>
          </a:prstGeom>
          <a:solidFill>
            <a:srgbClr val="F8FAFC"/>
          </a:solidFill>
          <a:ln w="19050">
            <a:solidFill>
              <a:srgbClr val="DFE4EE"/>
            </a:solidFill>
          </a:ln>
        </p:spPr>
        <p:style>
          <a:lnRef idx="1">
            <a:schemeClr val="accent1"/>
          </a:lnRef>
          <a:fillRef idx="3">
            <a:schemeClr val="accent1"/>
          </a:fillRef>
          <a:effectRef idx="2">
            <a:schemeClr val="accent1"/>
          </a:effectRef>
          <a:fontRef idx="minor">
            <a:schemeClr val="lt1"/>
          </a:fontRef>
        </p:style>
        <p:txBody>
          <a:bodyPr rtlCol="0" anchor="ctr" wrap="square" lIns="250000" tIns="100000" rIns="250000" bIns="80000"/>
          <a:lstStyle/>
          <a:p>
            <a:pPr algn="ctr">
              <a:defRPr sz="1300" b="1">
                <a:solidFill>
                  <a:srgbClr val="071A45"/>
                </a:solidFill>
                <a:latin typeface="Calibri"/>
              </a:defRPr>
            </a:pPr>
            <a:r>
              <a:t>4. DATA PERSISTENCE &amp; SYSTEM SCHEDULER</a:t>
            </a:r>
          </a:p>
          <a:p>
            <a:pPr>
              <a:defRPr sz="1100" b="1">
                <a:solidFill>
                  <a:srgbClr val="1C52C2"/>
                </a:solidFill>
                <a:latin typeface="Calibri"/>
              </a:defRPr>
            </a:pPr>
            <a:r>
              <a:t>Tech: Supabase PostgreSQL  ·  IndexedDB (idb) Offline Cache  ·  Browser Notification Scheduler</a:t>
            </a:r>
          </a:p>
          <a:p>
            <a:pPr>
              <a:defRPr sz="1100">
                <a:solidFill>
                  <a:srgbClr val="0F172A"/>
                </a:solidFill>
                <a:latin typeface="Calibri"/>
              </a:defRPr>
            </a:pPr>
            <a:r>
              <a:t>• Cloud Progress Sync   • 100% Offline Study Capability   • Background 30s Study &amp; Exam Reminder Dispatcher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assets/logo.png"/>
          <p:cNvPicPr>
            <a:picLocks noChangeAspect="1"/>
          </p:cNvPicPr>
          <p:nvPr/>
        </p:nvPicPr>
        <p:blipFill>
          <a:blip r:embed="rId3"/>
          <a:stretch>
            <a:fillRect/>
          </a:stretch>
        </p:blipFill>
        <p:spPr>
          <a:xfrm>
            <a:off x="457200" y="237744"/>
            <a:ext cx="1024128" cy="283464"/>
          </a:xfrm>
          <a:prstGeom prst="rect">
            <a:avLst/>
          </a:prstGeom>
        </p:spPr>
      </p:pic>
      <p:sp>
        <p:nvSpPr>
          <p:cNvPr id="32" name="Date Placeholder"/>
          <p:cNvSpPr>
            <a:spLocks noGrp="1"/>
          </p:cNvSpPr>
          <p:nvPr>
            <p:ph type="dt" sz="quarter" idx="10"/>
          </p:nvPr>
        </p:nvSpPr>
        <p:spPr>
          <a:xfrm>
            <a:off x="502920" y="6382512"/>
            <a:ext cx="2926080" cy="256032"/>
          </a:xfrm>
          <a:prstGeom prst="rect">
            <a:avLst/>
          </a:prstGeom>
        </p:spPr>
        <p:txBody>
          <a:bodyPr vert="horz" lIns="0" tIns="0" rIns="0" bIns="0" rtlCol="0" anchor="ctr"/>
          <a:lstStyle>
            <a:lvl1pPr algn="l">
              <a:defRPr sz="900">
                <a:solidFill>
                  <a:srgbClr val="8A93A8"/>
                </a:solidFill>
                <a:latin typeface="Calibri" pitchFamily="34" charset="0"/>
                <a:cs typeface="Calibri" pitchFamily="34" charset="0"/>
              </a:defRPr>
            </a:lvl1pPr>
          </a:lstStyle>
          <a:p>
            <a:r>
              <a:rPr lang="en-IN" dirty="0"/>
              <a:t>25-07-2026</a:t>
            </a:r>
          </a:p>
        </p:txBody>
      </p:sp>
      <p:sp>
        <p:nvSpPr>
          <p:cNvPr id="33" name="Footer Placeholder"/>
          <p:cNvSpPr>
            <a:spLocks noGrp="1"/>
          </p:cNvSpPr>
          <p:nvPr>
            <p:ph type="ftr" sz="quarter" idx="11"/>
          </p:nvPr>
        </p:nvSpPr>
        <p:spPr>
          <a:xfrm>
            <a:off x="3657600" y="6382512"/>
            <a:ext cx="4873752" cy="256032"/>
          </a:xfrm>
          <a:prstGeom prst="rect">
            <a:avLst/>
          </a:prstGeom>
        </p:spPr>
        <p:txBody>
          <a:bodyPr vert="horz" lIns="0" tIns="0" rIns="0" bIns="0" rtlCol="0" anchor="ctr"/>
          <a:lstStyle>
            <a:lvl1pPr algn="ctr">
              <a:defRPr sz="900">
                <a:solidFill>
                  <a:srgbClr val="8A93A8"/>
                </a:solidFill>
                <a:latin typeface="Calibri" pitchFamily="34" charset="0"/>
                <a:cs typeface="Calibri" pitchFamily="34" charset="0"/>
              </a:defRPr>
            </a:lvl1pPr>
          </a:lstStyle>
          <a:p>
            <a:r>
              <a:rPr lang="en-IN" dirty="0"/>
              <a:t>Sri Eshwar College of Engineering  ·  Design Thinking &amp; Innovation</a:t>
            </a:r>
          </a:p>
        </p:txBody>
      </p:sp>
      <p:sp>
        <p:nvSpPr>
          <p:cNvPr id="34" name="Slide Number Placeholder"/>
          <p:cNvSpPr>
            <a:spLocks noGrp="1"/>
          </p:cNvSpPr>
          <p:nvPr>
            <p:ph type="sldNum" sz="quarter" idx="12"/>
          </p:nvPr>
        </p:nvSpPr>
        <p:spPr>
          <a:xfrm>
            <a:off x="10424160" y="6382512"/>
            <a:ext cx="1261872" cy="256032"/>
          </a:xfrm>
          <a:prstGeom prst="rect">
            <a:avLst/>
          </a:prstGeom>
        </p:spPr>
        <p:txBody>
          <a:bodyPr vert="horz" lIns="0" tIns="0" rIns="0" bIns="0" rtlCol="0" anchor="ctr"/>
          <a:lstStyle>
            <a:lvl1pPr algn="r">
              <a:defRPr sz="900">
                <a:solidFill>
                  <a:srgbClr val="8A93A8"/>
                </a:solidFill>
                <a:latin typeface="Calibri" pitchFamily="34" charset="0"/>
                <a:cs typeface="Calibri" pitchFamily="34" charset="0"/>
              </a:defRPr>
            </a:lvl1pPr>
          </a:lstStyle>
          <a:p>
            <a:pPr>
              <a:defRPr sz="1000">
                <a:solidFill>
                  <a:srgbClr val="475569"/>
                </a:solidFill>
                <a:latin typeface="Calibri"/>
              </a:defRPr>
            </a:pPr>
            <a:r>
              <a:t>5</a:t>
            </a:r>
            <a:endParaRPr lang="en-IN"/>
          </a:p>
        </p:txBody>
      </p:sp>
      <p:sp>
        <p:nvSpPr>
          <p:cNvPr id="101" name="Text 102"/>
          <p:cNvSpPr/>
          <p:nvPr/>
        </p:nvSpPr>
        <p:spPr>
          <a:xfrm>
            <a:off x="502920" y="658368"/>
            <a:ext cx="11183112" cy="457200"/>
          </a:xfrm>
          <a:prstGeom prst="rect">
            <a:avLst/>
          </a:prstGeom>
          <a:noFill/>
          <a:ln/>
        </p:spPr>
        <p:txBody>
          <a:bodyPr wrap="square" lIns="0" tIns="0" rIns="0" bIns="0" rtlCol="0" anchor="t"/>
          <a:lstStyle/>
          <a:p>
            <a:pPr marL="0" indent="0" algn="l">
              <a:buNone/>
            </a:pPr>
            <a:r>
              <a:rPr lang="en-IN" sz="2800" b="1" dirty="0">
                <a:solidFill>
                  <a:srgbClr val="071A45"/>
                </a:solidFill>
                <a:latin typeface="Calibri" pitchFamily="34" charset="0"/>
                <a:ea typeface="Calibri" pitchFamily="34" charset="-122"/>
                <a:cs typeface="Calibri" pitchFamily="34" charset="-120"/>
              </a:rPr>
              <a:t>Storyboard</a:t>
            </a:r>
          </a:p>
        </p:txBody>
      </p:sp>
      <p:cxnSp>
        <p:nvCxnSpPr>
          <p:cNvPr id="105" name="Line 106"/>
          <p:cNvCxnSpPr/>
          <p:nvPr/>
        </p:nvCxnSpPr>
        <p:spPr>
          <a:xfrm>
            <a:off x="502920" y="1317428"/>
            <a:ext cx="11183112" cy="0"/>
          </a:xfrm>
          <a:prstGeom prst="line">
            <a:avLst/>
          </a:prstGeom>
          <a:ln w="12700">
            <a:solidFill>
              <a:srgbClr val="DFE4EE"/>
            </a:solidFill>
          </a:ln>
        </p:spPr>
      </p:cxnSp>
      <p:sp>
        <p:nvSpPr>
          <p:cNvPr id="107" name="Card 108"/>
          <p:cNvSpPr/>
          <p:nvPr/>
        </p:nvSpPr>
        <p:spPr>
          <a:xfrm>
            <a:off x="512063" y="1524718"/>
            <a:ext cx="5504688" cy="4755312"/>
          </a:xfrm>
          <a:prstGeom prst="roundRect">
            <a:avLst>
              <a:gd name="adj" fmla="val 6000"/>
            </a:avLst>
          </a:prstGeom>
          <a:solidFill>
            <a:srgbClr val="FDF1F1"/>
          </a:solidFill>
          <a:ln w="12700">
            <a:solidFill>
              <a:srgbClr val="F0C9C9"/>
            </a:solidFill>
          </a:ln>
        </p:spPr>
        <p:txBody>
          <a:bodyPr/>
          <a:lstStyle/>
          <a:p>
            <a:endParaRPr lang="en-IN" dirty="0"/>
          </a:p>
        </p:txBody>
      </p:sp>
      <p:sp>
        <p:nvSpPr>
          <p:cNvPr id="109" name="Text 110"/>
          <p:cNvSpPr/>
          <p:nvPr/>
        </p:nvSpPr>
        <p:spPr>
          <a:xfrm>
            <a:off x="780288" y="1744606"/>
            <a:ext cx="4937760" cy="256032"/>
          </a:xfrm>
          <a:prstGeom prst="rect">
            <a:avLst/>
          </a:prstGeom>
          <a:noFill/>
          <a:ln/>
        </p:spPr>
        <p:txBody>
          <a:bodyPr wrap="square" lIns="0" tIns="0" rIns="0" bIns="0" rtlCol="0" anchor="t"/>
          <a:lstStyle/>
          <a:p>
            <a:pPr marL="0" indent="0" algn="ctr">
              <a:buNone/>
            </a:pPr>
            <a:r>
              <a:rPr lang="en-IN" sz="1100" b="1" spc="60" dirty="0">
                <a:solidFill>
                  <a:srgbClr val="C62828"/>
                </a:solidFill>
                <a:latin typeface="Calibri" pitchFamily="34" charset="0"/>
                <a:ea typeface="Calibri" pitchFamily="34" charset="-122"/>
                <a:cs typeface="Calibri" pitchFamily="34" charset="-120"/>
              </a:rPr>
              <a:t>BEFORE  —  A DAY IN THEIR LIFE TODAY</a:t>
            </a:r>
          </a:p>
        </p:txBody>
      </p:sp>
      <p:sp>
        <p:nvSpPr>
          <p:cNvPr id="117" name="Card 118"/>
          <p:cNvSpPr/>
          <p:nvPr/>
        </p:nvSpPr>
        <p:spPr>
          <a:xfrm>
            <a:off x="6125760" y="1524717"/>
            <a:ext cx="5504688" cy="4755312"/>
          </a:xfrm>
          <a:prstGeom prst="roundRect">
            <a:avLst>
              <a:gd name="adj" fmla="val 6000"/>
            </a:avLst>
          </a:prstGeom>
          <a:solidFill>
            <a:srgbClr val="E9EFFC"/>
          </a:solidFill>
          <a:ln w="12700">
            <a:solidFill>
              <a:srgbClr val="C3CDE8"/>
            </a:solidFill>
          </a:ln>
        </p:spPr>
        <p:txBody>
          <a:bodyPr/>
          <a:lstStyle/>
          <a:p>
            <a:endParaRPr lang="en-IN" dirty="0"/>
          </a:p>
        </p:txBody>
      </p:sp>
      <p:sp>
        <p:nvSpPr>
          <p:cNvPr id="119" name="Text 120"/>
          <p:cNvSpPr/>
          <p:nvPr/>
        </p:nvSpPr>
        <p:spPr>
          <a:xfrm>
            <a:off x="6409224" y="1714076"/>
            <a:ext cx="4937760" cy="256032"/>
          </a:xfrm>
          <a:prstGeom prst="rect">
            <a:avLst/>
          </a:prstGeom>
          <a:noFill/>
          <a:ln/>
        </p:spPr>
        <p:txBody>
          <a:bodyPr wrap="square" lIns="0" tIns="0" rIns="0" bIns="0" rtlCol="0" anchor="t"/>
          <a:lstStyle/>
          <a:p>
            <a:pPr marL="0" indent="0" algn="ctr">
              <a:buNone/>
            </a:pPr>
            <a:r>
              <a:rPr lang="en-IN" sz="1100" b="1" spc="60" dirty="0">
                <a:solidFill>
                  <a:srgbClr val="071A45"/>
                </a:solidFill>
                <a:latin typeface="Calibri" pitchFamily="34" charset="0"/>
                <a:ea typeface="Calibri" pitchFamily="34" charset="-122"/>
                <a:cs typeface="Calibri" pitchFamily="34" charset="-120"/>
              </a:rPr>
              <a:t>AFTER  —  A DAY WITH OUR SOLUTION</a:t>
            </a:r>
          </a:p>
        </p:txBody>
      </p:sp>
      <p:sp>
        <p:nvSpPr>
          <p:cNvPr id="133" name="Text 134"/>
          <p:cNvSpPr/>
          <p:nvPr/>
        </p:nvSpPr>
        <p:spPr>
          <a:xfrm>
            <a:off x="502920" y="6163056"/>
            <a:ext cx="11183112" cy="219456"/>
          </a:xfrm>
          <a:prstGeom prst="rect">
            <a:avLst/>
          </a:prstGeom>
          <a:noFill/>
          <a:ln/>
        </p:spPr>
        <p:txBody>
          <a:bodyPr wrap="square" lIns="0" tIns="0" rIns="0" bIns="0" rtlCol="0" anchor="t"/>
          <a:lstStyle/>
          <a:p>
            <a:pPr marL="0" indent="0" algn="l">
              <a:buNone/>
            </a:pPr>
            <a:endParaRPr lang="en-IN" sz="950" i="1" dirty="0">
              <a:solidFill>
                <a:srgbClr val="8A93A8"/>
              </a:solidFill>
              <a:latin typeface="Calibri" pitchFamily="34" charset="0"/>
              <a:ea typeface="Calibri" pitchFamily="34" charset="-122"/>
              <a:cs typeface="Calibri" pitchFamily="34" charset="-120"/>
            </a:endParaRPr>
          </a:p>
        </p:txBody>
      </p:sp>
      <p:pic>
        <p:nvPicPr>
          <p:cNvPr id="6" name="Picture 5">
            <a:extLst>
              <a:ext uri="{FF2B5EF4-FFF2-40B4-BE49-F238E27FC236}">
                <a16:creationId xmlns:a16="http://schemas.microsoft.com/office/drawing/2014/main" id="{239B2AB6-EE98-353B-9D34-F58345FC5CB8}"/>
              </a:ext>
            </a:extLst>
          </p:cNvPr>
          <p:cNvPicPr>
            <a:picLocks noChangeAspect="1"/>
          </p:cNvPicPr>
          <p:nvPr/>
        </p:nvPicPr>
        <p:blipFill>
          <a:blip r:embed="rId4"/>
          <a:stretch>
            <a:fillRect/>
          </a:stretch>
        </p:blipFill>
        <p:spPr>
          <a:xfrm>
            <a:off x="10363654" y="371776"/>
            <a:ext cx="1325426" cy="603504"/>
          </a:xfrm>
          <a:prstGeom prst="rect">
            <a:avLst/>
          </a:prstGeom>
        </p:spPr>
      </p:pic>
      <p:sp>
        <p:nvSpPr>
          <p:cNvPr id="4" name="Text 110">
            <a:extLst>
              <a:ext uri="{FF2B5EF4-FFF2-40B4-BE49-F238E27FC236}">
                <a16:creationId xmlns:a16="http://schemas.microsoft.com/office/drawing/2014/main" id="{87231FAE-AB3C-7CE5-6A2A-78DA4F37EA2D}"/>
              </a:ext>
            </a:extLst>
          </p:cNvPr>
          <p:cNvSpPr/>
          <p:nvPr/>
        </p:nvSpPr>
        <p:spPr>
          <a:xfrm>
            <a:off x="780288" y="2174698"/>
            <a:ext cx="3174202" cy="3988357"/>
          </a:xfrm>
          <a:prstGeom prst="rect">
            <a:avLst/>
          </a:prstGeom>
          <a:noFill/>
          <a:ln/>
        </p:spPr>
        <p:txBody>
          <a:bodyPr wrap="square" lIns="0" tIns="0" rIns="0" bIns="0" rtlCol="0" anchor="t"/>
          <a:lstStyle/>
          <a:p>
            <a:r>
              <a:rPr lang="en-IN" dirty="0"/>
              <a:t>Every evening after college, </a:t>
            </a:r>
            <a:r>
              <a:rPr lang="en-IN" b="1" dirty="0"/>
              <a:t>Ananya</a:t>
            </a:r>
            <a:r>
              <a:rPr lang="en-IN" dirty="0"/>
              <a:t>, a first-year engineering student, sits down to study. She has assignments, five subjects, and an upcoming exam, but she doesn't know where to begin. She spends nearly 30 minutes deciding what to study, watches random YouTube videos, and keeps switching between subjects. By the end of the day, she feels stressed because she hasn't completed much and worries about getting low marks. </a:t>
            </a:r>
            <a:endParaRPr lang="en-IN" b="1" spc="60" dirty="0">
              <a:solidFill>
                <a:srgbClr val="C62828"/>
              </a:solidFill>
              <a:latin typeface="Calibri" pitchFamily="34" charset="0"/>
              <a:ea typeface="Calibri" pitchFamily="34" charset="-122"/>
              <a:cs typeface="Calibri" pitchFamily="34" charset="-120"/>
            </a:endParaRPr>
          </a:p>
        </p:txBody>
      </p:sp>
      <p:sp>
        <p:nvSpPr>
          <p:cNvPr id="7" name="Text 110">
            <a:extLst>
              <a:ext uri="{FF2B5EF4-FFF2-40B4-BE49-F238E27FC236}">
                <a16:creationId xmlns:a16="http://schemas.microsoft.com/office/drawing/2014/main" id="{9608DCC6-88B2-F87A-EE10-B0142761E9AC}"/>
              </a:ext>
            </a:extLst>
          </p:cNvPr>
          <p:cNvSpPr/>
          <p:nvPr/>
        </p:nvSpPr>
        <p:spPr>
          <a:xfrm>
            <a:off x="6559764" y="2189564"/>
            <a:ext cx="3678389" cy="3988357"/>
          </a:xfrm>
          <a:prstGeom prst="rect">
            <a:avLst/>
          </a:prstGeom>
          <a:noFill/>
          <a:ln/>
        </p:spPr>
        <p:txBody>
          <a:bodyPr wrap="square" lIns="0" tIns="0" rIns="0" bIns="0" rtlCol="0" anchor="t"/>
          <a:lstStyle/>
          <a:p>
            <a:r>
              <a:rPr lang="en-IN" dirty="0"/>
              <a:t>After logging into the </a:t>
            </a:r>
            <a:r>
              <a:rPr lang="en-IN" b="1" dirty="0"/>
              <a:t>AI-Based Personalized Learning System</a:t>
            </a:r>
            <a:r>
              <a:rPr lang="en-IN" dirty="0"/>
              <a:t>, Ananya receives a personalized study plan based on her weak subjects and upcoming exams. The app recommends the best videos and practice questions, sends reminders to stay on track, and tracks her daily progress. She follows the plan step by step, studies more efficiently, and feels confident before her exams. Instead of feeling confused and stressed, she is organized, motivated, and gradually improves her academic performance.</a:t>
            </a:r>
            <a:endParaRPr lang="en-IN" b="1" spc="60" dirty="0">
              <a:solidFill>
                <a:srgbClr val="C62828"/>
              </a:solidFill>
              <a:latin typeface="Calibri" pitchFamily="34" charset="0"/>
              <a:ea typeface="Calibri" pitchFamily="34" charset="-122"/>
              <a:cs typeface="Calibri" pitchFamily="34" charset="-12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pic>
        <p:nvPicPr>
          <p:cNvPr id="2" name="Image 0" descr="assets/logo.png"/>
          <p:cNvPicPr>
            <a:picLocks noChangeAspect="1"/>
          </p:cNvPicPr>
          <p:nvPr/>
        </p:nvPicPr>
        <p:blipFill>
          <a:blip r:embed="rId3"/>
          <a:stretch>
            <a:fillRect/>
          </a:stretch>
        </p:blipFill>
        <p:spPr>
          <a:xfrm>
            <a:off x="457200" y="237744"/>
            <a:ext cx="1024128" cy="283464"/>
          </a:xfrm>
          <a:prstGeom prst="rect">
            <a:avLst/>
          </a:prstGeom>
        </p:spPr>
      </p:pic>
      <p:sp>
        <p:nvSpPr>
          <p:cNvPr id="4" name="Text 1"/>
          <p:cNvSpPr/>
          <p:nvPr/>
        </p:nvSpPr>
        <p:spPr>
          <a:xfrm>
            <a:off x="502920" y="658368"/>
            <a:ext cx="11183112" cy="457200"/>
          </a:xfrm>
          <a:prstGeom prst="rect">
            <a:avLst/>
          </a:prstGeom>
          <a:noFill/>
          <a:ln/>
        </p:spPr>
        <p:txBody>
          <a:bodyPr wrap="square" lIns="0" tIns="0" rIns="0" bIns="0" rtlCol="0" anchor="ctr"/>
          <a:lstStyle/>
          <a:p>
            <a:pPr marL="0" indent="0">
              <a:buNone/>
            </a:pPr>
            <a:r>
              <a:rPr lang="en-US" sz="2800" b="1" dirty="0">
                <a:solidFill>
                  <a:srgbClr val="071A45"/>
                </a:solidFill>
                <a:latin typeface="Calibri" pitchFamily="34" charset="0"/>
                <a:ea typeface="Calibri" pitchFamily="34" charset="-122"/>
                <a:cs typeface="Calibri" pitchFamily="34" charset="-120"/>
              </a:rPr>
              <a:t>From Pain Point to Feature</a:t>
            </a:r>
            <a:endParaRPr lang="en-US" sz="2800" dirty="0"/>
          </a:p>
        </p:txBody>
      </p:sp>
      <p:sp>
        <p:nvSpPr>
          <p:cNvPr id="6" name="Shape 3"/>
          <p:cNvSpPr/>
          <p:nvPr/>
        </p:nvSpPr>
        <p:spPr>
          <a:xfrm>
            <a:off x="505968" y="1461660"/>
            <a:ext cx="11183112" cy="0"/>
          </a:xfrm>
          <a:prstGeom prst="line">
            <a:avLst/>
          </a:prstGeom>
          <a:noFill/>
          <a:ln w="12700">
            <a:solidFill>
              <a:srgbClr val="DFE4EE"/>
            </a:solidFill>
            <a:prstDash val="solid"/>
          </a:ln>
        </p:spPr>
        <p:txBody>
          <a:bodyPr/>
          <a:p/>
        </p:txBody>
      </p:sp>
      <p:sp>
        <p:nvSpPr>
          <p:cNvPr id="7" name="Shape 4"/>
          <p:cNvSpPr/>
          <p:nvPr/>
        </p:nvSpPr>
        <p:spPr>
          <a:xfrm>
            <a:off x="502920" y="1783080"/>
            <a:ext cx="5120640" cy="457200"/>
          </a:xfrm>
          <a:prstGeom prst="roundRect">
            <a:avLst>
              <a:gd name="adj" fmla="val 16000"/>
            </a:avLst>
          </a:prstGeom>
          <a:solidFill>
            <a:srgbClr val="FDF1F1"/>
          </a:solidFill>
          <a:ln w="12700">
            <a:solidFill>
              <a:srgbClr val="F0C9C9"/>
            </a:solidFill>
            <a:prstDash val="solid"/>
          </a:ln>
        </p:spPr>
        <p:txBody>
          <a:bodyPr/>
          <a:p/>
        </p:txBody>
      </p:sp>
      <p:sp>
        <p:nvSpPr>
          <p:cNvPr id="8" name="Text 5"/>
          <p:cNvSpPr/>
          <p:nvPr/>
        </p:nvSpPr>
        <p:spPr>
          <a:xfrm>
            <a:off x="777240" y="1874520"/>
            <a:ext cx="4572000" cy="237744"/>
          </a:xfrm>
          <a:prstGeom prst="rect">
            <a:avLst/>
          </a:prstGeom>
          <a:noFill/>
          <a:ln/>
        </p:spPr>
        <p:txBody>
          <a:bodyPr wrap="square" lIns="0" tIns="0" rIns="0" bIns="0" rtlCol="0" anchor="ctr"/>
          <a:lstStyle/>
          <a:p>
            <a:pPr marL="0" indent="0" algn="l">
              <a:buNone/>
            </a:pPr>
            <a:r>
              <a:rPr lang="en-US" sz="1100" b="1" kern="0" spc="60" dirty="0">
                <a:solidFill>
                  <a:srgbClr val="C62828"/>
                </a:solidFill>
                <a:latin typeface="Calibri" pitchFamily="34" charset="0"/>
                <a:ea typeface="Calibri" pitchFamily="34" charset="-122"/>
                <a:cs typeface="Calibri" pitchFamily="34" charset="-120"/>
              </a:rPr>
              <a:t>PAIN POINT  (from Empathy Map)</a:t>
            </a:r>
            <a:endParaRPr lang="en-US" sz="1100" dirty="0"/>
          </a:p>
        </p:txBody>
      </p:sp>
      <p:sp>
        <p:nvSpPr>
          <p:cNvPr id="9" name="Shape 6"/>
          <p:cNvSpPr/>
          <p:nvPr/>
        </p:nvSpPr>
        <p:spPr>
          <a:xfrm>
            <a:off x="6565392" y="1783080"/>
            <a:ext cx="5120640" cy="457200"/>
          </a:xfrm>
          <a:prstGeom prst="roundRect">
            <a:avLst>
              <a:gd name="adj" fmla="val 16000"/>
            </a:avLst>
          </a:prstGeom>
          <a:solidFill>
            <a:srgbClr val="E9EFFC"/>
          </a:solidFill>
          <a:ln w="12700">
            <a:solidFill>
              <a:srgbClr val="C3CDE8"/>
            </a:solidFill>
            <a:prstDash val="solid"/>
          </a:ln>
        </p:spPr>
        <p:txBody>
          <a:bodyPr/>
          <a:p/>
        </p:txBody>
      </p:sp>
      <p:sp>
        <p:nvSpPr>
          <p:cNvPr id="10" name="Text 7"/>
          <p:cNvSpPr/>
          <p:nvPr/>
        </p:nvSpPr>
        <p:spPr>
          <a:xfrm>
            <a:off x="6839712" y="1874520"/>
            <a:ext cx="4572000" cy="237744"/>
          </a:xfrm>
          <a:prstGeom prst="rect">
            <a:avLst/>
          </a:prstGeom>
          <a:noFill/>
          <a:ln/>
        </p:spPr>
        <p:txBody>
          <a:bodyPr wrap="square" lIns="0" tIns="0" rIns="0" bIns="0" rtlCol="0" anchor="ctr"/>
          <a:lstStyle/>
          <a:p>
            <a:pPr marL="0" indent="0" algn="l">
              <a:buNone/>
            </a:pPr>
            <a:r>
              <a:rPr lang="en-US" sz="1100" b="1" kern="0" spc="60" dirty="0">
                <a:solidFill>
                  <a:srgbClr val="071A45"/>
                </a:solidFill>
                <a:latin typeface="Calibri" pitchFamily="34" charset="0"/>
                <a:ea typeface="Calibri" pitchFamily="34" charset="-122"/>
                <a:cs typeface="Calibri" pitchFamily="34" charset="-120"/>
              </a:rPr>
              <a:t>OUR FEATURE THAT SOLVES IT</a:t>
            </a:r>
            <a:endParaRPr lang="en-US" sz="1100" dirty="0"/>
          </a:p>
        </p:txBody>
      </p:sp>
      <p:sp>
        <p:nvSpPr>
          <p:cNvPr id="11" name="Shape 8"/>
          <p:cNvSpPr/>
          <p:nvPr/>
        </p:nvSpPr>
        <p:spPr>
          <a:xfrm>
            <a:off x="502920" y="2395728"/>
            <a:ext cx="5120640" cy="777240"/>
          </a:xfrm>
          <a:prstGeom prst="roundRect">
            <a:avLst>
              <a:gd name="adj" fmla="val 9412"/>
            </a:avLst>
          </a:prstGeom>
          <a:solidFill>
            <a:srgbClr val="F5F7FB"/>
          </a:solidFill>
          <a:ln w="12700">
            <a:solidFill>
              <a:srgbClr val="DFE4EE"/>
            </a:solidFill>
            <a:prstDash val="solid"/>
          </a:ln>
        </p:spPr>
        <p:txBody>
          <a:bodyPr/>
          <a:p/>
        </p:txBody>
      </p:sp>
      <p:sp>
        <p:nvSpPr>
          <p:cNvPr id="12" name="Text 9"/>
          <p:cNvSpPr/>
          <p:nvPr/>
        </p:nvSpPr>
        <p:spPr>
          <a:xfrm>
            <a:off x="777240" y="2679348"/>
            <a:ext cx="4572000" cy="320040"/>
          </a:xfrm>
          <a:prstGeom prst="rect">
            <a:avLst/>
          </a:prstGeom>
          <a:noFill/>
          <a:ln/>
        </p:spPr>
        <p:txBody>
          <a:bodyPr wrap="square" lIns="0" tIns="0" rIns="0" bIns="0" rtlCol="0" anchor="t"/>
          <a:lstStyle/>
          <a:p>
            <a:pPr>
              <a:lnSpc>
                <a:spcPct val="105000"/>
              </a:lnSpc>
            </a:pPr>
            <a:r>
              <a:rPr lang="en-IN" sz="1200" dirty="0"/>
              <a:t>Doesn't know what to study</a:t>
            </a:r>
            <a:endParaRPr lang="en-US" sz="1150" dirty="0"/>
          </a:p>
        </p:txBody>
      </p:sp>
      <p:pic>
        <p:nvPicPr>
          <p:cNvPr id="13" name="Image 1" descr="assets/ic_link.png"/>
          <p:cNvPicPr>
            <a:picLocks noChangeAspect="1"/>
          </p:cNvPicPr>
          <p:nvPr/>
        </p:nvPicPr>
        <p:blipFill>
          <a:blip r:embed="rId4"/>
          <a:stretch>
            <a:fillRect/>
          </a:stretch>
        </p:blipFill>
        <p:spPr>
          <a:xfrm>
            <a:off x="5943600" y="2651760"/>
            <a:ext cx="256032" cy="256032"/>
          </a:xfrm>
          <a:prstGeom prst="rect">
            <a:avLst/>
          </a:prstGeom>
        </p:spPr>
      </p:pic>
      <p:sp>
        <p:nvSpPr>
          <p:cNvPr id="14" name="Shape 10"/>
          <p:cNvSpPr/>
          <p:nvPr/>
        </p:nvSpPr>
        <p:spPr>
          <a:xfrm>
            <a:off x="6565392" y="2395728"/>
            <a:ext cx="5120640" cy="777240"/>
          </a:xfrm>
          <a:prstGeom prst="roundRect">
            <a:avLst>
              <a:gd name="adj" fmla="val 9412"/>
            </a:avLst>
          </a:prstGeom>
          <a:solidFill>
            <a:srgbClr val="E9EFFC"/>
          </a:solidFill>
          <a:ln w="12700">
            <a:solidFill>
              <a:srgbClr val="C3CDE8"/>
            </a:solidFill>
            <a:prstDash val="solid"/>
          </a:ln>
        </p:spPr>
        <p:txBody>
          <a:bodyPr/>
          <a:p/>
        </p:txBody>
      </p:sp>
      <p:sp>
        <p:nvSpPr>
          <p:cNvPr id="15" name="Text 11"/>
          <p:cNvSpPr/>
          <p:nvPr/>
        </p:nvSpPr>
        <p:spPr>
          <a:xfrm>
            <a:off x="6839712" y="2684140"/>
            <a:ext cx="4572000" cy="320040"/>
          </a:xfrm>
          <a:prstGeom prst="rect">
            <a:avLst/>
          </a:prstGeom>
          <a:noFill/>
          <a:ln/>
        </p:spPr>
        <p:txBody>
          <a:bodyPr wrap="square" lIns="0" tIns="0" rIns="0" bIns="0" rtlCol="0" anchor="t"/>
          <a:lstStyle/>
          <a:p>
            <a:pPr>
              <a:lnSpc>
                <a:spcPct val="105000"/>
              </a:lnSpc>
            </a:pPr>
            <a:r>
              <a:rPr lang="en-IN" sz="1200" dirty="0"/>
              <a:t>AI Study Planner</a:t>
            </a:r>
            <a:endParaRPr lang="en-US" sz="1150" dirty="0"/>
          </a:p>
        </p:txBody>
      </p:sp>
      <p:sp>
        <p:nvSpPr>
          <p:cNvPr id="16" name="Shape 12"/>
          <p:cNvSpPr/>
          <p:nvPr/>
        </p:nvSpPr>
        <p:spPr>
          <a:xfrm>
            <a:off x="502920" y="3328416"/>
            <a:ext cx="5120640" cy="777240"/>
          </a:xfrm>
          <a:prstGeom prst="roundRect">
            <a:avLst>
              <a:gd name="adj" fmla="val 9412"/>
            </a:avLst>
          </a:prstGeom>
          <a:solidFill>
            <a:srgbClr val="F5F7FB"/>
          </a:solidFill>
          <a:ln w="12700">
            <a:solidFill>
              <a:srgbClr val="DFE4EE"/>
            </a:solidFill>
            <a:prstDash val="solid"/>
          </a:ln>
        </p:spPr>
        <p:txBody>
          <a:bodyPr/>
          <a:p/>
        </p:txBody>
      </p:sp>
      <p:sp>
        <p:nvSpPr>
          <p:cNvPr id="17" name="Text 13"/>
          <p:cNvSpPr/>
          <p:nvPr/>
        </p:nvSpPr>
        <p:spPr>
          <a:xfrm>
            <a:off x="777240" y="3621713"/>
            <a:ext cx="4572000" cy="320040"/>
          </a:xfrm>
          <a:prstGeom prst="rect">
            <a:avLst/>
          </a:prstGeom>
          <a:noFill/>
          <a:ln/>
        </p:spPr>
        <p:txBody>
          <a:bodyPr wrap="square" lIns="0" tIns="0" rIns="0" bIns="0" rtlCol="0" anchor="t"/>
          <a:lstStyle/>
          <a:p>
            <a:pPr>
              <a:lnSpc>
                <a:spcPct val="105000"/>
              </a:lnSpc>
            </a:pPr>
            <a:r>
              <a:rPr lang="en-IN" sz="1200" dirty="0"/>
              <a:t>Weak topics not identified</a:t>
            </a:r>
            <a:endParaRPr lang="en-US" sz="1150" dirty="0"/>
          </a:p>
        </p:txBody>
      </p:sp>
      <p:pic>
        <p:nvPicPr>
          <p:cNvPr id="18" name="Image 2" descr="assets/ic_link.png"/>
          <p:cNvPicPr>
            <a:picLocks noChangeAspect="1"/>
          </p:cNvPicPr>
          <p:nvPr/>
        </p:nvPicPr>
        <p:blipFill>
          <a:blip r:embed="rId4"/>
          <a:stretch>
            <a:fillRect/>
          </a:stretch>
        </p:blipFill>
        <p:spPr>
          <a:xfrm>
            <a:off x="5943600" y="3584448"/>
            <a:ext cx="256032" cy="256032"/>
          </a:xfrm>
          <a:prstGeom prst="rect">
            <a:avLst/>
          </a:prstGeom>
        </p:spPr>
      </p:pic>
      <p:sp>
        <p:nvSpPr>
          <p:cNvPr id="19" name="Shape 14"/>
          <p:cNvSpPr/>
          <p:nvPr/>
        </p:nvSpPr>
        <p:spPr>
          <a:xfrm>
            <a:off x="6565392" y="3328416"/>
            <a:ext cx="5120640" cy="777240"/>
          </a:xfrm>
          <a:prstGeom prst="roundRect">
            <a:avLst>
              <a:gd name="adj" fmla="val 9412"/>
            </a:avLst>
          </a:prstGeom>
          <a:solidFill>
            <a:srgbClr val="E9EFFC"/>
          </a:solidFill>
          <a:ln w="12700">
            <a:solidFill>
              <a:srgbClr val="C3CDE8"/>
            </a:solidFill>
            <a:prstDash val="solid"/>
          </a:ln>
        </p:spPr>
        <p:txBody>
          <a:bodyPr/>
          <a:p/>
        </p:txBody>
      </p:sp>
      <p:sp>
        <p:nvSpPr>
          <p:cNvPr id="20" name="Text 15"/>
          <p:cNvSpPr/>
          <p:nvPr/>
        </p:nvSpPr>
        <p:spPr>
          <a:xfrm>
            <a:off x="6839712" y="3626715"/>
            <a:ext cx="4572000" cy="320040"/>
          </a:xfrm>
          <a:prstGeom prst="rect">
            <a:avLst/>
          </a:prstGeom>
          <a:noFill/>
          <a:ln/>
        </p:spPr>
        <p:txBody>
          <a:bodyPr wrap="square" lIns="0" tIns="0" rIns="0" bIns="0" rtlCol="0" anchor="t"/>
          <a:lstStyle/>
          <a:p>
            <a:pPr>
              <a:lnSpc>
                <a:spcPct val="105000"/>
              </a:lnSpc>
            </a:pPr>
            <a:r>
              <a:rPr lang="en-IN" sz="1200" dirty="0"/>
              <a:t>Weak Topic Detector</a:t>
            </a:r>
            <a:endParaRPr lang="en-US" sz="1150" dirty="0"/>
          </a:p>
        </p:txBody>
      </p:sp>
      <p:sp>
        <p:nvSpPr>
          <p:cNvPr id="21" name="Shape 16"/>
          <p:cNvSpPr/>
          <p:nvPr/>
        </p:nvSpPr>
        <p:spPr>
          <a:xfrm>
            <a:off x="502920" y="4261104"/>
            <a:ext cx="5120640" cy="777240"/>
          </a:xfrm>
          <a:prstGeom prst="roundRect">
            <a:avLst>
              <a:gd name="adj" fmla="val 9412"/>
            </a:avLst>
          </a:prstGeom>
          <a:solidFill>
            <a:srgbClr val="F5F7FB"/>
          </a:solidFill>
          <a:ln w="12700">
            <a:solidFill>
              <a:srgbClr val="DFE4EE"/>
            </a:solidFill>
            <a:prstDash val="solid"/>
          </a:ln>
        </p:spPr>
        <p:txBody>
          <a:bodyPr/>
          <a:p/>
        </p:txBody>
      </p:sp>
      <p:sp>
        <p:nvSpPr>
          <p:cNvPr id="22" name="Text 17"/>
          <p:cNvSpPr/>
          <p:nvPr/>
        </p:nvSpPr>
        <p:spPr>
          <a:xfrm>
            <a:off x="777240" y="4555998"/>
            <a:ext cx="4572000" cy="320040"/>
          </a:xfrm>
          <a:prstGeom prst="rect">
            <a:avLst/>
          </a:prstGeom>
          <a:noFill/>
          <a:ln/>
        </p:spPr>
        <p:txBody>
          <a:bodyPr wrap="square" lIns="0" tIns="0" rIns="0" bIns="0" rtlCol="0" anchor="t"/>
          <a:lstStyle/>
          <a:p>
            <a:pPr>
              <a:lnSpc>
                <a:spcPct val="105000"/>
              </a:lnSpc>
            </a:pPr>
            <a:r>
              <a:rPr lang="en-IN" sz="1200" dirty="0"/>
              <a:t>Too many learning resources</a:t>
            </a:r>
            <a:endParaRPr lang="en-US" sz="1150" b="1" dirty="0"/>
          </a:p>
        </p:txBody>
      </p:sp>
      <p:pic>
        <p:nvPicPr>
          <p:cNvPr id="23" name="Image 3" descr="assets/ic_link.png"/>
          <p:cNvPicPr>
            <a:picLocks noChangeAspect="1"/>
          </p:cNvPicPr>
          <p:nvPr/>
        </p:nvPicPr>
        <p:blipFill>
          <a:blip r:embed="rId4"/>
          <a:stretch>
            <a:fillRect/>
          </a:stretch>
        </p:blipFill>
        <p:spPr>
          <a:xfrm>
            <a:off x="5943600" y="4517136"/>
            <a:ext cx="256032" cy="256032"/>
          </a:xfrm>
          <a:prstGeom prst="rect">
            <a:avLst/>
          </a:prstGeom>
        </p:spPr>
      </p:pic>
      <p:sp>
        <p:nvSpPr>
          <p:cNvPr id="24" name="Shape 18"/>
          <p:cNvSpPr/>
          <p:nvPr/>
        </p:nvSpPr>
        <p:spPr>
          <a:xfrm>
            <a:off x="6565392" y="4261104"/>
            <a:ext cx="5120640" cy="777240"/>
          </a:xfrm>
          <a:prstGeom prst="roundRect">
            <a:avLst>
              <a:gd name="adj" fmla="val 9412"/>
            </a:avLst>
          </a:prstGeom>
          <a:solidFill>
            <a:srgbClr val="E9EFFC"/>
          </a:solidFill>
          <a:ln w="12700">
            <a:solidFill>
              <a:srgbClr val="C3CDE8"/>
            </a:solidFill>
            <a:prstDash val="solid"/>
          </a:ln>
        </p:spPr>
        <p:txBody>
          <a:bodyPr/>
          <a:p/>
        </p:txBody>
      </p:sp>
      <p:sp>
        <p:nvSpPr>
          <p:cNvPr id="25" name="Text 19"/>
          <p:cNvSpPr/>
          <p:nvPr/>
        </p:nvSpPr>
        <p:spPr>
          <a:xfrm>
            <a:off x="6839712" y="4555998"/>
            <a:ext cx="4572000" cy="320040"/>
          </a:xfrm>
          <a:prstGeom prst="rect">
            <a:avLst/>
          </a:prstGeom>
          <a:noFill/>
          <a:ln/>
        </p:spPr>
        <p:txBody>
          <a:bodyPr wrap="square" lIns="0" tIns="0" rIns="0" bIns="0" rtlCol="0" anchor="t"/>
          <a:lstStyle/>
          <a:p>
            <a:pPr>
              <a:lnSpc>
                <a:spcPct val="105000"/>
              </a:lnSpc>
            </a:pPr>
            <a:r>
              <a:rPr lang="en-IN" sz="1200" dirty="0"/>
              <a:t>Resource Recommendation</a:t>
            </a:r>
            <a:endParaRPr lang="en-US" sz="1150" dirty="0"/>
          </a:p>
        </p:txBody>
      </p:sp>
      <p:sp>
        <p:nvSpPr>
          <p:cNvPr id="26" name="Shape 20"/>
          <p:cNvSpPr/>
          <p:nvPr/>
        </p:nvSpPr>
        <p:spPr>
          <a:xfrm>
            <a:off x="502920" y="5193792"/>
            <a:ext cx="5120640" cy="777240"/>
          </a:xfrm>
          <a:prstGeom prst="roundRect">
            <a:avLst>
              <a:gd name="adj" fmla="val 9412"/>
            </a:avLst>
          </a:prstGeom>
          <a:solidFill>
            <a:srgbClr val="F5F7FB"/>
          </a:solidFill>
          <a:ln w="12700">
            <a:solidFill>
              <a:srgbClr val="DFE4EE"/>
            </a:solidFill>
            <a:prstDash val="solid"/>
          </a:ln>
        </p:spPr>
        <p:txBody>
          <a:bodyPr/>
          <a:p/>
        </p:txBody>
      </p:sp>
      <p:sp>
        <p:nvSpPr>
          <p:cNvPr id="27" name="Text 21"/>
          <p:cNvSpPr/>
          <p:nvPr/>
        </p:nvSpPr>
        <p:spPr>
          <a:xfrm>
            <a:off x="777240" y="5509260"/>
            <a:ext cx="4572000" cy="320040"/>
          </a:xfrm>
          <a:prstGeom prst="rect">
            <a:avLst/>
          </a:prstGeom>
          <a:noFill/>
          <a:ln/>
        </p:spPr>
        <p:txBody>
          <a:bodyPr wrap="square" lIns="0" tIns="0" rIns="0" bIns="0" rtlCol="0" anchor="t"/>
          <a:lstStyle/>
          <a:p>
            <a:pPr>
              <a:lnSpc>
                <a:spcPct val="105000"/>
              </a:lnSpc>
            </a:pPr>
            <a:r>
              <a:rPr lang="en-IN" sz="1200" dirty="0"/>
              <a:t>Low motivation</a:t>
            </a:r>
            <a:endParaRPr lang="en-US" sz="1150" dirty="0"/>
          </a:p>
        </p:txBody>
      </p:sp>
      <p:pic>
        <p:nvPicPr>
          <p:cNvPr id="28" name="Image 4" descr="assets/ic_link.png"/>
          <p:cNvPicPr>
            <a:picLocks noChangeAspect="1"/>
          </p:cNvPicPr>
          <p:nvPr/>
        </p:nvPicPr>
        <p:blipFill>
          <a:blip r:embed="rId4"/>
          <a:stretch>
            <a:fillRect/>
          </a:stretch>
        </p:blipFill>
        <p:spPr>
          <a:xfrm>
            <a:off x="5943600" y="5449824"/>
            <a:ext cx="256032" cy="256032"/>
          </a:xfrm>
          <a:prstGeom prst="rect">
            <a:avLst/>
          </a:prstGeom>
        </p:spPr>
      </p:pic>
      <p:sp>
        <p:nvSpPr>
          <p:cNvPr id="29" name="Shape 22"/>
          <p:cNvSpPr/>
          <p:nvPr/>
        </p:nvSpPr>
        <p:spPr>
          <a:xfrm>
            <a:off x="6565392" y="5193792"/>
            <a:ext cx="5120640" cy="777240"/>
          </a:xfrm>
          <a:prstGeom prst="roundRect">
            <a:avLst>
              <a:gd name="adj" fmla="val 9412"/>
            </a:avLst>
          </a:prstGeom>
          <a:solidFill>
            <a:srgbClr val="E9EFFC"/>
          </a:solidFill>
          <a:ln w="12700">
            <a:solidFill>
              <a:srgbClr val="C3CDE8"/>
            </a:solidFill>
            <a:prstDash val="solid"/>
          </a:ln>
        </p:spPr>
        <p:txBody>
          <a:bodyPr/>
          <a:p/>
        </p:txBody>
      </p:sp>
      <p:sp>
        <p:nvSpPr>
          <p:cNvPr id="30" name="Text 23"/>
          <p:cNvSpPr/>
          <p:nvPr/>
        </p:nvSpPr>
        <p:spPr>
          <a:xfrm>
            <a:off x="6839712" y="5509260"/>
            <a:ext cx="4572000" cy="320040"/>
          </a:xfrm>
          <a:prstGeom prst="rect">
            <a:avLst/>
          </a:prstGeom>
          <a:noFill/>
          <a:ln/>
        </p:spPr>
        <p:txBody>
          <a:bodyPr wrap="square" lIns="0" tIns="0" rIns="0" bIns="0" rtlCol="0" anchor="t"/>
          <a:lstStyle/>
          <a:p>
            <a:pPr>
              <a:lnSpc>
                <a:spcPct val="105000"/>
              </a:lnSpc>
            </a:pPr>
            <a:r>
              <a:rPr lang="en-IN" sz="1200" dirty="0"/>
              <a:t>Rewards &amp; Gamification</a:t>
            </a:r>
            <a:endParaRPr lang="en-US" sz="1150" dirty="0"/>
          </a:p>
        </p:txBody>
      </p:sp>
      <p:sp>
        <p:nvSpPr>
          <p:cNvPr id="34" name="Date Placeholder"/>
          <p:cNvSpPr>
            <a:spLocks noGrp="1"/>
          </p:cNvSpPr>
          <p:nvPr>
            <p:ph type="dt" sz="quarter" idx="10"/>
          </p:nvPr>
        </p:nvSpPr>
        <p:spPr>
          <a:xfrm>
            <a:off x="502920" y="6382512"/>
            <a:ext cx="2926080" cy="256032"/>
          </a:xfrm>
          <a:prstGeom prst="rect">
            <a:avLst/>
          </a:prstGeom>
        </p:spPr>
        <p:txBody>
          <a:bodyPr vert="horz" lIns="0" tIns="0" rIns="0" bIns="0" rtlCol="0" anchor="ctr"/>
          <a:lstStyle>
            <a:lvl1pPr algn="l">
              <a:defRPr sz="900">
                <a:solidFill>
                  <a:srgbClr val="8A93A8"/>
                </a:solidFill>
                <a:latin typeface="Calibri" pitchFamily="34" charset="0"/>
                <a:cs typeface="Calibri" pitchFamily="34" charset="0"/>
              </a:defRPr>
            </a:lvl1pPr>
          </a:lstStyle>
          <a:p>
            <a:r>
              <a:rPr lang="en-IN" dirty="0"/>
              <a:t>25-07-2026</a:t>
            </a:r>
          </a:p>
        </p:txBody>
      </p:sp>
      <p:sp>
        <p:nvSpPr>
          <p:cNvPr id="35" name="Footer Placeholder"/>
          <p:cNvSpPr>
            <a:spLocks noGrp="1"/>
          </p:cNvSpPr>
          <p:nvPr>
            <p:ph type="ftr" sz="quarter" idx="11"/>
          </p:nvPr>
        </p:nvSpPr>
        <p:spPr>
          <a:xfrm>
            <a:off x="3657600" y="6382512"/>
            <a:ext cx="4873752" cy="256032"/>
          </a:xfrm>
          <a:prstGeom prst="rect">
            <a:avLst/>
          </a:prstGeom>
        </p:spPr>
        <p:txBody>
          <a:bodyPr vert="horz" lIns="0" tIns="0" rIns="0" bIns="0" rtlCol="0" anchor="ctr"/>
          <a:lstStyle>
            <a:lvl1pPr algn="ctr">
              <a:defRPr sz="900">
                <a:solidFill>
                  <a:srgbClr val="8A93A8"/>
                </a:solidFill>
                <a:latin typeface="Calibri" pitchFamily="34" charset="0"/>
                <a:cs typeface="Calibri" pitchFamily="34" charset="0"/>
              </a:defRPr>
            </a:lvl1pPr>
          </a:lstStyle>
          <a:p>
            <a:r>
              <a:rPr lang="en-IN"/>
              <a:t>Sri Eshwar College of Engineering  ·  Design Thinking &amp; Innovation</a:t>
            </a:r>
          </a:p>
        </p:txBody>
      </p:sp>
      <p:sp>
        <p:nvSpPr>
          <p:cNvPr id="36" name="Slide Number Placeholder"/>
          <p:cNvSpPr>
            <a:spLocks noGrp="1"/>
          </p:cNvSpPr>
          <p:nvPr>
            <p:ph type="sldNum" sz="quarter" idx="12"/>
          </p:nvPr>
        </p:nvSpPr>
        <p:spPr>
          <a:xfrm>
            <a:off x="10424160" y="6382512"/>
            <a:ext cx="1261872" cy="256032"/>
          </a:xfrm>
          <a:prstGeom prst="rect">
            <a:avLst/>
          </a:prstGeom>
        </p:spPr>
        <p:txBody>
          <a:bodyPr vert="horz" lIns="0" tIns="0" rIns="0" bIns="0" rtlCol="0" anchor="ctr"/>
          <a:lstStyle>
            <a:lvl1pPr algn="r">
              <a:defRPr sz="900">
                <a:solidFill>
                  <a:srgbClr val="8A93A8"/>
                </a:solidFill>
                <a:latin typeface="Calibri" pitchFamily="34" charset="0"/>
                <a:cs typeface="Calibri" pitchFamily="34" charset="0"/>
              </a:defRPr>
            </a:lvl1pPr>
          </a:lstStyle>
          <a:p>
            <a:pPr>
              <a:defRPr sz="1000">
                <a:solidFill>
                  <a:srgbClr val="475569"/>
                </a:solidFill>
                <a:latin typeface="Calibri"/>
              </a:defRPr>
            </a:pPr>
            <a:r>
              <a:t>6</a:t>
            </a:r>
            <a:endParaRPr lang="en-IN"/>
          </a:p>
        </p:txBody>
      </p:sp>
      <p:pic>
        <p:nvPicPr>
          <p:cNvPr id="37" name="Picture 36">
            <a:extLst>
              <a:ext uri="{FF2B5EF4-FFF2-40B4-BE49-F238E27FC236}">
                <a16:creationId xmlns:a16="http://schemas.microsoft.com/office/drawing/2014/main" id="{AD1A7A74-DB47-280E-FE6A-F3ECE090FB97}"/>
              </a:ext>
            </a:extLst>
          </p:cNvPr>
          <p:cNvPicPr>
            <a:picLocks noChangeAspect="1"/>
          </p:cNvPicPr>
          <p:nvPr/>
        </p:nvPicPr>
        <p:blipFill>
          <a:blip r:embed="rId5"/>
          <a:stretch>
            <a:fillRect/>
          </a:stretch>
        </p:blipFill>
        <p:spPr>
          <a:xfrm>
            <a:off x="10363654" y="371776"/>
            <a:ext cx="1325426" cy="60350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pic>
        <p:nvPicPr>
          <p:cNvPr id="2" name="Image 0" descr="assets/logo.png"/>
          <p:cNvPicPr>
            <a:picLocks noChangeAspect="1"/>
          </p:cNvPicPr>
          <p:nvPr/>
        </p:nvPicPr>
        <p:blipFill>
          <a:blip r:embed="rId3"/>
          <a:stretch>
            <a:fillRect/>
          </a:stretch>
        </p:blipFill>
        <p:spPr>
          <a:xfrm>
            <a:off x="457200" y="237744"/>
            <a:ext cx="1024128" cy="283464"/>
          </a:xfrm>
          <a:prstGeom prst="rect">
            <a:avLst/>
          </a:prstGeom>
        </p:spPr>
      </p:pic>
      <p:sp>
        <p:nvSpPr>
          <p:cNvPr id="4" name="Text 1"/>
          <p:cNvSpPr/>
          <p:nvPr/>
        </p:nvSpPr>
        <p:spPr>
          <a:xfrm>
            <a:off x="502920" y="658368"/>
            <a:ext cx="11183112" cy="457200"/>
          </a:xfrm>
          <a:prstGeom prst="rect">
            <a:avLst/>
          </a:prstGeom>
          <a:noFill/>
          <a:ln/>
        </p:spPr>
        <p:txBody>
          <a:bodyPr wrap="square" lIns="0" tIns="0" rIns="0" bIns="0" rtlCol="0" anchor="ctr"/>
          <a:lstStyle/>
          <a:p>
            <a:pPr marL="0" indent="0">
              <a:buNone/>
            </a:pPr>
            <a:r>
              <a:rPr lang="en-US" sz="2800" b="1" dirty="0">
                <a:solidFill>
                  <a:srgbClr val="071A45"/>
                </a:solidFill>
                <a:latin typeface="Calibri" pitchFamily="34" charset="0"/>
                <a:ea typeface="Calibri" pitchFamily="34" charset="-122"/>
                <a:cs typeface="Calibri" pitchFamily="34" charset="-120"/>
              </a:rPr>
              <a:t>Existing Works</a:t>
            </a:r>
            <a:endParaRPr lang="en-US" sz="2800" dirty="0"/>
          </a:p>
        </p:txBody>
      </p:sp>
      <p:sp>
        <p:nvSpPr>
          <p:cNvPr id="6" name="Shape 3"/>
          <p:cNvSpPr/>
          <p:nvPr/>
        </p:nvSpPr>
        <p:spPr>
          <a:xfrm>
            <a:off x="502920" y="1481328"/>
            <a:ext cx="11183112" cy="0"/>
          </a:xfrm>
          <a:prstGeom prst="line">
            <a:avLst/>
          </a:prstGeom>
          <a:noFill/>
          <a:ln w="12700">
            <a:solidFill>
              <a:srgbClr val="DFE4EE"/>
            </a:solidFill>
            <a:prstDash val="solid"/>
          </a:ln>
        </p:spPr>
        <p:txBody>
          <a:bodyPr/>
          <a:p/>
        </p:txBody>
      </p:sp>
      <p:sp>
        <p:nvSpPr>
          <p:cNvPr id="7" name="Shape 4"/>
          <p:cNvSpPr/>
          <p:nvPr/>
        </p:nvSpPr>
        <p:spPr>
          <a:xfrm>
            <a:off x="502920" y="1783080"/>
            <a:ext cx="3611880" cy="3291840"/>
          </a:xfrm>
          <a:prstGeom prst="roundRect">
            <a:avLst>
              <a:gd name="adj" fmla="val 2222"/>
            </a:avLst>
          </a:prstGeom>
          <a:solidFill>
            <a:srgbClr val="F5F7FB"/>
          </a:solidFill>
          <a:ln w="12700">
            <a:solidFill>
              <a:srgbClr val="DFE4EE"/>
            </a:solidFill>
            <a:prstDash val="solid"/>
          </a:ln>
        </p:spPr>
        <p:txBody>
          <a:bodyPr/>
          <a:p/>
        </p:txBody>
      </p:sp>
      <p:pic>
        <p:nvPicPr>
          <p:cNvPr id="8" name="Image 1" descr="assets/ic_balance.png"/>
          <p:cNvPicPr>
            <a:picLocks noChangeAspect="1"/>
          </p:cNvPicPr>
          <p:nvPr/>
        </p:nvPicPr>
        <p:blipFill>
          <a:blip r:embed="rId4"/>
          <a:stretch>
            <a:fillRect/>
          </a:stretch>
        </p:blipFill>
        <p:spPr>
          <a:xfrm>
            <a:off x="777240" y="1993392"/>
            <a:ext cx="292608" cy="292608"/>
          </a:xfrm>
          <a:prstGeom prst="rect">
            <a:avLst/>
          </a:prstGeom>
        </p:spPr>
      </p:pic>
      <p:sp>
        <p:nvSpPr>
          <p:cNvPr id="9" name="Text 5"/>
          <p:cNvSpPr/>
          <p:nvPr/>
        </p:nvSpPr>
        <p:spPr>
          <a:xfrm>
            <a:off x="1179576" y="2011680"/>
            <a:ext cx="2743200" cy="237744"/>
          </a:xfrm>
          <a:prstGeom prst="rect">
            <a:avLst/>
          </a:prstGeom>
          <a:noFill/>
          <a:ln/>
        </p:spPr>
        <p:txBody>
          <a:bodyPr wrap="square" lIns="0" tIns="0" rIns="0" bIns="0" rtlCol="0" anchor="ctr"/>
          <a:lstStyle/>
          <a:p>
            <a:pPr marL="0" indent="0" algn="l">
              <a:buNone/>
            </a:pPr>
            <a:r>
              <a:rPr lang="en-US" sz="1100" b="1" kern="0" spc="60" dirty="0">
                <a:solidFill>
                  <a:srgbClr val="5B6685"/>
                </a:solidFill>
                <a:latin typeface="Calibri" pitchFamily="34" charset="0"/>
                <a:ea typeface="Calibri" pitchFamily="34" charset="-122"/>
                <a:cs typeface="Calibri" pitchFamily="34" charset="-120"/>
              </a:rPr>
              <a:t>WHAT USERS DO TODAY</a:t>
            </a:r>
            <a:endParaRPr lang="en-US" sz="1100" dirty="0"/>
          </a:p>
        </p:txBody>
      </p:sp>
      <p:sp>
        <p:nvSpPr>
          <p:cNvPr id="10" name="Text 6"/>
          <p:cNvSpPr/>
          <p:nvPr/>
        </p:nvSpPr>
        <p:spPr>
          <a:xfrm>
            <a:off x="777240" y="2514600"/>
            <a:ext cx="3063240" cy="640080"/>
          </a:xfrm>
          <a:prstGeom prst="rect">
            <a:avLst/>
          </a:prstGeom>
          <a:noFill/>
          <a:ln/>
        </p:spPr>
        <p:txBody>
          <a:bodyPr wrap="square" lIns="0" tIns="0" rIns="0" bIns="0" rtlCol="0" anchor="t"/>
          <a:lstStyle/>
          <a:p>
            <a:pPr>
              <a:lnSpc>
                <a:spcPct val="105000"/>
              </a:lnSpc>
            </a:pPr>
            <a:r>
              <a:rPr lang="en-US" sz="1150" dirty="0">
                <a:latin typeface="Calibri" pitchFamily="34" charset="0"/>
                <a:ea typeface="Calibri" pitchFamily="34" charset="-122"/>
                <a:cs typeface="Calibri" pitchFamily="34" charset="-120"/>
              </a:rPr>
              <a:t>Google Calendar</a:t>
            </a:r>
          </a:p>
          <a:p>
            <a:pPr>
              <a:lnSpc>
                <a:spcPct val="105000"/>
              </a:lnSpc>
            </a:pPr>
            <a:r>
              <a:rPr lang="en-IN" sz="1200" dirty="0">
                <a:solidFill>
                  <a:schemeClr val="tx1">
                    <a:lumMod val="75000"/>
                    <a:lumOff val="25000"/>
                  </a:schemeClr>
                </a:solidFill>
              </a:rPr>
              <a:t>Students create study schedules and set reminders manually.</a:t>
            </a:r>
            <a:endParaRPr lang="en-US" sz="1150" dirty="0">
              <a:solidFill>
                <a:schemeClr val="tx1">
                  <a:lumMod val="75000"/>
                  <a:lumOff val="25000"/>
                </a:schemeClr>
              </a:solidFill>
            </a:endParaRPr>
          </a:p>
        </p:txBody>
      </p:sp>
      <p:sp>
        <p:nvSpPr>
          <p:cNvPr id="11" name="Shape 7"/>
          <p:cNvSpPr/>
          <p:nvPr/>
        </p:nvSpPr>
        <p:spPr>
          <a:xfrm>
            <a:off x="777240" y="3200400"/>
            <a:ext cx="3063240" cy="0"/>
          </a:xfrm>
          <a:prstGeom prst="line">
            <a:avLst/>
          </a:prstGeom>
          <a:noFill/>
          <a:ln w="12700">
            <a:solidFill>
              <a:srgbClr val="DFE4EE"/>
            </a:solidFill>
            <a:prstDash val="solid"/>
          </a:ln>
        </p:spPr>
        <p:txBody>
          <a:bodyPr/>
          <a:p/>
        </p:txBody>
      </p:sp>
      <p:sp>
        <p:nvSpPr>
          <p:cNvPr id="12" name="Text 8"/>
          <p:cNvSpPr/>
          <p:nvPr/>
        </p:nvSpPr>
        <p:spPr>
          <a:xfrm>
            <a:off x="777240" y="3291840"/>
            <a:ext cx="3063240" cy="640080"/>
          </a:xfrm>
          <a:prstGeom prst="rect">
            <a:avLst/>
          </a:prstGeom>
          <a:noFill/>
          <a:ln/>
        </p:spPr>
        <p:txBody>
          <a:bodyPr wrap="square" lIns="0" tIns="0" rIns="0" bIns="0" rtlCol="0" anchor="t"/>
          <a:lstStyle/>
          <a:p>
            <a:pPr>
              <a:lnSpc>
                <a:spcPct val="105000"/>
              </a:lnSpc>
            </a:pPr>
            <a:r>
              <a:rPr lang="en-IN" sz="1200" dirty="0"/>
              <a:t>YouTube</a:t>
            </a:r>
          </a:p>
          <a:p>
            <a:pPr>
              <a:lnSpc>
                <a:spcPct val="105000"/>
              </a:lnSpc>
            </a:pPr>
            <a:r>
              <a:rPr lang="en-IN" sz="1200" dirty="0">
                <a:solidFill>
                  <a:schemeClr val="tx1">
                    <a:lumMod val="75000"/>
                    <a:lumOff val="25000"/>
                  </a:schemeClr>
                </a:solidFill>
              </a:rPr>
              <a:t>Students watch educational videos to learn concepts.</a:t>
            </a:r>
            <a:endParaRPr lang="en-US" sz="1150" dirty="0">
              <a:solidFill>
                <a:schemeClr val="tx1">
                  <a:lumMod val="75000"/>
                  <a:lumOff val="25000"/>
                </a:schemeClr>
              </a:solidFill>
            </a:endParaRPr>
          </a:p>
        </p:txBody>
      </p:sp>
      <p:sp>
        <p:nvSpPr>
          <p:cNvPr id="13" name="Shape 9"/>
          <p:cNvSpPr/>
          <p:nvPr/>
        </p:nvSpPr>
        <p:spPr>
          <a:xfrm>
            <a:off x="777240" y="3977640"/>
            <a:ext cx="3063240" cy="0"/>
          </a:xfrm>
          <a:prstGeom prst="line">
            <a:avLst/>
          </a:prstGeom>
          <a:noFill/>
          <a:ln w="12700">
            <a:solidFill>
              <a:srgbClr val="DFE4EE"/>
            </a:solidFill>
            <a:prstDash val="solid"/>
          </a:ln>
        </p:spPr>
        <p:txBody>
          <a:bodyPr/>
          <a:p/>
        </p:txBody>
      </p:sp>
      <p:sp>
        <p:nvSpPr>
          <p:cNvPr id="14" name="Text 10"/>
          <p:cNvSpPr/>
          <p:nvPr/>
        </p:nvSpPr>
        <p:spPr>
          <a:xfrm>
            <a:off x="777240" y="4069080"/>
            <a:ext cx="3063240" cy="640080"/>
          </a:xfrm>
          <a:prstGeom prst="rect">
            <a:avLst/>
          </a:prstGeom>
          <a:noFill/>
          <a:ln/>
        </p:spPr>
        <p:txBody>
          <a:bodyPr wrap="square" lIns="0" tIns="0" rIns="0" bIns="0" rtlCol="0" anchor="t"/>
          <a:lstStyle/>
          <a:p>
            <a:pPr>
              <a:lnSpc>
                <a:spcPct val="105000"/>
              </a:lnSpc>
            </a:pPr>
            <a:r>
              <a:rPr lang="en-IN" sz="1200" dirty="0"/>
              <a:t>Notion Study Planner</a:t>
            </a:r>
          </a:p>
          <a:p>
            <a:pPr>
              <a:lnSpc>
                <a:spcPct val="105000"/>
              </a:lnSpc>
            </a:pPr>
            <a:r>
              <a:rPr lang="en-IN" sz="1200" dirty="0">
                <a:solidFill>
                  <a:schemeClr val="tx1">
                    <a:lumMod val="75000"/>
                    <a:lumOff val="25000"/>
                  </a:schemeClr>
                </a:solidFill>
              </a:rPr>
              <a:t>Students organize notes, tasks, and study</a:t>
            </a:r>
          </a:p>
          <a:p>
            <a:pPr>
              <a:lnSpc>
                <a:spcPct val="105000"/>
              </a:lnSpc>
            </a:pPr>
            <a:r>
              <a:rPr lang="en-IN" sz="1200" dirty="0">
                <a:solidFill>
                  <a:schemeClr val="tx1">
                    <a:lumMod val="75000"/>
                    <a:lumOff val="25000"/>
                  </a:schemeClr>
                </a:solidFill>
              </a:rPr>
              <a:t>Plans.</a:t>
            </a:r>
          </a:p>
          <a:p>
            <a:pPr>
              <a:lnSpc>
                <a:spcPct val="105000"/>
              </a:lnSpc>
            </a:pPr>
            <a:endParaRPr lang="en-IN" sz="1200" dirty="0"/>
          </a:p>
          <a:p>
            <a:pPr>
              <a:lnSpc>
                <a:spcPct val="105000"/>
              </a:lnSpc>
            </a:pPr>
            <a:endParaRPr lang="en-US" sz="1150" dirty="0"/>
          </a:p>
        </p:txBody>
      </p:sp>
      <p:sp>
        <p:nvSpPr>
          <p:cNvPr id="15" name="Shape 11"/>
          <p:cNvSpPr/>
          <p:nvPr/>
        </p:nvSpPr>
        <p:spPr>
          <a:xfrm>
            <a:off x="4306824" y="1783080"/>
            <a:ext cx="3611880" cy="3291840"/>
          </a:xfrm>
          <a:prstGeom prst="roundRect">
            <a:avLst>
              <a:gd name="adj" fmla="val 2222"/>
            </a:avLst>
          </a:prstGeom>
          <a:solidFill>
            <a:srgbClr val="FDF1F1"/>
          </a:solidFill>
          <a:ln w="12700">
            <a:solidFill>
              <a:srgbClr val="F0C9C9"/>
            </a:solidFill>
            <a:prstDash val="solid"/>
          </a:ln>
        </p:spPr>
        <p:txBody>
          <a:bodyPr/>
          <a:p/>
        </p:txBody>
      </p:sp>
      <p:pic>
        <p:nvPicPr>
          <p:cNvPr id="16" name="Image 2" descr="assets/ic_research.png"/>
          <p:cNvPicPr>
            <a:picLocks noChangeAspect="1"/>
          </p:cNvPicPr>
          <p:nvPr/>
        </p:nvPicPr>
        <p:blipFill>
          <a:blip r:embed="rId5"/>
          <a:stretch>
            <a:fillRect/>
          </a:stretch>
        </p:blipFill>
        <p:spPr>
          <a:xfrm>
            <a:off x="4581144" y="1993392"/>
            <a:ext cx="292608" cy="292608"/>
          </a:xfrm>
          <a:prstGeom prst="rect">
            <a:avLst/>
          </a:prstGeom>
        </p:spPr>
      </p:pic>
      <p:sp>
        <p:nvSpPr>
          <p:cNvPr id="17" name="Text 12"/>
          <p:cNvSpPr/>
          <p:nvPr/>
        </p:nvSpPr>
        <p:spPr>
          <a:xfrm>
            <a:off x="4983480" y="2011680"/>
            <a:ext cx="2743200" cy="237744"/>
          </a:xfrm>
          <a:prstGeom prst="rect">
            <a:avLst/>
          </a:prstGeom>
          <a:noFill/>
          <a:ln/>
        </p:spPr>
        <p:txBody>
          <a:bodyPr wrap="square" lIns="0" tIns="0" rIns="0" bIns="0" rtlCol="0" anchor="ctr"/>
          <a:lstStyle/>
          <a:p>
            <a:pPr marL="0" indent="0" algn="l">
              <a:buNone/>
            </a:pPr>
            <a:r>
              <a:rPr lang="en-US" sz="1100" b="1" kern="0" spc="60" dirty="0">
                <a:solidFill>
                  <a:srgbClr val="C62828"/>
                </a:solidFill>
                <a:latin typeface="Calibri" pitchFamily="34" charset="0"/>
                <a:ea typeface="Calibri" pitchFamily="34" charset="-122"/>
                <a:cs typeface="Calibri" pitchFamily="34" charset="-120"/>
              </a:rPr>
              <a:t>WHY IT FALLS SHORT</a:t>
            </a:r>
            <a:endParaRPr lang="en-US" sz="1100" dirty="0"/>
          </a:p>
        </p:txBody>
      </p:sp>
      <p:sp>
        <p:nvSpPr>
          <p:cNvPr id="18" name="Text 13"/>
          <p:cNvSpPr/>
          <p:nvPr/>
        </p:nvSpPr>
        <p:spPr>
          <a:xfrm>
            <a:off x="4581144" y="2514600"/>
            <a:ext cx="3337560" cy="640080"/>
          </a:xfrm>
          <a:prstGeom prst="rect">
            <a:avLst/>
          </a:prstGeom>
          <a:noFill/>
          <a:ln/>
        </p:spPr>
        <p:txBody>
          <a:bodyPr wrap="square" lIns="0" tIns="0" rIns="0" bIns="0" rtlCol="0" anchor="t"/>
          <a:lstStyle/>
          <a:p>
            <a:pPr>
              <a:lnSpc>
                <a:spcPct val="105000"/>
              </a:lnSpc>
            </a:pPr>
            <a:r>
              <a:rPr lang="en-IN" sz="1200" dirty="0">
                <a:solidFill>
                  <a:srgbClr val="C00000"/>
                </a:solidFill>
              </a:rPr>
              <a:t>Not personalized</a:t>
            </a:r>
          </a:p>
          <a:p>
            <a:pPr>
              <a:lnSpc>
                <a:spcPct val="105000"/>
              </a:lnSpc>
            </a:pPr>
            <a:r>
              <a:rPr lang="en-IN" sz="1200" dirty="0"/>
              <a:t>Gives the same study plan to every student without considering individual strengths and weaknesses.</a:t>
            </a:r>
            <a:endParaRPr lang="en-US" sz="1150" dirty="0"/>
          </a:p>
        </p:txBody>
      </p:sp>
      <p:sp>
        <p:nvSpPr>
          <p:cNvPr id="19" name="Shape 14"/>
          <p:cNvSpPr/>
          <p:nvPr/>
        </p:nvSpPr>
        <p:spPr>
          <a:xfrm>
            <a:off x="4581144" y="3200400"/>
            <a:ext cx="3063240" cy="0"/>
          </a:xfrm>
          <a:prstGeom prst="line">
            <a:avLst/>
          </a:prstGeom>
          <a:noFill/>
          <a:ln w="12700">
            <a:solidFill>
              <a:srgbClr val="F0C9C9"/>
            </a:solidFill>
            <a:prstDash val="solid"/>
          </a:ln>
        </p:spPr>
        <p:txBody>
          <a:bodyPr/>
          <a:p/>
        </p:txBody>
      </p:sp>
      <p:sp>
        <p:nvSpPr>
          <p:cNvPr id="20" name="Text 15"/>
          <p:cNvSpPr/>
          <p:nvPr/>
        </p:nvSpPr>
        <p:spPr>
          <a:xfrm>
            <a:off x="4581144" y="3291840"/>
            <a:ext cx="3063240" cy="640080"/>
          </a:xfrm>
          <a:prstGeom prst="rect">
            <a:avLst/>
          </a:prstGeom>
          <a:noFill/>
          <a:ln/>
        </p:spPr>
        <p:txBody>
          <a:bodyPr wrap="square" lIns="0" tIns="0" rIns="0" bIns="0" rtlCol="0" anchor="t"/>
          <a:lstStyle/>
          <a:p>
            <a:pPr marL="0" indent="0" algn="l">
              <a:lnSpc>
                <a:spcPct val="105000"/>
              </a:lnSpc>
              <a:buNone/>
            </a:pPr>
            <a:r>
              <a:rPr lang="en-US" sz="1150" dirty="0">
                <a:solidFill>
                  <a:srgbClr val="C00000"/>
                </a:solidFill>
                <a:latin typeface="Calibri" pitchFamily="34" charset="0"/>
                <a:ea typeface="Calibri" pitchFamily="34" charset="-122"/>
                <a:cs typeface="Calibri" pitchFamily="34" charset="-120"/>
              </a:rPr>
              <a:t>Doesn’t identify weak topics</a:t>
            </a:r>
          </a:p>
          <a:p>
            <a:pPr>
              <a:lnSpc>
                <a:spcPct val="105000"/>
              </a:lnSpc>
            </a:pPr>
            <a:r>
              <a:rPr lang="en-IN" sz="1200" dirty="0"/>
              <a:t>Cannot </a:t>
            </a:r>
            <a:r>
              <a:rPr lang="en-IN" sz="1200" dirty="0" err="1"/>
              <a:t>analyze</a:t>
            </a:r>
            <a:r>
              <a:rPr lang="en-IN" sz="1200" dirty="0"/>
              <a:t> student performance to find subjects or topics that need more practice.</a:t>
            </a:r>
            <a:endParaRPr lang="en-US" sz="1150" dirty="0"/>
          </a:p>
        </p:txBody>
      </p:sp>
      <p:sp>
        <p:nvSpPr>
          <p:cNvPr id="21" name="Shape 16"/>
          <p:cNvSpPr/>
          <p:nvPr/>
        </p:nvSpPr>
        <p:spPr>
          <a:xfrm>
            <a:off x="4581144" y="3977640"/>
            <a:ext cx="3063240" cy="0"/>
          </a:xfrm>
          <a:prstGeom prst="line">
            <a:avLst/>
          </a:prstGeom>
          <a:noFill/>
          <a:ln w="12700">
            <a:solidFill>
              <a:srgbClr val="F0C9C9"/>
            </a:solidFill>
            <a:prstDash val="solid"/>
          </a:ln>
        </p:spPr>
        <p:txBody>
          <a:bodyPr/>
          <a:p/>
        </p:txBody>
      </p:sp>
      <p:sp>
        <p:nvSpPr>
          <p:cNvPr id="22" name="Text 17"/>
          <p:cNvSpPr/>
          <p:nvPr/>
        </p:nvSpPr>
        <p:spPr>
          <a:xfrm>
            <a:off x="4581144" y="4069079"/>
            <a:ext cx="3063240" cy="822951"/>
          </a:xfrm>
          <a:prstGeom prst="rect">
            <a:avLst/>
          </a:prstGeom>
          <a:noFill/>
          <a:ln/>
        </p:spPr>
        <p:txBody>
          <a:bodyPr wrap="square" lIns="0" tIns="0" rIns="0" bIns="0" rtlCol="0" anchor="t"/>
          <a:lstStyle/>
          <a:p>
            <a:pPr>
              <a:lnSpc>
                <a:spcPct val="105000"/>
              </a:lnSpc>
            </a:pPr>
            <a:r>
              <a:rPr lang="en-IN" sz="1200" dirty="0">
                <a:solidFill>
                  <a:srgbClr val="C00000"/>
                </a:solidFill>
              </a:rPr>
              <a:t>Doesn't recommend study resources intelligently</a:t>
            </a:r>
          </a:p>
          <a:p>
            <a:pPr>
              <a:lnSpc>
                <a:spcPct val="105000"/>
              </a:lnSpc>
            </a:pPr>
            <a:r>
              <a:rPr lang="en-IN" sz="1200" dirty="0"/>
              <a:t>Doesn't suggest the most relevant videos, notes, or practice questions based on the student's learning needs.</a:t>
            </a:r>
            <a:endParaRPr lang="en-US" sz="1150" dirty="0"/>
          </a:p>
        </p:txBody>
      </p:sp>
      <p:sp>
        <p:nvSpPr>
          <p:cNvPr id="23" name="Shape 18"/>
          <p:cNvSpPr/>
          <p:nvPr/>
        </p:nvSpPr>
        <p:spPr>
          <a:xfrm>
            <a:off x="8110728" y="1783080"/>
            <a:ext cx="3611880" cy="3291840"/>
          </a:xfrm>
          <a:prstGeom prst="roundRect">
            <a:avLst>
              <a:gd name="adj" fmla="val 2222"/>
            </a:avLst>
          </a:prstGeom>
          <a:solidFill>
            <a:srgbClr val="E9EFFC"/>
          </a:solidFill>
          <a:ln w="12700">
            <a:solidFill>
              <a:srgbClr val="C3CDE8"/>
            </a:solidFill>
            <a:prstDash val="solid"/>
          </a:ln>
        </p:spPr>
        <p:txBody>
          <a:bodyPr/>
          <a:p/>
        </p:txBody>
      </p:sp>
      <p:pic>
        <p:nvPicPr>
          <p:cNvPr id="24" name="Image 3" descr="assets/ic_target.png"/>
          <p:cNvPicPr>
            <a:picLocks noChangeAspect="1"/>
          </p:cNvPicPr>
          <p:nvPr/>
        </p:nvPicPr>
        <p:blipFill>
          <a:blip r:embed="rId6"/>
          <a:stretch>
            <a:fillRect/>
          </a:stretch>
        </p:blipFill>
        <p:spPr>
          <a:xfrm>
            <a:off x="8385048" y="1993392"/>
            <a:ext cx="292608" cy="292608"/>
          </a:xfrm>
          <a:prstGeom prst="rect">
            <a:avLst/>
          </a:prstGeom>
        </p:spPr>
      </p:pic>
      <p:sp>
        <p:nvSpPr>
          <p:cNvPr id="25" name="Text 19"/>
          <p:cNvSpPr/>
          <p:nvPr/>
        </p:nvSpPr>
        <p:spPr>
          <a:xfrm>
            <a:off x="8787384" y="2011680"/>
            <a:ext cx="2743200" cy="237744"/>
          </a:xfrm>
          <a:prstGeom prst="rect">
            <a:avLst/>
          </a:prstGeom>
          <a:noFill/>
          <a:ln/>
        </p:spPr>
        <p:txBody>
          <a:bodyPr wrap="square" lIns="0" tIns="0" rIns="0" bIns="0" rtlCol="0" anchor="ctr"/>
          <a:lstStyle/>
          <a:p>
            <a:pPr marL="0" indent="0" algn="l">
              <a:buNone/>
            </a:pPr>
            <a:r>
              <a:rPr lang="en-US" sz="1100" b="1" kern="0" spc="60" dirty="0">
                <a:solidFill>
                  <a:srgbClr val="071A45"/>
                </a:solidFill>
                <a:latin typeface="Calibri" pitchFamily="34" charset="0"/>
                <a:ea typeface="Calibri" pitchFamily="34" charset="-122"/>
                <a:cs typeface="Calibri" pitchFamily="34" charset="-120"/>
              </a:rPr>
              <a:t>WHAT WE DO DIFFERENTLY</a:t>
            </a:r>
            <a:endParaRPr lang="en-US" sz="1100" dirty="0"/>
          </a:p>
        </p:txBody>
      </p:sp>
      <p:sp>
        <p:nvSpPr>
          <p:cNvPr id="26" name="Text 20"/>
          <p:cNvSpPr/>
          <p:nvPr/>
        </p:nvSpPr>
        <p:spPr>
          <a:xfrm>
            <a:off x="8385048" y="2514600"/>
            <a:ext cx="3063240" cy="640080"/>
          </a:xfrm>
          <a:prstGeom prst="rect">
            <a:avLst/>
          </a:prstGeom>
          <a:noFill/>
          <a:ln/>
        </p:spPr>
        <p:txBody>
          <a:bodyPr wrap="square" lIns="0" tIns="0" rIns="0" bIns="0" rtlCol="0" anchor="t"/>
          <a:lstStyle/>
          <a:p>
            <a:pPr>
              <a:lnSpc>
                <a:spcPct val="105000"/>
              </a:lnSpc>
            </a:pPr>
            <a:r>
              <a:rPr lang="en-IN" sz="1200" dirty="0">
                <a:solidFill>
                  <a:schemeClr val="accent1">
                    <a:lumMod val="50000"/>
                  </a:schemeClr>
                </a:solidFill>
              </a:rPr>
              <a:t>AI-generated study plans</a:t>
            </a:r>
          </a:p>
          <a:p>
            <a:pPr>
              <a:lnSpc>
                <a:spcPct val="105000"/>
              </a:lnSpc>
            </a:pPr>
            <a:r>
              <a:rPr lang="en-IN" sz="1200" dirty="0"/>
              <a:t>Creates personalized daily schedules based on each student's learning progress. </a:t>
            </a:r>
            <a:endParaRPr lang="en-US" sz="1150" dirty="0"/>
          </a:p>
        </p:txBody>
      </p:sp>
      <p:sp>
        <p:nvSpPr>
          <p:cNvPr id="27" name="Shape 21"/>
          <p:cNvSpPr/>
          <p:nvPr/>
        </p:nvSpPr>
        <p:spPr>
          <a:xfrm>
            <a:off x="8385048" y="3200400"/>
            <a:ext cx="3063240" cy="0"/>
          </a:xfrm>
          <a:prstGeom prst="line">
            <a:avLst/>
          </a:prstGeom>
          <a:noFill/>
          <a:ln w="12700">
            <a:solidFill>
              <a:srgbClr val="C3CDE8"/>
            </a:solidFill>
            <a:prstDash val="solid"/>
          </a:ln>
        </p:spPr>
        <p:txBody>
          <a:bodyPr/>
          <a:p/>
        </p:txBody>
      </p:sp>
      <p:sp>
        <p:nvSpPr>
          <p:cNvPr id="28" name="Text 22"/>
          <p:cNvSpPr/>
          <p:nvPr/>
        </p:nvSpPr>
        <p:spPr>
          <a:xfrm>
            <a:off x="8385048" y="3291840"/>
            <a:ext cx="3063240" cy="640080"/>
          </a:xfrm>
          <a:prstGeom prst="rect">
            <a:avLst/>
          </a:prstGeom>
          <a:noFill/>
          <a:ln/>
        </p:spPr>
        <p:txBody>
          <a:bodyPr wrap="square" lIns="0" tIns="0" rIns="0" bIns="0" rtlCol="0" anchor="t"/>
          <a:lstStyle/>
          <a:p>
            <a:pPr>
              <a:lnSpc>
                <a:spcPct val="105000"/>
              </a:lnSpc>
            </a:pPr>
            <a:r>
              <a:rPr lang="en-IN" sz="1200" dirty="0">
                <a:solidFill>
                  <a:schemeClr val="accent1">
                    <a:lumMod val="50000"/>
                  </a:schemeClr>
                </a:solidFill>
              </a:rPr>
              <a:t>Weak topic detection</a:t>
            </a:r>
          </a:p>
          <a:p>
            <a:pPr>
              <a:lnSpc>
                <a:spcPct val="105000"/>
              </a:lnSpc>
            </a:pPr>
            <a:r>
              <a:rPr lang="en-IN" sz="1200" dirty="0"/>
              <a:t>Automatically identifies weak areas using quiz and performance analysis.</a:t>
            </a:r>
            <a:endParaRPr lang="en-US" sz="1150" dirty="0"/>
          </a:p>
        </p:txBody>
      </p:sp>
      <p:sp>
        <p:nvSpPr>
          <p:cNvPr id="29" name="Shape 23"/>
          <p:cNvSpPr/>
          <p:nvPr/>
        </p:nvSpPr>
        <p:spPr>
          <a:xfrm>
            <a:off x="8385048" y="3977640"/>
            <a:ext cx="3063240" cy="0"/>
          </a:xfrm>
          <a:prstGeom prst="line">
            <a:avLst/>
          </a:prstGeom>
          <a:noFill/>
          <a:ln w="12700">
            <a:solidFill>
              <a:srgbClr val="C3CDE8"/>
            </a:solidFill>
            <a:prstDash val="solid"/>
          </a:ln>
        </p:spPr>
        <p:txBody>
          <a:bodyPr/>
          <a:p/>
        </p:txBody>
      </p:sp>
      <p:sp>
        <p:nvSpPr>
          <p:cNvPr id="30" name="Text 24"/>
          <p:cNvSpPr/>
          <p:nvPr/>
        </p:nvSpPr>
        <p:spPr>
          <a:xfrm>
            <a:off x="8385048" y="4069080"/>
            <a:ext cx="3063240" cy="640080"/>
          </a:xfrm>
          <a:prstGeom prst="rect">
            <a:avLst/>
          </a:prstGeom>
          <a:noFill/>
          <a:ln/>
        </p:spPr>
        <p:txBody>
          <a:bodyPr wrap="square" lIns="0" tIns="0" rIns="0" bIns="0" rtlCol="0" anchor="t"/>
          <a:lstStyle/>
          <a:p>
            <a:pPr>
              <a:lnSpc>
                <a:spcPct val="105000"/>
              </a:lnSpc>
            </a:pPr>
            <a:r>
              <a:rPr lang="en-IN" sz="1200" dirty="0">
                <a:solidFill>
                  <a:schemeClr val="accent1">
                    <a:lumMod val="50000"/>
                  </a:schemeClr>
                </a:solidFill>
              </a:rPr>
              <a:t>Personalized recommendations </a:t>
            </a:r>
          </a:p>
          <a:p>
            <a:pPr>
              <a:lnSpc>
                <a:spcPct val="105000"/>
              </a:lnSpc>
            </a:pPr>
            <a:r>
              <a:rPr lang="en-IN" sz="1200" dirty="0"/>
              <a:t>Suggests the most relevant study materials for every student.</a:t>
            </a:r>
            <a:endParaRPr lang="en-US" sz="1150" dirty="0"/>
          </a:p>
        </p:txBody>
      </p:sp>
      <p:sp>
        <p:nvSpPr>
          <p:cNvPr id="31" name="Shape 25"/>
          <p:cNvSpPr/>
          <p:nvPr/>
        </p:nvSpPr>
        <p:spPr>
          <a:xfrm>
            <a:off x="457200" y="5257800"/>
            <a:ext cx="11183112" cy="868680"/>
          </a:xfrm>
          <a:prstGeom prst="roundRect">
            <a:avLst>
              <a:gd name="adj" fmla="val 8421"/>
            </a:avLst>
          </a:prstGeom>
          <a:solidFill>
            <a:srgbClr val="FFF6DD"/>
          </a:solidFill>
          <a:ln w="12700">
            <a:solidFill>
              <a:srgbClr val="F2D98A"/>
            </a:solidFill>
            <a:prstDash val="solid"/>
          </a:ln>
        </p:spPr>
        <p:txBody>
          <a:bodyPr/>
          <a:p/>
        </p:txBody>
      </p:sp>
      <p:sp>
        <p:nvSpPr>
          <p:cNvPr id="32" name="Text 26"/>
          <p:cNvSpPr/>
          <p:nvPr/>
        </p:nvSpPr>
        <p:spPr>
          <a:xfrm>
            <a:off x="822960" y="5413248"/>
            <a:ext cx="4572000" cy="237744"/>
          </a:xfrm>
          <a:prstGeom prst="rect">
            <a:avLst/>
          </a:prstGeom>
          <a:noFill/>
          <a:ln/>
        </p:spPr>
        <p:txBody>
          <a:bodyPr wrap="square" lIns="0" tIns="0" rIns="0" bIns="0" rtlCol="0" anchor="ctr"/>
          <a:lstStyle/>
          <a:p>
            <a:pPr marL="0" indent="0" algn="l">
              <a:buNone/>
            </a:pPr>
            <a:r>
              <a:rPr lang="en-US" sz="1050" b="1" kern="0" spc="60" dirty="0">
                <a:solidFill>
                  <a:srgbClr val="7A5E16"/>
                </a:solidFill>
                <a:latin typeface="Calibri" pitchFamily="34" charset="0"/>
                <a:ea typeface="Calibri" pitchFamily="34" charset="-122"/>
                <a:cs typeface="Calibri" pitchFamily="34" charset="-120"/>
              </a:rPr>
              <a:t>OUR ONE-LINE DIFFERENTIATOR</a:t>
            </a:r>
            <a:endParaRPr lang="en-US" sz="1050" dirty="0"/>
          </a:p>
        </p:txBody>
      </p:sp>
      <p:sp>
        <p:nvSpPr>
          <p:cNvPr id="33" name="Text 27"/>
          <p:cNvSpPr/>
          <p:nvPr/>
        </p:nvSpPr>
        <p:spPr>
          <a:xfrm>
            <a:off x="822960" y="5687568"/>
            <a:ext cx="10515600" cy="320040"/>
          </a:xfrm>
          <a:prstGeom prst="rect">
            <a:avLst/>
          </a:prstGeom>
          <a:noFill/>
          <a:ln/>
        </p:spPr>
        <p:txBody>
          <a:bodyPr wrap="square" lIns="0" tIns="0" rIns="0" bIns="0" rtlCol="0" anchor="t"/>
          <a:lstStyle/>
          <a:p>
            <a:pPr>
              <a:lnSpc>
                <a:spcPct val="105000"/>
              </a:lnSpc>
            </a:pPr>
            <a:r>
              <a:rPr lang="en-IN" sz="1400" dirty="0"/>
              <a:t>Unlike existing study planners, our solution continuously adapts to each student's performance and learning needs. </a:t>
            </a:r>
            <a:endParaRPr lang="en-US" sz="1350" dirty="0"/>
          </a:p>
        </p:txBody>
      </p:sp>
      <p:sp>
        <p:nvSpPr>
          <p:cNvPr id="34" name="Date Placeholder"/>
          <p:cNvSpPr>
            <a:spLocks noGrp="1"/>
          </p:cNvSpPr>
          <p:nvPr>
            <p:ph type="dt" sz="quarter" idx="10"/>
          </p:nvPr>
        </p:nvSpPr>
        <p:spPr>
          <a:xfrm>
            <a:off x="502920" y="6382512"/>
            <a:ext cx="2926080" cy="256032"/>
          </a:xfrm>
          <a:prstGeom prst="rect">
            <a:avLst/>
          </a:prstGeom>
        </p:spPr>
        <p:txBody>
          <a:bodyPr vert="horz" lIns="0" tIns="0" rIns="0" bIns="0" rtlCol="0" anchor="ctr"/>
          <a:lstStyle>
            <a:lvl1pPr algn="l">
              <a:defRPr sz="900">
                <a:solidFill>
                  <a:srgbClr val="8A93A8"/>
                </a:solidFill>
                <a:latin typeface="Calibri" pitchFamily="34" charset="0"/>
                <a:cs typeface="Calibri" pitchFamily="34" charset="0"/>
              </a:defRPr>
            </a:lvl1pPr>
          </a:lstStyle>
          <a:p>
            <a:r>
              <a:rPr lang="en-IN" dirty="0"/>
              <a:t>25-07-2026</a:t>
            </a:r>
          </a:p>
        </p:txBody>
      </p:sp>
      <p:sp>
        <p:nvSpPr>
          <p:cNvPr id="35" name="Footer Placeholder"/>
          <p:cNvSpPr>
            <a:spLocks noGrp="1"/>
          </p:cNvSpPr>
          <p:nvPr>
            <p:ph type="ftr" sz="quarter" idx="11"/>
          </p:nvPr>
        </p:nvSpPr>
        <p:spPr>
          <a:xfrm>
            <a:off x="3657600" y="6382512"/>
            <a:ext cx="4873752" cy="256032"/>
          </a:xfrm>
          <a:prstGeom prst="rect">
            <a:avLst/>
          </a:prstGeom>
        </p:spPr>
        <p:txBody>
          <a:bodyPr vert="horz" lIns="0" tIns="0" rIns="0" bIns="0" rtlCol="0" anchor="ctr"/>
          <a:lstStyle>
            <a:lvl1pPr algn="ctr">
              <a:defRPr sz="900">
                <a:solidFill>
                  <a:srgbClr val="8A93A8"/>
                </a:solidFill>
                <a:latin typeface="Calibri" pitchFamily="34" charset="0"/>
                <a:cs typeface="Calibri" pitchFamily="34" charset="0"/>
              </a:defRPr>
            </a:lvl1pPr>
          </a:lstStyle>
          <a:p>
            <a:r>
              <a:rPr lang="en-IN"/>
              <a:t>Sri Eshwar College of Engineering  ·  Design Thinking &amp; Innovation</a:t>
            </a:r>
          </a:p>
        </p:txBody>
      </p:sp>
      <p:sp>
        <p:nvSpPr>
          <p:cNvPr id="36" name="Slide Number Placeholder"/>
          <p:cNvSpPr>
            <a:spLocks noGrp="1"/>
          </p:cNvSpPr>
          <p:nvPr>
            <p:ph type="sldNum" sz="quarter" idx="12"/>
          </p:nvPr>
        </p:nvSpPr>
        <p:spPr>
          <a:xfrm>
            <a:off x="10424160" y="6382512"/>
            <a:ext cx="1261872" cy="256032"/>
          </a:xfrm>
          <a:prstGeom prst="rect">
            <a:avLst/>
          </a:prstGeom>
        </p:spPr>
        <p:txBody>
          <a:bodyPr vert="horz" lIns="0" tIns="0" rIns="0" bIns="0" rtlCol="0" anchor="ctr"/>
          <a:lstStyle>
            <a:lvl1pPr algn="r">
              <a:defRPr sz="900">
                <a:solidFill>
                  <a:srgbClr val="8A93A8"/>
                </a:solidFill>
                <a:latin typeface="Calibri" pitchFamily="34" charset="0"/>
                <a:cs typeface="Calibri" pitchFamily="34" charset="0"/>
              </a:defRPr>
            </a:lvl1pPr>
          </a:lstStyle>
          <a:p>
            <a:pPr>
              <a:defRPr sz="1000">
                <a:solidFill>
                  <a:srgbClr val="475569"/>
                </a:solidFill>
                <a:latin typeface="Calibri"/>
              </a:defRPr>
            </a:pPr>
            <a:r>
              <a:t>7</a:t>
            </a:r>
            <a:endParaRPr lang="en-IN"/>
          </a:p>
        </p:txBody>
      </p:sp>
      <p:pic>
        <p:nvPicPr>
          <p:cNvPr id="37" name="Picture 36">
            <a:extLst>
              <a:ext uri="{FF2B5EF4-FFF2-40B4-BE49-F238E27FC236}">
                <a16:creationId xmlns:a16="http://schemas.microsoft.com/office/drawing/2014/main" id="{482D336C-8DE0-5AB8-36E8-94133B7BE15D}"/>
              </a:ext>
            </a:extLst>
          </p:cNvPr>
          <p:cNvPicPr>
            <a:picLocks noChangeAspect="1"/>
          </p:cNvPicPr>
          <p:nvPr/>
        </p:nvPicPr>
        <p:blipFill>
          <a:blip r:embed="rId7"/>
          <a:stretch>
            <a:fillRect/>
          </a:stretch>
        </p:blipFill>
        <p:spPr>
          <a:xfrm>
            <a:off x="10363654" y="371776"/>
            <a:ext cx="1325426" cy="60350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pic>
        <p:nvPicPr>
          <p:cNvPr id="2" name="Image 0" descr="assets/logo.png"/>
          <p:cNvPicPr>
            <a:picLocks noChangeAspect="1"/>
          </p:cNvPicPr>
          <p:nvPr/>
        </p:nvPicPr>
        <p:blipFill>
          <a:blip r:embed="rId3"/>
          <a:stretch>
            <a:fillRect/>
          </a:stretch>
        </p:blipFill>
        <p:spPr>
          <a:xfrm>
            <a:off x="457200" y="237744"/>
            <a:ext cx="1024128" cy="283464"/>
          </a:xfrm>
          <a:prstGeom prst="rect">
            <a:avLst/>
          </a:prstGeom>
        </p:spPr>
      </p:pic>
      <p:sp>
        <p:nvSpPr>
          <p:cNvPr id="4" name="Text 1"/>
          <p:cNvSpPr/>
          <p:nvPr/>
        </p:nvSpPr>
        <p:spPr>
          <a:xfrm>
            <a:off x="502920" y="658368"/>
            <a:ext cx="11183112" cy="457200"/>
          </a:xfrm>
          <a:prstGeom prst="rect">
            <a:avLst/>
          </a:prstGeom>
          <a:noFill/>
          <a:ln/>
        </p:spPr>
        <p:txBody>
          <a:bodyPr wrap="square" lIns="0" tIns="0" rIns="0" bIns="0" rtlCol="0" anchor="ctr"/>
          <a:lstStyle/>
          <a:p>
            <a:pPr marL="0" indent="0">
              <a:buNone/>
            </a:pPr>
            <a:r>
              <a:rPr lang="en-US" sz="2800" b="1" dirty="0">
                <a:solidFill>
                  <a:srgbClr val="071A45"/>
                </a:solidFill>
                <a:latin typeface="Calibri" pitchFamily="34" charset="0"/>
                <a:ea typeface="Calibri" pitchFamily="34" charset="-122"/>
                <a:cs typeface="Calibri" pitchFamily="34" charset="-120"/>
              </a:rPr>
              <a:t>Feasibility Analysis</a:t>
            </a:r>
            <a:endParaRPr lang="en-US" sz="2800" dirty="0"/>
          </a:p>
        </p:txBody>
      </p:sp>
      <p:sp>
        <p:nvSpPr>
          <p:cNvPr id="6" name="Shape 3"/>
          <p:cNvSpPr/>
          <p:nvPr/>
        </p:nvSpPr>
        <p:spPr>
          <a:xfrm>
            <a:off x="502920" y="1377811"/>
            <a:ext cx="11183112" cy="0"/>
          </a:xfrm>
          <a:prstGeom prst="line">
            <a:avLst/>
          </a:prstGeom>
          <a:noFill/>
          <a:ln w="12700">
            <a:solidFill>
              <a:srgbClr val="DFE4EE"/>
            </a:solidFill>
            <a:prstDash val="solid"/>
          </a:ln>
        </p:spPr>
        <p:txBody>
          <a:bodyPr/>
          <a:p/>
        </p:txBody>
      </p:sp>
      <p:sp>
        <p:nvSpPr>
          <p:cNvPr id="7" name="Shape 4"/>
          <p:cNvSpPr/>
          <p:nvPr/>
        </p:nvSpPr>
        <p:spPr>
          <a:xfrm>
            <a:off x="502920" y="1591055"/>
            <a:ext cx="2743200" cy="3809763"/>
          </a:xfrm>
          <a:prstGeom prst="roundRect">
            <a:avLst>
              <a:gd name="adj" fmla="val 5000"/>
            </a:avLst>
          </a:prstGeom>
          <a:solidFill>
            <a:srgbClr val="F5F7FB"/>
          </a:solidFill>
          <a:ln w="12700">
            <a:solidFill>
              <a:srgbClr val="DFE4EE"/>
            </a:solidFill>
            <a:prstDash val="solid"/>
          </a:ln>
        </p:spPr>
        <p:txBody>
          <a:bodyPr/>
          <a:p/>
        </p:txBody>
      </p:sp>
      <p:pic>
        <p:nvPicPr>
          <p:cNvPr id="8" name="Image 1" descr="assets/ic_tools.png"/>
          <p:cNvPicPr>
            <a:picLocks noChangeAspect="1"/>
          </p:cNvPicPr>
          <p:nvPr/>
        </p:nvPicPr>
        <p:blipFill>
          <a:blip r:embed="rId4"/>
          <a:stretch>
            <a:fillRect/>
          </a:stretch>
        </p:blipFill>
        <p:spPr>
          <a:xfrm>
            <a:off x="694944" y="1721045"/>
            <a:ext cx="274320" cy="274320"/>
          </a:xfrm>
          <a:prstGeom prst="rect">
            <a:avLst/>
          </a:prstGeom>
        </p:spPr>
      </p:pic>
      <p:sp>
        <p:nvSpPr>
          <p:cNvPr id="9" name="Text 5"/>
          <p:cNvSpPr/>
          <p:nvPr/>
        </p:nvSpPr>
        <p:spPr>
          <a:xfrm>
            <a:off x="1097280" y="1755648"/>
            <a:ext cx="2103120" cy="237744"/>
          </a:xfrm>
          <a:prstGeom prst="rect">
            <a:avLst/>
          </a:prstGeom>
          <a:noFill/>
          <a:ln/>
        </p:spPr>
        <p:txBody>
          <a:bodyPr wrap="square" lIns="0" tIns="0" rIns="0" bIns="0" rtlCol="0" anchor="ctr"/>
          <a:lstStyle/>
          <a:p>
            <a:pPr marL="0" indent="0" algn="l">
              <a:buNone/>
            </a:pPr>
            <a:r>
              <a:rPr lang="en-US" sz="1000" b="1" kern="0" spc="60" dirty="0">
                <a:solidFill>
                  <a:srgbClr val="071A45"/>
                </a:solidFill>
                <a:latin typeface="Calibri" pitchFamily="34" charset="0"/>
                <a:ea typeface="Calibri" pitchFamily="34" charset="-122"/>
                <a:cs typeface="Calibri" pitchFamily="34" charset="-120"/>
              </a:rPr>
              <a:t>TECHNOLOGY / MATERIALS</a:t>
            </a:r>
            <a:endParaRPr lang="en-US" sz="1000" dirty="0"/>
          </a:p>
        </p:txBody>
      </p:sp>
      <p:sp>
        <p:nvSpPr>
          <p:cNvPr id="10" name="Text 6"/>
          <p:cNvSpPr/>
          <p:nvPr/>
        </p:nvSpPr>
        <p:spPr>
          <a:xfrm>
            <a:off x="671394" y="2310500"/>
            <a:ext cx="2529006" cy="2563938"/>
          </a:xfrm>
          <a:prstGeom prst="rect">
            <a:avLst/>
          </a:prstGeom>
          <a:noFill/>
          <a:ln/>
        </p:spPr>
        <p:txBody>
          <a:bodyPr wrap="square" lIns="0" tIns="0" rIns="0" bIns="0" rtlCol="0" anchor="t"/>
          <a:lstStyle/>
          <a:p>
            <a:pPr>
              <a:defRPr sz="1200">
                <a:solidFill>
                  <a:srgbClr val="0F172A"/>
                </a:solidFill>
                <a:latin typeface="Calibri"/>
              </a:defRPr>
            </a:pPr>
            <a:r>
              <a:t>React 19 &amp; TypeScript</a:t>
            </a:r>
            <a:br/>
            <a:r>
              <a:t>Vite &amp; Tailwind CSS</a:t>
            </a:r>
            <a:br/>
            <a:r>
              <a:t>Supabase (PostgreSQL)</a:t>
            </a:r>
            <a:br/>
            <a:r>
              <a:t>IndexedDB Offline Cache</a:t>
            </a:r>
            <a:br/>
            <a:r>
              <a:t>Anthropic Claude 3.5 Sonnet API</a:t>
            </a:r>
            <a:br/>
            <a:r>
              <a:t>WebRTC P2P Mesh</a:t>
            </a:r>
            <a:br/>
            <a:r>
              <a:t>Vite PWA Service Worker</a:t>
            </a:r>
            <a:br/>
            <a:r>
              <a:t>Recharts Visualizations</a:t>
            </a:r>
          </a:p>
        </p:txBody>
      </p:sp>
      <p:sp>
        <p:nvSpPr>
          <p:cNvPr id="11" name="Shape 7"/>
          <p:cNvSpPr/>
          <p:nvPr/>
        </p:nvSpPr>
        <p:spPr>
          <a:xfrm>
            <a:off x="3429000" y="1591055"/>
            <a:ext cx="2743200" cy="1938177"/>
          </a:xfrm>
          <a:prstGeom prst="roundRect">
            <a:avLst>
              <a:gd name="adj" fmla="val 5000"/>
            </a:avLst>
          </a:prstGeom>
          <a:solidFill>
            <a:srgbClr val="F5F7FB"/>
          </a:solidFill>
          <a:ln w="12700">
            <a:solidFill>
              <a:srgbClr val="DFE4EE"/>
            </a:solidFill>
            <a:prstDash val="solid"/>
          </a:ln>
        </p:spPr>
        <p:txBody>
          <a:bodyPr/>
          <a:lstStyle/>
          <a:p>
            <a:endParaRPr lang="en-IN" dirty="0"/>
          </a:p>
        </p:txBody>
      </p:sp>
      <p:pic>
        <p:nvPicPr>
          <p:cNvPr id="12" name="Image 2" descr="assets/ic_check.png"/>
          <p:cNvPicPr>
            <a:picLocks noChangeAspect="1"/>
          </p:cNvPicPr>
          <p:nvPr/>
        </p:nvPicPr>
        <p:blipFill>
          <a:blip r:embed="rId5"/>
          <a:stretch>
            <a:fillRect/>
          </a:stretch>
        </p:blipFill>
        <p:spPr>
          <a:xfrm>
            <a:off x="3566160" y="1677982"/>
            <a:ext cx="274320" cy="274320"/>
          </a:xfrm>
          <a:prstGeom prst="rect">
            <a:avLst/>
          </a:prstGeom>
        </p:spPr>
      </p:pic>
      <p:sp>
        <p:nvSpPr>
          <p:cNvPr id="13" name="Text 8"/>
          <p:cNvSpPr/>
          <p:nvPr/>
        </p:nvSpPr>
        <p:spPr>
          <a:xfrm>
            <a:off x="3954780" y="1696270"/>
            <a:ext cx="2103120" cy="237744"/>
          </a:xfrm>
          <a:prstGeom prst="rect">
            <a:avLst/>
          </a:prstGeom>
          <a:noFill/>
          <a:ln/>
        </p:spPr>
        <p:txBody>
          <a:bodyPr wrap="square" lIns="0" tIns="0" rIns="0" bIns="0" rtlCol="0" anchor="ctr"/>
          <a:lstStyle/>
          <a:p>
            <a:pPr marL="0" indent="0" algn="l">
              <a:buNone/>
            </a:pPr>
            <a:r>
              <a:rPr lang="en-US" sz="1000" b="1" kern="0" spc="60" dirty="0">
                <a:solidFill>
                  <a:srgbClr val="071A45"/>
                </a:solidFill>
                <a:latin typeface="Calibri" pitchFamily="34" charset="0"/>
                <a:ea typeface="Calibri" pitchFamily="34" charset="-122"/>
                <a:cs typeface="Calibri" pitchFamily="34" charset="-120"/>
              </a:rPr>
              <a:t>SKILLS WE HAVE</a:t>
            </a:r>
            <a:endParaRPr lang="en-US" sz="1000" dirty="0"/>
          </a:p>
        </p:txBody>
      </p:sp>
      <p:sp>
        <p:nvSpPr>
          <p:cNvPr id="14" name="Text 9"/>
          <p:cNvSpPr/>
          <p:nvPr/>
        </p:nvSpPr>
        <p:spPr>
          <a:xfrm>
            <a:off x="3604978" y="2158153"/>
            <a:ext cx="2331720" cy="1157488"/>
          </a:xfrm>
          <a:prstGeom prst="rect">
            <a:avLst/>
          </a:prstGeom>
          <a:noFill/>
          <a:ln/>
        </p:spPr>
        <p:txBody>
          <a:bodyPr wrap="square" lIns="0" tIns="0" rIns="0" bIns="0" rtlCol="0" anchor="t"/>
          <a:lstStyle/>
          <a:p>
            <a:pPr>
              <a:lnSpc>
                <a:spcPct val="105000"/>
              </a:lnSpc>
              <a:defRPr sz="1200">
                <a:solidFill>
                  <a:srgbClr val="0F172A"/>
                </a:solidFill>
                <a:latin typeface="Calibri"/>
              </a:defRPr>
            </a:pPr>
            <a:r>
              <a:t>UI/UX &amp; Design Thinking</a:t>
            </a:r>
            <a:br/>
            <a:r>
              <a:t>React 19 Frontend Dev</a:t>
            </a:r>
            <a:br/>
            <a:r>
              <a:t>PWA &amp; Offline Architecture</a:t>
            </a:r>
            <a:br/>
            <a:r>
              <a:t>Prompt Engineering</a:t>
            </a:r>
            <a:br/>
            <a:r>
              <a:t>Algorithm Implementation</a:t>
            </a:r>
            <a:endParaRPr lang="en-US" sz="1600" i="1" dirty="0">
              <a:solidFill>
                <a:srgbClr val="FF0000"/>
              </a:solidFill>
            </a:endParaRPr>
          </a:p>
        </p:txBody>
      </p:sp>
      <p:sp>
        <p:nvSpPr>
          <p:cNvPr id="15" name="Shape 10"/>
          <p:cNvSpPr/>
          <p:nvPr/>
        </p:nvSpPr>
        <p:spPr>
          <a:xfrm>
            <a:off x="3429000" y="3638964"/>
            <a:ext cx="2743200" cy="1731495"/>
          </a:xfrm>
          <a:prstGeom prst="roundRect">
            <a:avLst>
              <a:gd name="adj" fmla="val 5000"/>
            </a:avLst>
          </a:prstGeom>
          <a:solidFill>
            <a:srgbClr val="F5F7FB"/>
          </a:solidFill>
          <a:ln w="12700">
            <a:solidFill>
              <a:srgbClr val="DFE4EE"/>
            </a:solidFill>
            <a:prstDash val="solid"/>
          </a:ln>
        </p:spPr>
        <p:txBody>
          <a:bodyPr/>
          <a:lstStyle/>
          <a:p>
            <a:endParaRPr lang="en-IN" dirty="0"/>
          </a:p>
        </p:txBody>
      </p:sp>
      <p:sp>
        <p:nvSpPr>
          <p:cNvPr id="23" name="Shape 16"/>
          <p:cNvSpPr/>
          <p:nvPr/>
        </p:nvSpPr>
        <p:spPr>
          <a:xfrm>
            <a:off x="6484425" y="1591055"/>
            <a:ext cx="5193792" cy="3730395"/>
          </a:xfrm>
          <a:prstGeom prst="roundRect">
            <a:avLst>
              <a:gd name="adj" fmla="val 2286"/>
            </a:avLst>
          </a:prstGeom>
          <a:solidFill>
            <a:srgbClr val="FDF1F1"/>
          </a:solidFill>
          <a:ln w="12700">
            <a:solidFill>
              <a:srgbClr val="F0C9C9"/>
            </a:solidFill>
            <a:prstDash val="solid"/>
          </a:ln>
        </p:spPr>
        <p:txBody>
          <a:bodyPr/>
          <a:p/>
        </p:txBody>
      </p:sp>
      <p:sp>
        <p:nvSpPr>
          <p:cNvPr id="24" name="Text 17"/>
          <p:cNvSpPr/>
          <p:nvPr/>
        </p:nvSpPr>
        <p:spPr>
          <a:xfrm>
            <a:off x="6812280" y="1993392"/>
            <a:ext cx="4572000" cy="237744"/>
          </a:xfrm>
          <a:prstGeom prst="rect">
            <a:avLst/>
          </a:prstGeom>
          <a:noFill/>
          <a:ln/>
        </p:spPr>
        <p:txBody>
          <a:bodyPr wrap="square" lIns="0" tIns="0" rIns="0" bIns="0" rtlCol="0" anchor="ctr"/>
          <a:lstStyle/>
          <a:p>
            <a:pPr marL="0" indent="0" algn="l">
              <a:buNone/>
            </a:pPr>
            <a:r>
              <a:rPr lang="en-US" sz="1150" b="1" kern="0" spc="60" dirty="0">
                <a:solidFill>
                  <a:srgbClr val="C62828"/>
                </a:solidFill>
                <a:latin typeface="Calibri" pitchFamily="34" charset="0"/>
                <a:ea typeface="Calibri" pitchFamily="34" charset="-122"/>
                <a:cs typeface="Calibri" pitchFamily="34" charset="-120"/>
              </a:rPr>
              <a:t>RISKS &amp; ASSUMPTIONS</a:t>
            </a:r>
            <a:endParaRPr lang="en-US" sz="1150" dirty="0"/>
          </a:p>
        </p:txBody>
      </p:sp>
      <p:sp>
        <p:nvSpPr>
          <p:cNvPr id="25" name="Shape 18"/>
          <p:cNvSpPr/>
          <p:nvPr/>
        </p:nvSpPr>
        <p:spPr>
          <a:xfrm>
            <a:off x="6812280" y="2450592"/>
            <a:ext cx="256032" cy="256032"/>
          </a:xfrm>
          <a:prstGeom prst="ellipse">
            <a:avLst/>
          </a:prstGeom>
          <a:solidFill>
            <a:srgbClr val="071A45"/>
          </a:solidFill>
          <a:ln w="12700">
            <a:solidFill>
              <a:srgbClr val="071A45"/>
            </a:solidFill>
            <a:prstDash val="solid"/>
          </a:ln>
        </p:spPr>
        <p:txBody>
          <a:bodyPr/>
          <a:p/>
        </p:txBody>
      </p:sp>
      <p:sp>
        <p:nvSpPr>
          <p:cNvPr id="26" name="Text 19"/>
          <p:cNvSpPr/>
          <p:nvPr/>
        </p:nvSpPr>
        <p:spPr>
          <a:xfrm>
            <a:off x="6812280" y="2450592"/>
            <a:ext cx="256032" cy="256032"/>
          </a:xfrm>
          <a:prstGeom prst="rect">
            <a:avLst/>
          </a:prstGeom>
          <a:noFill/>
          <a:ln/>
        </p:spPr>
        <p:txBody>
          <a:bodyPr wrap="square" lIns="0" tIns="0" rIns="0" bIns="0" rtlCol="0" anchor="ctr"/>
          <a:lstStyle/>
          <a:p>
            <a:pPr marL="0" indent="0" algn="ctr">
              <a:buNone/>
              <a:defRPr sz="1000">
                <a:solidFill>
                  <a:srgbClr val="475569"/>
                </a:solidFill>
                <a:latin typeface="Calibri"/>
              </a:defRPr>
            </a:pPr>
            <a:r>
              <a:t>8</a:t>
            </a:r>
            <a:endParaRPr lang="en-US" sz="1200" dirty="0"/>
          </a:p>
        </p:txBody>
      </p:sp>
      <p:sp>
        <p:nvSpPr>
          <p:cNvPr id="27" name="Text 20"/>
          <p:cNvSpPr/>
          <p:nvPr/>
        </p:nvSpPr>
        <p:spPr>
          <a:xfrm>
            <a:off x="7178040" y="2468880"/>
            <a:ext cx="4206240" cy="274320"/>
          </a:xfrm>
          <a:prstGeom prst="rect">
            <a:avLst/>
          </a:prstGeom>
          <a:noFill/>
          <a:ln/>
        </p:spPr>
        <p:txBody>
          <a:bodyPr wrap="square" lIns="0" tIns="0" rIns="0" bIns="0" rtlCol="0" anchor="t"/>
          <a:lstStyle/>
          <a:p>
            <a:pPr>
              <a:lnSpc>
                <a:spcPct val="105000"/>
              </a:lnSpc>
            </a:pPr>
            <a:r>
              <a:rPr lang="en-IN" sz="1200" dirty="0">
                <a:solidFill>
                  <a:srgbClr val="C00000"/>
                </a:solidFill>
              </a:rPr>
              <a:t>Wrong recommendations</a:t>
            </a:r>
            <a:endParaRPr lang="en-US" sz="1150" dirty="0">
              <a:solidFill>
                <a:srgbClr val="C00000"/>
              </a:solidFill>
            </a:endParaRPr>
          </a:p>
        </p:txBody>
      </p:sp>
      <p:sp>
        <p:nvSpPr>
          <p:cNvPr id="28" name="Text 21"/>
          <p:cNvSpPr/>
          <p:nvPr/>
        </p:nvSpPr>
        <p:spPr>
          <a:xfrm>
            <a:off x="7178040" y="2761488"/>
            <a:ext cx="4206240" cy="274320"/>
          </a:xfrm>
          <a:prstGeom prst="rect">
            <a:avLst/>
          </a:prstGeom>
          <a:noFill/>
          <a:ln/>
        </p:spPr>
        <p:txBody>
          <a:bodyPr wrap="square" lIns="0" tIns="0" rIns="0" bIns="0" rtlCol="0" anchor="t"/>
          <a:lstStyle/>
          <a:p>
            <a:pPr>
              <a:lnSpc>
                <a:spcPct val="105000"/>
              </a:lnSpc>
            </a:pPr>
            <a:r>
              <a:rPr lang="en-IN" sz="1000" dirty="0">
                <a:solidFill>
                  <a:srgbClr val="CC3300"/>
                </a:solidFill>
              </a:rPr>
              <a:t>Train AI with more data</a:t>
            </a:r>
            <a:endParaRPr lang="en-US" sz="950" dirty="0">
              <a:solidFill>
                <a:srgbClr val="CC3300"/>
              </a:solidFill>
            </a:endParaRPr>
          </a:p>
        </p:txBody>
      </p:sp>
      <p:sp>
        <p:nvSpPr>
          <p:cNvPr id="29" name="Shape 22"/>
          <p:cNvSpPr/>
          <p:nvPr/>
        </p:nvSpPr>
        <p:spPr>
          <a:xfrm>
            <a:off x="6812280" y="3273552"/>
            <a:ext cx="256032" cy="256032"/>
          </a:xfrm>
          <a:prstGeom prst="ellipse">
            <a:avLst/>
          </a:prstGeom>
          <a:solidFill>
            <a:srgbClr val="071A45"/>
          </a:solidFill>
          <a:ln w="12700">
            <a:solidFill>
              <a:srgbClr val="071A45"/>
            </a:solidFill>
            <a:prstDash val="solid"/>
          </a:ln>
        </p:spPr>
        <p:txBody>
          <a:bodyPr/>
          <a:p/>
        </p:txBody>
      </p:sp>
      <p:sp>
        <p:nvSpPr>
          <p:cNvPr id="30" name="Text 23"/>
          <p:cNvSpPr/>
          <p:nvPr/>
        </p:nvSpPr>
        <p:spPr>
          <a:xfrm>
            <a:off x="6812280" y="3273552"/>
            <a:ext cx="256032" cy="256032"/>
          </a:xfrm>
          <a:prstGeom prst="rect">
            <a:avLst/>
          </a:prstGeom>
          <a:noFill/>
          <a:ln/>
        </p:spPr>
        <p:txBody>
          <a:bodyPr wrap="square" lIns="0" tIns="0" rIns="0" bIns="0" rtlCol="0" anchor="ctr"/>
          <a:lstStyle/>
          <a:p>
            <a:pPr marL="0" indent="0" algn="ctr">
              <a:buNone/>
              <a:defRPr sz="1000">
                <a:solidFill>
                  <a:srgbClr val="475569"/>
                </a:solidFill>
                <a:latin typeface="Calibri"/>
              </a:defRPr>
            </a:pPr>
            <a:r>
              <a:t>8</a:t>
            </a:r>
            <a:endParaRPr lang="en-US" sz="1200" dirty="0"/>
          </a:p>
        </p:txBody>
      </p:sp>
      <p:sp>
        <p:nvSpPr>
          <p:cNvPr id="31" name="Text 24"/>
          <p:cNvSpPr/>
          <p:nvPr/>
        </p:nvSpPr>
        <p:spPr>
          <a:xfrm>
            <a:off x="7178040" y="3291840"/>
            <a:ext cx="4206240" cy="274320"/>
          </a:xfrm>
          <a:prstGeom prst="rect">
            <a:avLst/>
          </a:prstGeom>
          <a:noFill/>
          <a:ln/>
        </p:spPr>
        <p:txBody>
          <a:bodyPr wrap="square" lIns="0" tIns="0" rIns="0" bIns="0" rtlCol="0" anchor="t"/>
          <a:lstStyle/>
          <a:p>
            <a:pPr>
              <a:lnSpc>
                <a:spcPct val="105000"/>
              </a:lnSpc>
            </a:pPr>
            <a:r>
              <a:rPr lang="en-IN" sz="1200" dirty="0">
                <a:solidFill>
                  <a:srgbClr val="C00000"/>
                </a:solidFill>
              </a:rPr>
              <a:t>Low user engagement</a:t>
            </a:r>
            <a:endParaRPr lang="en-US" sz="1150" dirty="0">
              <a:solidFill>
                <a:srgbClr val="C00000"/>
              </a:solidFill>
            </a:endParaRPr>
          </a:p>
        </p:txBody>
      </p:sp>
      <p:sp>
        <p:nvSpPr>
          <p:cNvPr id="32" name="Text 25"/>
          <p:cNvSpPr/>
          <p:nvPr/>
        </p:nvSpPr>
        <p:spPr>
          <a:xfrm>
            <a:off x="7178040" y="3584448"/>
            <a:ext cx="4206240" cy="274320"/>
          </a:xfrm>
          <a:prstGeom prst="rect">
            <a:avLst/>
          </a:prstGeom>
          <a:noFill/>
          <a:ln/>
        </p:spPr>
        <p:txBody>
          <a:bodyPr wrap="square" lIns="0" tIns="0" rIns="0" bIns="0" rtlCol="0" anchor="t"/>
          <a:lstStyle/>
          <a:p>
            <a:pPr>
              <a:lnSpc>
                <a:spcPct val="105000"/>
              </a:lnSpc>
            </a:pPr>
            <a:r>
              <a:rPr lang="en-IN" sz="1000" dirty="0">
                <a:solidFill>
                  <a:srgbClr val="CC3300"/>
                </a:solidFill>
              </a:rPr>
              <a:t>Gamification</a:t>
            </a:r>
            <a:endParaRPr lang="en-US" sz="950" dirty="0">
              <a:solidFill>
                <a:srgbClr val="CC3300"/>
              </a:solidFill>
            </a:endParaRPr>
          </a:p>
        </p:txBody>
      </p:sp>
      <p:sp>
        <p:nvSpPr>
          <p:cNvPr id="33" name="Shape 26"/>
          <p:cNvSpPr/>
          <p:nvPr/>
        </p:nvSpPr>
        <p:spPr>
          <a:xfrm>
            <a:off x="6812280" y="4096512"/>
            <a:ext cx="256032" cy="256032"/>
          </a:xfrm>
          <a:prstGeom prst="ellipse">
            <a:avLst/>
          </a:prstGeom>
          <a:solidFill>
            <a:srgbClr val="071A45"/>
          </a:solidFill>
          <a:ln w="12700">
            <a:solidFill>
              <a:srgbClr val="071A45"/>
            </a:solidFill>
            <a:prstDash val="solid"/>
          </a:ln>
        </p:spPr>
        <p:txBody>
          <a:bodyPr/>
          <a:p/>
        </p:txBody>
      </p:sp>
      <p:sp>
        <p:nvSpPr>
          <p:cNvPr id="34" name="Text 27"/>
          <p:cNvSpPr/>
          <p:nvPr/>
        </p:nvSpPr>
        <p:spPr>
          <a:xfrm>
            <a:off x="6812280" y="4096512"/>
            <a:ext cx="256032" cy="256032"/>
          </a:xfrm>
          <a:prstGeom prst="rect">
            <a:avLst/>
          </a:prstGeom>
          <a:noFill/>
          <a:ln/>
        </p:spPr>
        <p:txBody>
          <a:bodyPr wrap="square" lIns="0" tIns="0" rIns="0" bIns="0" rtlCol="0" anchor="ctr"/>
          <a:lstStyle/>
          <a:p>
            <a:pPr marL="0" indent="0" algn="ctr">
              <a:buNone/>
              <a:defRPr sz="1000">
                <a:solidFill>
                  <a:srgbClr val="475569"/>
                </a:solidFill>
                <a:latin typeface="Calibri"/>
              </a:defRPr>
            </a:pPr>
            <a:r>
              <a:t>8</a:t>
            </a:r>
            <a:endParaRPr lang="en-US" sz="1200" dirty="0"/>
          </a:p>
        </p:txBody>
      </p:sp>
      <p:sp>
        <p:nvSpPr>
          <p:cNvPr id="35" name="Text 28"/>
          <p:cNvSpPr/>
          <p:nvPr/>
        </p:nvSpPr>
        <p:spPr>
          <a:xfrm>
            <a:off x="7178040" y="4114800"/>
            <a:ext cx="4206240" cy="274320"/>
          </a:xfrm>
          <a:prstGeom prst="rect">
            <a:avLst/>
          </a:prstGeom>
          <a:noFill/>
          <a:ln/>
        </p:spPr>
        <p:txBody>
          <a:bodyPr wrap="square" lIns="0" tIns="0" rIns="0" bIns="0" rtlCol="0" anchor="t"/>
          <a:lstStyle/>
          <a:p>
            <a:pPr>
              <a:lnSpc>
                <a:spcPct val="105000"/>
              </a:lnSpc>
            </a:pPr>
            <a:r>
              <a:rPr lang="en-IN" sz="1200" dirty="0">
                <a:solidFill>
                  <a:srgbClr val="C00000"/>
                </a:solidFill>
              </a:rPr>
              <a:t>Limited internet</a:t>
            </a:r>
            <a:endParaRPr lang="en-US" sz="1150" dirty="0">
              <a:solidFill>
                <a:srgbClr val="C00000"/>
              </a:solidFill>
            </a:endParaRPr>
          </a:p>
        </p:txBody>
      </p:sp>
      <p:sp>
        <p:nvSpPr>
          <p:cNvPr id="36" name="Text 29"/>
          <p:cNvSpPr/>
          <p:nvPr/>
        </p:nvSpPr>
        <p:spPr>
          <a:xfrm>
            <a:off x="7178040" y="4407408"/>
            <a:ext cx="4206240" cy="274320"/>
          </a:xfrm>
          <a:prstGeom prst="rect">
            <a:avLst/>
          </a:prstGeom>
          <a:noFill/>
          <a:ln/>
        </p:spPr>
        <p:txBody>
          <a:bodyPr wrap="square" lIns="0" tIns="0" rIns="0" bIns="0" rtlCol="0" anchor="t"/>
          <a:lstStyle/>
          <a:p>
            <a:pPr>
              <a:lnSpc>
                <a:spcPct val="105000"/>
              </a:lnSpc>
            </a:pPr>
            <a:r>
              <a:rPr lang="en-IN" sz="1000" dirty="0">
                <a:solidFill>
                  <a:srgbClr val="CC3300"/>
                </a:solidFill>
              </a:rPr>
              <a:t>Offline study plan cache</a:t>
            </a:r>
            <a:endParaRPr lang="en-US" sz="950" dirty="0">
              <a:solidFill>
                <a:srgbClr val="CC3300"/>
              </a:solidFill>
            </a:endParaRPr>
          </a:p>
        </p:txBody>
      </p:sp>
      <p:sp>
        <p:nvSpPr>
          <p:cNvPr id="40" name="Date Placeholder"/>
          <p:cNvSpPr>
            <a:spLocks noGrp="1"/>
          </p:cNvSpPr>
          <p:nvPr>
            <p:ph type="dt" sz="quarter" idx="10"/>
          </p:nvPr>
        </p:nvSpPr>
        <p:spPr>
          <a:xfrm>
            <a:off x="502920" y="6382512"/>
            <a:ext cx="2926080" cy="256032"/>
          </a:xfrm>
          <a:prstGeom prst="rect">
            <a:avLst/>
          </a:prstGeom>
        </p:spPr>
        <p:txBody>
          <a:bodyPr vert="horz" lIns="0" tIns="0" rIns="0" bIns="0" rtlCol="0" anchor="ctr"/>
          <a:lstStyle>
            <a:lvl1pPr algn="l">
              <a:defRPr sz="900">
                <a:solidFill>
                  <a:srgbClr val="8A93A8"/>
                </a:solidFill>
                <a:latin typeface="Calibri" pitchFamily="34" charset="0"/>
                <a:cs typeface="Calibri" pitchFamily="34" charset="0"/>
              </a:defRPr>
            </a:lvl1pPr>
          </a:lstStyle>
          <a:p>
            <a:r>
              <a:rPr lang="en-IN" dirty="0"/>
              <a:t>25-07-2026</a:t>
            </a:r>
          </a:p>
        </p:txBody>
      </p:sp>
      <p:sp>
        <p:nvSpPr>
          <p:cNvPr id="41" name="Footer Placeholder"/>
          <p:cNvSpPr>
            <a:spLocks noGrp="1"/>
          </p:cNvSpPr>
          <p:nvPr>
            <p:ph type="ftr" sz="quarter" idx="11"/>
          </p:nvPr>
        </p:nvSpPr>
        <p:spPr>
          <a:xfrm>
            <a:off x="3657600" y="6382512"/>
            <a:ext cx="4873752" cy="256032"/>
          </a:xfrm>
          <a:prstGeom prst="rect">
            <a:avLst/>
          </a:prstGeom>
        </p:spPr>
        <p:txBody>
          <a:bodyPr vert="horz" lIns="0" tIns="0" rIns="0" bIns="0" rtlCol="0" anchor="ctr"/>
          <a:lstStyle>
            <a:lvl1pPr algn="ctr">
              <a:defRPr sz="900">
                <a:solidFill>
                  <a:srgbClr val="8A93A8"/>
                </a:solidFill>
                <a:latin typeface="Calibri" pitchFamily="34" charset="0"/>
                <a:cs typeface="Calibri" pitchFamily="34" charset="0"/>
              </a:defRPr>
            </a:lvl1pPr>
          </a:lstStyle>
          <a:p>
            <a:r>
              <a:rPr lang="en-IN"/>
              <a:t>Sri Eshwar College of Engineering  ·  Design Thinking &amp; Innovation</a:t>
            </a:r>
          </a:p>
        </p:txBody>
      </p:sp>
      <p:sp>
        <p:nvSpPr>
          <p:cNvPr id="42" name="Slide Number Placeholder"/>
          <p:cNvSpPr>
            <a:spLocks noGrp="1"/>
          </p:cNvSpPr>
          <p:nvPr>
            <p:ph type="sldNum" sz="quarter" idx="12"/>
          </p:nvPr>
        </p:nvSpPr>
        <p:spPr>
          <a:xfrm>
            <a:off x="10424160" y="6382512"/>
            <a:ext cx="1261872" cy="256032"/>
          </a:xfrm>
          <a:prstGeom prst="rect">
            <a:avLst/>
          </a:prstGeom>
        </p:spPr>
        <p:txBody>
          <a:bodyPr vert="horz" lIns="0" tIns="0" rIns="0" bIns="0" rtlCol="0" anchor="ctr"/>
          <a:lstStyle>
            <a:lvl1pPr algn="r">
              <a:defRPr sz="900">
                <a:solidFill>
                  <a:srgbClr val="8A93A8"/>
                </a:solidFill>
                <a:latin typeface="Calibri" pitchFamily="34" charset="0"/>
                <a:cs typeface="Calibri" pitchFamily="34" charset="0"/>
              </a:defRPr>
            </a:lvl1pPr>
          </a:lstStyle>
          <a:p>
            <a:pPr>
              <a:defRPr sz="1000">
                <a:solidFill>
                  <a:srgbClr val="475569"/>
                </a:solidFill>
                <a:latin typeface="Calibri"/>
              </a:defRPr>
            </a:pPr>
            <a:r>
              <a:t>8</a:t>
            </a:r>
            <a:endParaRPr lang="en-IN"/>
          </a:p>
        </p:txBody>
      </p:sp>
      <p:pic>
        <p:nvPicPr>
          <p:cNvPr id="43" name="Picture 42">
            <a:extLst>
              <a:ext uri="{FF2B5EF4-FFF2-40B4-BE49-F238E27FC236}">
                <a16:creationId xmlns:a16="http://schemas.microsoft.com/office/drawing/2014/main" id="{49AD59A9-0BF7-B256-20CE-6C0FDF2CC412}"/>
              </a:ext>
            </a:extLst>
          </p:cNvPr>
          <p:cNvPicPr>
            <a:picLocks noChangeAspect="1"/>
          </p:cNvPicPr>
          <p:nvPr/>
        </p:nvPicPr>
        <p:blipFill>
          <a:blip r:embed="rId6"/>
          <a:stretch>
            <a:fillRect/>
          </a:stretch>
        </p:blipFill>
        <p:spPr>
          <a:xfrm>
            <a:off x="10363654" y="371776"/>
            <a:ext cx="1325426" cy="603504"/>
          </a:xfrm>
          <a:prstGeom prst="rect">
            <a:avLst/>
          </a:prstGeom>
        </p:spPr>
      </p:pic>
      <p:pic>
        <p:nvPicPr>
          <p:cNvPr id="45" name="Image 2" descr="assets/ic_check.png">
            <a:extLst>
              <a:ext uri="{FF2B5EF4-FFF2-40B4-BE49-F238E27FC236}">
                <a16:creationId xmlns:a16="http://schemas.microsoft.com/office/drawing/2014/main" id="{8DDCAB67-D207-A987-4255-33A39229378E}"/>
              </a:ext>
            </a:extLst>
          </p:cNvPr>
          <p:cNvPicPr>
            <a:picLocks noChangeAspect="1"/>
          </p:cNvPicPr>
          <p:nvPr/>
        </p:nvPicPr>
        <p:blipFill>
          <a:blip r:embed="rId5"/>
          <a:stretch>
            <a:fillRect/>
          </a:stretch>
        </p:blipFill>
        <p:spPr>
          <a:xfrm>
            <a:off x="3564207" y="3721608"/>
            <a:ext cx="274320" cy="274320"/>
          </a:xfrm>
          <a:prstGeom prst="rect">
            <a:avLst/>
          </a:prstGeom>
        </p:spPr>
      </p:pic>
      <p:sp>
        <p:nvSpPr>
          <p:cNvPr id="47" name="Text 8">
            <a:extLst>
              <a:ext uri="{FF2B5EF4-FFF2-40B4-BE49-F238E27FC236}">
                <a16:creationId xmlns:a16="http://schemas.microsoft.com/office/drawing/2014/main" id="{EC628F76-8A5E-75A7-4B44-4DBE6F01DA8B}"/>
              </a:ext>
            </a:extLst>
          </p:cNvPr>
          <p:cNvSpPr/>
          <p:nvPr/>
        </p:nvSpPr>
        <p:spPr>
          <a:xfrm>
            <a:off x="3931920" y="3738595"/>
            <a:ext cx="2103120" cy="237744"/>
          </a:xfrm>
          <a:prstGeom prst="rect">
            <a:avLst/>
          </a:prstGeom>
          <a:noFill/>
          <a:ln/>
        </p:spPr>
        <p:txBody>
          <a:bodyPr wrap="square" lIns="0" tIns="0" rIns="0" bIns="0" rtlCol="0" anchor="ctr"/>
          <a:lstStyle/>
          <a:p>
            <a:pPr marL="0" indent="0" algn="l">
              <a:buNone/>
            </a:pPr>
            <a:r>
              <a:rPr lang="en-US" sz="1000" b="1" kern="0" spc="60" dirty="0">
                <a:solidFill>
                  <a:srgbClr val="071A45"/>
                </a:solidFill>
                <a:latin typeface="Calibri" pitchFamily="34" charset="0"/>
                <a:ea typeface="Calibri" pitchFamily="34" charset="-122"/>
                <a:cs typeface="Calibri" pitchFamily="34" charset="-120"/>
              </a:rPr>
              <a:t>SKILLS WE NEED</a:t>
            </a:r>
            <a:endParaRPr lang="en-US" sz="1000" dirty="0"/>
          </a:p>
        </p:txBody>
      </p:sp>
      <p:sp>
        <p:nvSpPr>
          <p:cNvPr id="49" name="Text 9">
            <a:extLst>
              <a:ext uri="{FF2B5EF4-FFF2-40B4-BE49-F238E27FC236}">
                <a16:creationId xmlns:a16="http://schemas.microsoft.com/office/drawing/2014/main" id="{76369D0E-60D5-544B-8716-FAEDC615B39D}"/>
              </a:ext>
            </a:extLst>
          </p:cNvPr>
          <p:cNvSpPr/>
          <p:nvPr/>
        </p:nvSpPr>
        <p:spPr>
          <a:xfrm>
            <a:off x="3604978" y="3720918"/>
            <a:ext cx="2491021" cy="1157488"/>
          </a:xfrm>
          <a:prstGeom prst="rect">
            <a:avLst/>
          </a:prstGeom>
          <a:noFill/>
          <a:ln/>
        </p:spPr>
        <p:txBody>
          <a:bodyPr wrap="square" lIns="0" tIns="0" rIns="0" bIns="0" rtlCol="0" anchor="t"/>
          <a:lstStyle/>
          <a:p>
            <a:pPr marL="0" indent="0" algn="l">
              <a:lnSpc>
                <a:spcPct val="105000"/>
              </a:lnSpc>
              <a:buNone/>
            </a:pPr>
            <a:endParaRPr lang="en-US" sz="1000" i="1" dirty="0">
              <a:solidFill>
                <a:srgbClr val="FF0000"/>
              </a:solidFill>
            </a:endParaRPr>
          </a:p>
        </p:txBody>
      </p:sp>
      <p:sp>
        <p:nvSpPr>
          <p:cNvPr id="16" name="Text 9">
            <a:extLst>
              <a:ext uri="{FF2B5EF4-FFF2-40B4-BE49-F238E27FC236}">
                <a16:creationId xmlns:a16="http://schemas.microsoft.com/office/drawing/2014/main" id="{2E38D658-AD12-E2ED-A9FE-0294333B0D78}"/>
              </a:ext>
            </a:extLst>
          </p:cNvPr>
          <p:cNvSpPr/>
          <p:nvPr/>
        </p:nvSpPr>
        <p:spPr>
          <a:xfrm>
            <a:off x="3596641" y="4175957"/>
            <a:ext cx="2331720" cy="986009"/>
          </a:xfrm>
          <a:prstGeom prst="rect">
            <a:avLst/>
          </a:prstGeom>
          <a:noFill/>
          <a:ln/>
        </p:spPr>
        <p:txBody>
          <a:bodyPr wrap="square" lIns="0" tIns="0" rIns="0" bIns="0" rtlCol="0" anchor="t"/>
          <a:lstStyle/>
          <a:p>
            <a:pPr>
              <a:defRPr sz="1200">
                <a:solidFill>
                  <a:srgbClr val="0F172A"/>
                </a:solidFill>
                <a:latin typeface="Calibri"/>
              </a:defRPr>
            </a:pPr>
            <a:r>
              <a:t>LLM Fine-Tuning &amp; RAG</a:t>
            </a:r>
            <a:br/>
            <a:r>
              <a:t>WebRTC Signaling Scale</a:t>
            </a:r>
            <a:br/>
            <a:r>
              <a:t>Speech-to-Text Integration</a:t>
            </a:r>
            <a:br/>
            <a:r>
              <a:t>College LMS API Sync</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pic>
        <p:nvPicPr>
          <p:cNvPr id="2" name="Image 0" descr="assets/logo.png"/>
          <p:cNvPicPr>
            <a:picLocks noChangeAspect="1"/>
          </p:cNvPicPr>
          <p:nvPr/>
        </p:nvPicPr>
        <p:blipFill>
          <a:blip r:embed="rId3"/>
          <a:stretch>
            <a:fillRect/>
          </a:stretch>
        </p:blipFill>
        <p:spPr>
          <a:xfrm>
            <a:off x="457200" y="237744"/>
            <a:ext cx="1024128" cy="283464"/>
          </a:xfrm>
          <a:prstGeom prst="rect">
            <a:avLst/>
          </a:prstGeom>
        </p:spPr>
      </p:pic>
      <p:sp>
        <p:nvSpPr>
          <p:cNvPr id="4" name="Text 1"/>
          <p:cNvSpPr/>
          <p:nvPr/>
        </p:nvSpPr>
        <p:spPr>
          <a:xfrm>
            <a:off x="502920" y="658368"/>
            <a:ext cx="11183112" cy="457200"/>
          </a:xfrm>
          <a:prstGeom prst="rect">
            <a:avLst/>
          </a:prstGeom>
          <a:noFill/>
          <a:ln/>
        </p:spPr>
        <p:txBody>
          <a:bodyPr wrap="square" lIns="0" tIns="0" rIns="0" bIns="0" rtlCol="0" anchor="ctr"/>
          <a:lstStyle/>
          <a:p>
            <a:pPr marL="0" indent="0">
              <a:buNone/>
            </a:pPr>
            <a:r>
              <a:rPr lang="en-US" sz="2800" b="1" dirty="0">
                <a:solidFill>
                  <a:srgbClr val="071A45"/>
                </a:solidFill>
                <a:latin typeface="Calibri" pitchFamily="34" charset="0"/>
                <a:ea typeface="Calibri" pitchFamily="34" charset="-122"/>
                <a:cs typeface="Calibri" pitchFamily="34" charset="-120"/>
              </a:rPr>
              <a:t>Cost Estimate &amp; Bill of Materials</a:t>
            </a:r>
            <a:endParaRPr lang="en-US" sz="2800" dirty="0"/>
          </a:p>
        </p:txBody>
      </p:sp>
      <p:sp>
        <p:nvSpPr>
          <p:cNvPr id="6" name="Shape 3"/>
          <p:cNvSpPr/>
          <p:nvPr/>
        </p:nvSpPr>
        <p:spPr>
          <a:xfrm>
            <a:off x="505968" y="1192159"/>
            <a:ext cx="11183112" cy="0"/>
          </a:xfrm>
          <a:prstGeom prst="line">
            <a:avLst/>
          </a:prstGeom>
          <a:noFill/>
          <a:ln w="12700">
            <a:solidFill>
              <a:srgbClr val="DFE4EE"/>
            </a:solidFill>
            <a:prstDash val="solid"/>
          </a:ln>
        </p:spPr>
        <p:txBody>
          <a:bodyPr/>
          <a:p/>
        </p:txBody>
      </p:sp>
      <p:graphicFrame>
        <p:nvGraphicFramePr>
          <p:cNvPr id="14" name="Table 0"/>
          <p:cNvGraphicFramePr>
            <a:graphicFrameLocks noGrp="1"/>
          </p:cNvGraphicFramePr>
          <p:nvPr>
            <p:extLst>
              <p:ext uri="{D42A27DB-BD31-4B8C-83A1-F6EECF244321}">
                <p14:modId xmlns:p14="http://schemas.microsoft.com/office/powerpoint/2010/main" val="1768003991"/>
              </p:ext>
            </p:extLst>
          </p:nvPr>
        </p:nvGraphicFramePr>
        <p:xfrm>
          <a:off x="502919" y="1409039"/>
          <a:ext cx="10573397" cy="4024435"/>
        </p:xfrm>
        <a:graphic>
          <a:graphicData uri="http://schemas.openxmlformats.org/drawingml/2006/table">
            <a:tbl>
              <a:tblPr/>
              <a:tblGrid>
                <a:gridCol w="987625">
                  <a:extLst>
                    <a:ext uri="{9D8B030D-6E8A-4147-A177-3AD203B41FA5}">
                      <a16:colId xmlns:a16="http://schemas.microsoft.com/office/drawing/2014/main" val="20000"/>
                    </a:ext>
                  </a:extLst>
                </a:gridCol>
                <a:gridCol w="4880029">
                  <a:extLst>
                    <a:ext uri="{9D8B030D-6E8A-4147-A177-3AD203B41FA5}">
                      <a16:colId xmlns:a16="http://schemas.microsoft.com/office/drawing/2014/main" val="20001"/>
                    </a:ext>
                  </a:extLst>
                </a:gridCol>
                <a:gridCol w="987625">
                  <a:extLst>
                    <a:ext uri="{9D8B030D-6E8A-4147-A177-3AD203B41FA5}">
                      <a16:colId xmlns:a16="http://schemas.microsoft.com/office/drawing/2014/main" val="20002"/>
                    </a:ext>
                  </a:extLst>
                </a:gridCol>
                <a:gridCol w="1859059">
                  <a:extLst>
                    <a:ext uri="{9D8B030D-6E8A-4147-A177-3AD203B41FA5}">
                      <a16:colId xmlns:a16="http://schemas.microsoft.com/office/drawing/2014/main" val="20003"/>
                    </a:ext>
                  </a:extLst>
                </a:gridCol>
                <a:gridCol w="1859059">
                  <a:extLst>
                    <a:ext uri="{9D8B030D-6E8A-4147-A177-3AD203B41FA5}">
                      <a16:colId xmlns:a16="http://schemas.microsoft.com/office/drawing/2014/main" val="20004"/>
                    </a:ext>
                  </a:extLst>
                </a:gridCol>
              </a:tblGrid>
              <a:tr h="548855">
                <a:tc>
                  <a:txBody>
                    <a:bodyPr/>
                    <a:lstStyle/>
                    <a:p>
                      <a:pPr>
                        <a:buNone/>
                      </a:pPr>
                      <a:r>
                        <a:rPr lang="en-IN" dirty="0"/>
                        <a:t>Item</a:t>
                      </a:r>
                    </a:p>
                  </a:txBody>
                  <a:tcPr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071A45"/>
                    </a:solidFill>
                  </a:tcPr>
                </a:tc>
                <a:tc>
                  <a:txBody>
                    <a:bodyPr/>
                    <a:lstStyle/>
                    <a:p>
                      <a:pPr algn="r">
                        <a:buNone/>
                      </a:pPr>
                      <a:r>
                        <a:rPr lang="en-IN" dirty="0"/>
                        <a:t>Qty</a:t>
                      </a:r>
                    </a:p>
                  </a:txBody>
                  <a:tcPr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071A45"/>
                    </a:solidFill>
                  </a:tcPr>
                </a:tc>
                <a:tc>
                  <a:txBody>
                    <a:bodyPr/>
                    <a:lstStyle/>
                    <a:p>
                      <a:pPr algn="r">
                        <a:buNone/>
                      </a:pPr>
                      <a:r>
                        <a:rPr lang="en-IN" dirty="0"/>
                        <a:t>Cost</a:t>
                      </a:r>
                    </a:p>
                  </a:txBody>
                  <a:tcPr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071A45"/>
                    </a:solidFill>
                  </a:tcPr>
                </a:tc>
                <a:tc>
                  <a:txBody>
                    <a:bodyPr/>
                    <a:lstStyle/>
                    <a:p>
                      <a:pPr>
                        <a:buNone/>
                      </a:pPr>
                      <a:r>
                        <a:rPr lang="en-IN"/>
                        <a:t>Item</a:t>
                      </a:r>
                    </a:p>
                  </a:txBody>
                  <a:tcPr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071A45"/>
                    </a:solidFill>
                  </a:tcPr>
                </a:tc>
                <a:tc>
                  <a:txBody>
                    <a:bodyPr/>
                    <a:lstStyle/>
                    <a:p>
                      <a:pPr algn="r">
                        <a:buNone/>
                      </a:pPr>
                      <a:r>
                        <a:rPr lang="en-IN"/>
                        <a:t>Qty</a:t>
                      </a:r>
                    </a:p>
                  </a:txBody>
                  <a:tcPr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071A45"/>
                    </a:solidFill>
                  </a:tcPr>
                </a:tc>
                <a:extLst>
                  <a:ext uri="{0D108BD9-81ED-4DB2-BD59-A6C34878D82A}">
                    <a16:rowId xmlns:a16="http://schemas.microsoft.com/office/drawing/2014/main" val="10000"/>
                  </a:ext>
                </a:extLst>
              </a:tr>
              <a:tr h="548855">
                <a:tc>
                  <a:txBody>
                    <a:bodyPr/>
                    <a:lstStyle/>
                    <a:p>
                      <a:pPr>
                        <a:buNone/>
                      </a:pPr>
                      <a:r>
                        <a:rPr lang="en-IN" dirty="0"/>
                        <a:t>Domain</a:t>
                      </a:r>
                    </a:p>
                  </a:txBody>
                  <a:tcPr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FFFFF"/>
                    </a:solidFill>
                  </a:tcPr>
                </a:tc>
                <a:tc>
                  <a:txBody>
                    <a:bodyPr/>
                    <a:lstStyle/>
                    <a:p>
                      <a:pPr algn="r">
                        <a:buNone/>
                      </a:pPr>
                      <a:r>
                        <a:rPr lang="en-IN" dirty="0"/>
                        <a:t>1</a:t>
                      </a:r>
                    </a:p>
                  </a:txBody>
                  <a:tcPr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FFFFF"/>
                    </a:solidFill>
                  </a:tcPr>
                </a:tc>
                <a:tc>
                  <a:txBody>
                    <a:bodyPr/>
                    <a:lstStyle/>
                    <a:p>
                      <a:pPr algn="r">
                        <a:buNone/>
                      </a:pPr>
                      <a:r>
                        <a:rPr lang="en-IN" dirty="0"/>
                        <a:t>₹800</a:t>
                      </a:r>
                    </a:p>
                  </a:txBody>
                  <a:tcPr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FFFFF"/>
                    </a:solidFill>
                  </a:tcPr>
                </a:tc>
                <a:tc>
                  <a:txBody>
                    <a:bodyPr/>
                    <a:lstStyle/>
                    <a:p>
                      <a:pPr>
                        <a:buNone/>
                      </a:pPr>
                      <a:r>
                        <a:rPr lang="en-IN" dirty="0"/>
                        <a:t>Domain</a:t>
                      </a:r>
                    </a:p>
                  </a:txBody>
                  <a:tcPr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FFFFF"/>
                    </a:solidFill>
                  </a:tcPr>
                </a:tc>
                <a:tc>
                  <a:txBody>
                    <a:bodyPr/>
                    <a:lstStyle/>
                    <a:p>
                      <a:pPr algn="r">
                        <a:buNone/>
                      </a:pPr>
                      <a:r>
                        <a:rPr lang="en-IN"/>
                        <a:t>1</a:t>
                      </a:r>
                    </a:p>
                  </a:txBody>
                  <a:tcPr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855">
                <a:tc>
                  <a:txBody>
                    <a:bodyPr/>
                    <a:lstStyle/>
                    <a:p>
                      <a:pPr>
                        <a:buNone/>
                      </a:pPr>
                      <a:r>
                        <a:rPr lang="en-IN"/>
                        <a:t>Firebase</a:t>
                      </a:r>
                    </a:p>
                  </a:txBody>
                  <a:tcPr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5F7FB"/>
                    </a:solidFill>
                  </a:tcPr>
                </a:tc>
                <a:tc>
                  <a:txBody>
                    <a:bodyPr/>
                    <a:lstStyle/>
                    <a:p>
                      <a:pPr algn="r">
                        <a:buNone/>
                      </a:pPr>
                      <a:r>
                        <a:rPr lang="en-IN" dirty="0"/>
                        <a:t>1</a:t>
                      </a:r>
                    </a:p>
                  </a:txBody>
                  <a:tcPr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5F7FB"/>
                    </a:solidFill>
                  </a:tcPr>
                </a:tc>
                <a:tc>
                  <a:txBody>
                    <a:bodyPr/>
                    <a:lstStyle/>
                    <a:p>
                      <a:pPr algn="r">
                        <a:buNone/>
                      </a:pPr>
                      <a:r>
                        <a:rPr lang="en-IN" dirty="0"/>
                        <a:t>₹0</a:t>
                      </a:r>
                    </a:p>
                  </a:txBody>
                  <a:tcPr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5F7FB"/>
                    </a:solidFill>
                  </a:tcPr>
                </a:tc>
                <a:tc>
                  <a:txBody>
                    <a:bodyPr/>
                    <a:lstStyle/>
                    <a:p>
                      <a:pPr>
                        <a:buNone/>
                      </a:pPr>
                      <a:r>
                        <a:rPr lang="en-IN" dirty="0"/>
                        <a:t>Firebase</a:t>
                      </a:r>
                    </a:p>
                  </a:txBody>
                  <a:tcPr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5F7FB"/>
                    </a:solidFill>
                  </a:tcPr>
                </a:tc>
                <a:tc>
                  <a:txBody>
                    <a:bodyPr/>
                    <a:lstStyle/>
                    <a:p>
                      <a:pPr algn="r">
                        <a:buNone/>
                      </a:pPr>
                      <a:r>
                        <a:rPr lang="en-IN"/>
                        <a:t>1</a:t>
                      </a:r>
                    </a:p>
                  </a:txBody>
                  <a:tcPr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5F7FB"/>
                    </a:solidFill>
                  </a:tcPr>
                </a:tc>
                <a:extLst>
                  <a:ext uri="{0D108BD9-81ED-4DB2-BD59-A6C34878D82A}">
                    <a16:rowId xmlns:a16="http://schemas.microsoft.com/office/drawing/2014/main" val="10002"/>
                  </a:ext>
                </a:extLst>
              </a:tr>
              <a:tr h="548855">
                <a:tc>
                  <a:txBody>
                    <a:bodyPr/>
                    <a:lstStyle/>
                    <a:p>
                      <a:pPr>
                        <a:buNone/>
                      </a:pPr>
                      <a:r>
                        <a:rPr lang="en-IN"/>
                        <a:t>Cloud Hosting</a:t>
                      </a:r>
                    </a:p>
                  </a:txBody>
                  <a:tcPr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FFFFF"/>
                    </a:solidFill>
                  </a:tcPr>
                </a:tc>
                <a:tc>
                  <a:txBody>
                    <a:bodyPr/>
                    <a:lstStyle/>
                    <a:p>
                      <a:pPr algn="r">
                        <a:buNone/>
                      </a:pPr>
                      <a:r>
                        <a:rPr lang="en-IN" dirty="0"/>
                        <a:t>1</a:t>
                      </a:r>
                    </a:p>
                  </a:txBody>
                  <a:tcPr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FFFFF"/>
                    </a:solidFill>
                  </a:tcPr>
                </a:tc>
                <a:tc>
                  <a:txBody>
                    <a:bodyPr/>
                    <a:lstStyle/>
                    <a:p>
                      <a:pPr algn="r">
                        <a:buNone/>
                      </a:pPr>
                      <a:r>
                        <a:rPr lang="en-IN" dirty="0"/>
                        <a:t>₹1,500</a:t>
                      </a:r>
                    </a:p>
                  </a:txBody>
                  <a:tcPr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FFFFF"/>
                    </a:solidFill>
                  </a:tcPr>
                </a:tc>
                <a:tc>
                  <a:txBody>
                    <a:bodyPr/>
                    <a:lstStyle/>
                    <a:p>
                      <a:pPr>
                        <a:buNone/>
                      </a:pPr>
                      <a:r>
                        <a:rPr lang="en-IN" dirty="0"/>
                        <a:t>Cloud Hosting</a:t>
                      </a:r>
                    </a:p>
                  </a:txBody>
                  <a:tcPr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FFFFF"/>
                    </a:solidFill>
                  </a:tcPr>
                </a:tc>
                <a:tc>
                  <a:txBody>
                    <a:bodyPr/>
                    <a:lstStyle/>
                    <a:p>
                      <a:pPr algn="r">
                        <a:buNone/>
                      </a:pPr>
                      <a:r>
                        <a:rPr lang="en-IN"/>
                        <a:t>1</a:t>
                      </a:r>
                    </a:p>
                  </a:txBody>
                  <a:tcPr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855">
                <a:tc>
                  <a:txBody>
                    <a:bodyPr/>
                    <a:lstStyle/>
                    <a:p>
                      <a:pPr>
                        <a:buNone/>
                      </a:pPr>
                      <a:r>
                        <a:rPr lang="en-IN"/>
                        <a:t>UI Design</a:t>
                      </a:r>
                    </a:p>
                  </a:txBody>
                  <a:tcPr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5F7FB"/>
                    </a:solidFill>
                  </a:tcPr>
                </a:tc>
                <a:tc>
                  <a:txBody>
                    <a:bodyPr/>
                    <a:lstStyle/>
                    <a:p>
                      <a:pPr algn="r">
                        <a:buNone/>
                      </a:pPr>
                      <a:r>
                        <a:rPr lang="en-IN"/>
                        <a:t>1</a:t>
                      </a:r>
                    </a:p>
                  </a:txBody>
                  <a:tcPr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5F7FB"/>
                    </a:solidFill>
                  </a:tcPr>
                </a:tc>
                <a:tc>
                  <a:txBody>
                    <a:bodyPr/>
                    <a:lstStyle/>
                    <a:p>
                      <a:pPr algn="r">
                        <a:buNone/>
                      </a:pPr>
                      <a:r>
                        <a:rPr lang="en-IN"/>
                        <a:t>₹0</a:t>
                      </a:r>
                    </a:p>
                  </a:txBody>
                  <a:tcPr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5F7FB"/>
                    </a:solidFill>
                  </a:tcPr>
                </a:tc>
                <a:tc>
                  <a:txBody>
                    <a:bodyPr/>
                    <a:lstStyle/>
                    <a:p>
                      <a:pPr>
                        <a:buNone/>
                      </a:pPr>
                      <a:r>
                        <a:rPr lang="en-IN" dirty="0"/>
                        <a:t>UI Design</a:t>
                      </a:r>
                    </a:p>
                  </a:txBody>
                  <a:tcPr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5F7FB"/>
                    </a:solidFill>
                  </a:tcPr>
                </a:tc>
                <a:tc>
                  <a:txBody>
                    <a:bodyPr/>
                    <a:lstStyle/>
                    <a:p>
                      <a:pPr algn="r">
                        <a:buNone/>
                      </a:pPr>
                      <a:r>
                        <a:rPr lang="en-IN"/>
                        <a:t>1</a:t>
                      </a:r>
                    </a:p>
                  </a:txBody>
                  <a:tcPr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5F7FB"/>
                    </a:solidFill>
                  </a:tcPr>
                </a:tc>
                <a:extLst>
                  <a:ext uri="{0D108BD9-81ED-4DB2-BD59-A6C34878D82A}">
                    <a16:rowId xmlns:a16="http://schemas.microsoft.com/office/drawing/2014/main" val="10004"/>
                  </a:ext>
                </a:extLst>
              </a:tr>
              <a:tr h="548855">
                <a:tc>
                  <a:txBody>
                    <a:bodyPr/>
                    <a:lstStyle/>
                    <a:p>
                      <a:pPr>
                        <a:buNone/>
                      </a:pPr>
                      <a:r>
                        <a:rPr lang="en-IN"/>
                        <a:t>Testing</a:t>
                      </a:r>
                    </a:p>
                  </a:txBody>
                  <a:tcPr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FFFFF"/>
                    </a:solidFill>
                  </a:tcPr>
                </a:tc>
                <a:tc>
                  <a:txBody>
                    <a:bodyPr/>
                    <a:lstStyle/>
                    <a:p>
                      <a:pPr algn="r">
                        <a:buNone/>
                      </a:pPr>
                      <a:r>
                        <a:rPr lang="en-IN"/>
                        <a:t>1</a:t>
                      </a:r>
                    </a:p>
                  </a:txBody>
                  <a:tcPr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FFFFF"/>
                    </a:solidFill>
                  </a:tcPr>
                </a:tc>
                <a:tc>
                  <a:txBody>
                    <a:bodyPr/>
                    <a:lstStyle/>
                    <a:p>
                      <a:pPr algn="r">
                        <a:buNone/>
                      </a:pPr>
                      <a:r>
                        <a:rPr lang="en-IN"/>
                        <a:t>₹500</a:t>
                      </a:r>
                    </a:p>
                  </a:txBody>
                  <a:tcPr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FFFFF"/>
                    </a:solidFill>
                  </a:tcPr>
                </a:tc>
                <a:tc>
                  <a:txBody>
                    <a:bodyPr/>
                    <a:lstStyle/>
                    <a:p>
                      <a:pPr>
                        <a:buNone/>
                      </a:pPr>
                      <a:r>
                        <a:rPr lang="en-IN" dirty="0"/>
                        <a:t>Testing</a:t>
                      </a:r>
                    </a:p>
                  </a:txBody>
                  <a:tcPr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r">
                        <a:buNone/>
                      </a:pPr>
                      <a:r>
                        <a:rPr lang="en-IN"/>
                        <a:t>1</a:t>
                      </a:r>
                    </a:p>
                  </a:txBody>
                  <a:tcPr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8855">
                <a:tc>
                  <a:txBody>
                    <a:bodyPr/>
                    <a:lstStyle/>
                    <a:p>
                      <a:pPr>
                        <a:buNone/>
                      </a:pPr>
                      <a:r>
                        <a:rPr lang="en-IN" dirty="0"/>
                        <a:t>Domain</a:t>
                      </a:r>
                    </a:p>
                  </a:txBody>
                  <a:tcPr anchor="ctr">
                    <a:lnL w="12700" cap="flat" cmpd="sng" algn="ctr">
                      <a:solidFill>
                        <a:srgbClr val="DFE4EE"/>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5F7FB"/>
                    </a:solidFill>
                  </a:tcPr>
                </a:tc>
                <a:tc>
                  <a:txBody>
                    <a:bodyPr/>
                    <a:lstStyle/>
                    <a:p>
                      <a:pPr algn="r">
                        <a:buNone/>
                      </a:pPr>
                      <a:r>
                        <a:rPr lang="en-IN" dirty="0"/>
                        <a:t>1</a:t>
                      </a:r>
                    </a:p>
                  </a:txBody>
                  <a:tcPr anchor="ctr">
                    <a:lnL w="12700" cmpd="sng">
                      <a:noFill/>
                      <a:prstDash val="solid"/>
                    </a:lnL>
                    <a:lnR w="12700" cmpd="sng">
                      <a:noFill/>
                      <a:prstDash val="solid"/>
                    </a:lnR>
                    <a:lnT w="12700" cap="flat" cmpd="sng" algn="ctr">
                      <a:solidFill>
                        <a:srgbClr val="DFE4EE"/>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5F7FB"/>
                    </a:solidFill>
                  </a:tcPr>
                </a:tc>
                <a:tc>
                  <a:txBody>
                    <a:bodyPr/>
                    <a:lstStyle/>
                    <a:p>
                      <a:pPr algn="r">
                        <a:buNone/>
                      </a:pPr>
                      <a:r>
                        <a:rPr lang="en-IN" dirty="0"/>
                        <a:t>₹800</a:t>
                      </a:r>
                    </a:p>
                  </a:txBody>
                  <a:tcPr anchor="ctr">
                    <a:lnL w="12700" cmpd="sng">
                      <a:noFill/>
                      <a:prstDash val="solid"/>
                    </a:lnL>
                    <a:lnR w="12700" cap="flat" cmpd="sng" algn="ctr">
                      <a:solidFill>
                        <a:schemeClr val="tx1"/>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5F7FB"/>
                    </a:solidFill>
                  </a:tcPr>
                </a:tc>
                <a:tc>
                  <a:txBody>
                    <a:bodyPr/>
                    <a:lstStyle/>
                    <a:p>
                      <a:pPr>
                        <a:buNone/>
                      </a:pPr>
                      <a:r>
                        <a:rPr lang="en-IN" dirty="0"/>
                        <a:t>Domain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5F7FB"/>
                    </a:solidFill>
                  </a:tcPr>
                </a:tc>
                <a:tc>
                  <a:txBody>
                    <a:bodyPr/>
                    <a:lstStyle/>
                    <a:p>
                      <a:pPr algn="r">
                        <a:buNone/>
                      </a:pPr>
                      <a:r>
                        <a:rPr lang="en-IN" dirty="0"/>
                        <a:t>1</a:t>
                      </a:r>
                    </a:p>
                  </a:txBody>
                  <a:tcPr anchor="ctr">
                    <a:lnL w="12700" cap="flat" cmpd="sng" algn="ctr">
                      <a:solidFill>
                        <a:schemeClr val="tx1"/>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5F7FB"/>
                    </a:solidFill>
                  </a:tcPr>
                </a:tc>
                <a:extLst>
                  <a:ext uri="{0D108BD9-81ED-4DB2-BD59-A6C34878D82A}">
                    <a16:rowId xmlns:a16="http://schemas.microsoft.com/office/drawing/2014/main" val="10007"/>
                  </a:ext>
                </a:extLst>
              </a:tr>
            </a:tbl>
          </a:graphicData>
        </a:graphic>
      </p:graphicFrame>
      <p:sp>
        <p:nvSpPr>
          <p:cNvPr id="15" name="Date Placeholder"/>
          <p:cNvSpPr>
            <a:spLocks noGrp="1"/>
          </p:cNvSpPr>
          <p:nvPr>
            <p:ph type="dt" sz="quarter" idx="10"/>
          </p:nvPr>
        </p:nvSpPr>
        <p:spPr>
          <a:xfrm>
            <a:off x="502920" y="6382512"/>
            <a:ext cx="2926080" cy="256032"/>
          </a:xfrm>
          <a:prstGeom prst="rect">
            <a:avLst/>
          </a:prstGeom>
        </p:spPr>
        <p:txBody>
          <a:bodyPr vert="horz" lIns="0" tIns="0" rIns="0" bIns="0" rtlCol="0" anchor="ctr"/>
          <a:lstStyle>
            <a:lvl1pPr algn="l">
              <a:defRPr sz="900">
                <a:solidFill>
                  <a:srgbClr val="8A93A8"/>
                </a:solidFill>
                <a:latin typeface="Calibri" pitchFamily="34" charset="0"/>
                <a:cs typeface="Calibri" pitchFamily="34" charset="0"/>
              </a:defRPr>
            </a:lvl1pPr>
          </a:lstStyle>
          <a:p>
            <a:r>
              <a:rPr lang="en-IN" dirty="0"/>
              <a:t>25-07-2026</a:t>
            </a:r>
          </a:p>
        </p:txBody>
      </p:sp>
      <p:sp>
        <p:nvSpPr>
          <p:cNvPr id="16" name="Footer Placeholder"/>
          <p:cNvSpPr>
            <a:spLocks noGrp="1"/>
          </p:cNvSpPr>
          <p:nvPr>
            <p:ph type="ftr" sz="quarter" idx="11"/>
          </p:nvPr>
        </p:nvSpPr>
        <p:spPr>
          <a:xfrm>
            <a:off x="3657600" y="6382512"/>
            <a:ext cx="4873752" cy="256032"/>
          </a:xfrm>
          <a:prstGeom prst="rect">
            <a:avLst/>
          </a:prstGeom>
        </p:spPr>
        <p:txBody>
          <a:bodyPr vert="horz" lIns="0" tIns="0" rIns="0" bIns="0" rtlCol="0" anchor="ctr"/>
          <a:lstStyle>
            <a:lvl1pPr algn="ctr">
              <a:defRPr sz="900">
                <a:solidFill>
                  <a:srgbClr val="8A93A8"/>
                </a:solidFill>
                <a:latin typeface="Calibri" pitchFamily="34" charset="0"/>
                <a:cs typeface="Calibri" pitchFamily="34" charset="0"/>
              </a:defRPr>
            </a:lvl1pPr>
          </a:lstStyle>
          <a:p>
            <a:r>
              <a:rPr lang="en-IN"/>
              <a:t>Sri Eshwar College of Engineering  ·  Design Thinking &amp; Innovation</a:t>
            </a:r>
          </a:p>
        </p:txBody>
      </p:sp>
      <p:sp>
        <p:nvSpPr>
          <p:cNvPr id="17" name="Slide Number Placeholder"/>
          <p:cNvSpPr>
            <a:spLocks noGrp="1"/>
          </p:cNvSpPr>
          <p:nvPr>
            <p:ph type="sldNum" sz="quarter" idx="12"/>
          </p:nvPr>
        </p:nvSpPr>
        <p:spPr>
          <a:xfrm>
            <a:off x="10424160" y="6382512"/>
            <a:ext cx="1261872" cy="256032"/>
          </a:xfrm>
          <a:prstGeom prst="rect">
            <a:avLst/>
          </a:prstGeom>
        </p:spPr>
        <p:txBody>
          <a:bodyPr vert="horz" lIns="0" tIns="0" rIns="0" bIns="0" rtlCol="0" anchor="ctr"/>
          <a:lstStyle>
            <a:lvl1pPr algn="r">
              <a:defRPr sz="900">
                <a:solidFill>
                  <a:srgbClr val="8A93A8"/>
                </a:solidFill>
                <a:latin typeface="Calibri" pitchFamily="34" charset="0"/>
                <a:cs typeface="Calibri" pitchFamily="34" charset="0"/>
              </a:defRPr>
            </a:lvl1pPr>
          </a:lstStyle>
          <a:p>
            <a:pPr>
              <a:defRPr sz="1000">
                <a:solidFill>
                  <a:srgbClr val="475569"/>
                </a:solidFill>
                <a:latin typeface="Calibri"/>
              </a:defRPr>
            </a:pPr>
            <a:r>
              <a:t>9</a:t>
            </a:r>
            <a:endParaRPr lang="en-IN"/>
          </a:p>
        </p:txBody>
      </p:sp>
      <p:pic>
        <p:nvPicPr>
          <p:cNvPr id="8" name="Picture 7">
            <a:extLst>
              <a:ext uri="{FF2B5EF4-FFF2-40B4-BE49-F238E27FC236}">
                <a16:creationId xmlns:a16="http://schemas.microsoft.com/office/drawing/2014/main" id="{BF923C6C-F75F-E780-459D-E7C515A6E80F}"/>
              </a:ext>
            </a:extLst>
          </p:cNvPr>
          <p:cNvPicPr>
            <a:picLocks noChangeAspect="1"/>
          </p:cNvPicPr>
          <p:nvPr/>
        </p:nvPicPr>
        <p:blipFill>
          <a:blip r:embed="rId4"/>
          <a:stretch>
            <a:fillRect/>
          </a:stretch>
        </p:blipFill>
        <p:spPr>
          <a:xfrm>
            <a:off x="10363654" y="371776"/>
            <a:ext cx="1325426" cy="603504"/>
          </a:xfrm>
          <a:prstGeom prst="rect">
            <a:avLst/>
          </a:prstGeom>
        </p:spPr>
      </p:pic>
      <p:sp>
        <p:nvSpPr>
          <p:cNvPr id="7" name="TextBox 6">
            <a:extLst>
              <a:ext uri="{FF2B5EF4-FFF2-40B4-BE49-F238E27FC236}">
                <a16:creationId xmlns:a16="http://schemas.microsoft.com/office/drawing/2014/main" id="{A6524620-5E93-4EF8-4BB2-79DB88189984}"/>
              </a:ext>
            </a:extLst>
          </p:cNvPr>
          <p:cNvSpPr txBox="1"/>
          <p:nvPr/>
        </p:nvSpPr>
        <p:spPr>
          <a:xfrm>
            <a:off x="505968" y="5645634"/>
            <a:ext cx="6096000" cy="369332"/>
          </a:xfrm>
          <a:prstGeom prst="rect">
            <a:avLst/>
          </a:prstGeom>
          <a:noFill/>
        </p:spPr>
        <p:txBody>
          <a:bodyPr wrap="square">
            <a:spAutoFit/>
          </a:bodyPr>
          <a:lstStyle/>
          <a:p>
            <a:pPr>
              <a:buNone/>
            </a:pPr>
            <a:r>
              <a:rPr lang="en-IN" dirty="0"/>
              <a:t>Total Estimated Cost : ₹2,800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pic>
        <p:nvPicPr>
          <p:cNvPr id="2" name="Image 0" descr="assets/logo.png"/>
          <p:cNvPicPr>
            <a:picLocks noChangeAspect="1"/>
          </p:cNvPicPr>
          <p:nvPr/>
        </p:nvPicPr>
        <p:blipFill>
          <a:blip r:embed="rId3"/>
          <a:stretch>
            <a:fillRect/>
          </a:stretch>
        </p:blipFill>
        <p:spPr>
          <a:xfrm>
            <a:off x="457200" y="237744"/>
            <a:ext cx="1024128" cy="283464"/>
          </a:xfrm>
          <a:prstGeom prst="rect">
            <a:avLst/>
          </a:prstGeom>
        </p:spPr>
      </p:pic>
      <p:sp>
        <p:nvSpPr>
          <p:cNvPr id="4" name="Text 1"/>
          <p:cNvSpPr/>
          <p:nvPr/>
        </p:nvSpPr>
        <p:spPr>
          <a:xfrm>
            <a:off x="502920" y="658368"/>
            <a:ext cx="11183112" cy="457200"/>
          </a:xfrm>
          <a:prstGeom prst="rect">
            <a:avLst/>
          </a:prstGeom>
          <a:noFill/>
          <a:ln/>
        </p:spPr>
        <p:txBody>
          <a:bodyPr wrap="square" lIns="0" tIns="0" rIns="0" bIns="0" rtlCol="0" anchor="ctr"/>
          <a:lstStyle/>
          <a:p>
            <a:pPr marL="0" indent="0">
              <a:buNone/>
            </a:pPr>
            <a:r>
              <a:rPr lang="en-US" sz="2800" b="1" dirty="0">
                <a:solidFill>
                  <a:srgbClr val="071A45"/>
                </a:solidFill>
                <a:latin typeface="Calibri" pitchFamily="34" charset="0"/>
                <a:ea typeface="Calibri" pitchFamily="34" charset="-122"/>
                <a:cs typeface="Calibri" pitchFamily="34" charset="-120"/>
              </a:rPr>
              <a:t>Impact &amp; SDG Mapping</a:t>
            </a:r>
            <a:endParaRPr lang="en-US" sz="2800" dirty="0"/>
          </a:p>
        </p:txBody>
      </p:sp>
      <p:sp>
        <p:nvSpPr>
          <p:cNvPr id="6" name="Shape 3"/>
          <p:cNvSpPr/>
          <p:nvPr/>
        </p:nvSpPr>
        <p:spPr>
          <a:xfrm>
            <a:off x="502920" y="1153534"/>
            <a:ext cx="11183112" cy="0"/>
          </a:xfrm>
          <a:prstGeom prst="line">
            <a:avLst/>
          </a:prstGeom>
          <a:noFill/>
          <a:ln w="12700">
            <a:solidFill>
              <a:srgbClr val="DFE4EE"/>
            </a:solidFill>
            <a:prstDash val="solid"/>
          </a:ln>
        </p:spPr>
        <p:txBody>
          <a:bodyPr/>
          <a:p/>
        </p:txBody>
      </p:sp>
      <p:sp>
        <p:nvSpPr>
          <p:cNvPr id="7" name="Shape 4"/>
          <p:cNvSpPr/>
          <p:nvPr/>
        </p:nvSpPr>
        <p:spPr>
          <a:xfrm>
            <a:off x="502920" y="1382135"/>
            <a:ext cx="3611880" cy="2504065"/>
          </a:xfrm>
          <a:prstGeom prst="roundRect">
            <a:avLst>
              <a:gd name="adj" fmla="val 3478"/>
            </a:avLst>
          </a:prstGeom>
          <a:solidFill>
            <a:srgbClr val="F5F7FB"/>
          </a:solidFill>
          <a:ln w="12700">
            <a:solidFill>
              <a:srgbClr val="DFE4EE"/>
            </a:solidFill>
            <a:prstDash val="solid"/>
          </a:ln>
        </p:spPr>
        <p:txBody>
          <a:bodyPr/>
          <a:p/>
        </p:txBody>
      </p:sp>
      <p:pic>
        <p:nvPicPr>
          <p:cNvPr id="8" name="Image 1" descr="assets/ic_users.png"/>
          <p:cNvPicPr>
            <a:picLocks noChangeAspect="1"/>
          </p:cNvPicPr>
          <p:nvPr/>
        </p:nvPicPr>
        <p:blipFill>
          <a:blip r:embed="rId4"/>
          <a:stretch>
            <a:fillRect/>
          </a:stretch>
        </p:blipFill>
        <p:spPr>
          <a:xfrm>
            <a:off x="777240" y="1493062"/>
            <a:ext cx="292608" cy="292608"/>
          </a:xfrm>
          <a:prstGeom prst="rect">
            <a:avLst/>
          </a:prstGeom>
        </p:spPr>
      </p:pic>
      <p:sp>
        <p:nvSpPr>
          <p:cNvPr id="9" name="Text 5"/>
          <p:cNvSpPr/>
          <p:nvPr/>
        </p:nvSpPr>
        <p:spPr>
          <a:xfrm>
            <a:off x="1179576" y="1511348"/>
            <a:ext cx="2743200" cy="237744"/>
          </a:xfrm>
          <a:prstGeom prst="rect">
            <a:avLst/>
          </a:prstGeom>
          <a:noFill/>
          <a:ln/>
        </p:spPr>
        <p:txBody>
          <a:bodyPr wrap="square" lIns="0" tIns="0" rIns="0" bIns="0" rtlCol="0" anchor="ctr"/>
          <a:lstStyle/>
          <a:p>
            <a:pPr marL="0" indent="0" algn="l">
              <a:buNone/>
            </a:pPr>
            <a:r>
              <a:rPr lang="en-US" sz="1100" b="1" kern="0" spc="60" dirty="0">
                <a:solidFill>
                  <a:srgbClr val="5B6685"/>
                </a:solidFill>
                <a:latin typeface="Calibri" pitchFamily="34" charset="0"/>
                <a:ea typeface="Calibri" pitchFamily="34" charset="-122"/>
                <a:cs typeface="Calibri" pitchFamily="34" charset="-120"/>
              </a:rPr>
              <a:t>WHO BENEFITS</a:t>
            </a:r>
            <a:endParaRPr lang="en-US" sz="1100" dirty="0"/>
          </a:p>
        </p:txBody>
      </p:sp>
      <p:sp>
        <p:nvSpPr>
          <p:cNvPr id="10" name="Text 6"/>
          <p:cNvSpPr/>
          <p:nvPr/>
        </p:nvSpPr>
        <p:spPr>
          <a:xfrm>
            <a:off x="777240" y="1878305"/>
            <a:ext cx="3063240" cy="1825015"/>
          </a:xfrm>
          <a:prstGeom prst="rect">
            <a:avLst/>
          </a:prstGeom>
          <a:noFill/>
          <a:ln/>
        </p:spPr>
        <p:txBody>
          <a:bodyPr wrap="square" lIns="0" tIns="0" rIns="0" bIns="0" rtlCol="0" anchor="t"/>
          <a:lstStyle/>
          <a:p>
            <a:pPr>
              <a:lnSpc>
                <a:spcPct val="105000"/>
              </a:lnSpc>
            </a:pPr>
            <a:r>
              <a:rPr lang="en-IN" dirty="0"/>
              <a:t>College students seeking personalized learning support.</a:t>
            </a:r>
          </a:p>
          <a:p>
            <a:pPr>
              <a:lnSpc>
                <a:spcPct val="105000"/>
              </a:lnSpc>
            </a:pPr>
            <a:endParaRPr lang="en-IN" dirty="0">
              <a:solidFill>
                <a:srgbClr val="5B6685"/>
              </a:solidFill>
              <a:latin typeface="Calibri" pitchFamily="34" charset="0"/>
              <a:ea typeface="Calibri" pitchFamily="34" charset="-122"/>
              <a:cs typeface="Calibri" pitchFamily="34" charset="-120"/>
            </a:endParaRPr>
          </a:p>
          <a:p>
            <a:pPr>
              <a:lnSpc>
                <a:spcPct val="105000"/>
              </a:lnSpc>
            </a:pPr>
            <a:r>
              <a:rPr lang="en-IN" dirty="0"/>
              <a:t>Teachers, parents, and educational institutions.</a:t>
            </a:r>
            <a:endParaRPr lang="en-US" dirty="0"/>
          </a:p>
        </p:txBody>
      </p:sp>
      <p:sp>
        <p:nvSpPr>
          <p:cNvPr id="11" name="Shape 7"/>
          <p:cNvSpPr/>
          <p:nvPr/>
        </p:nvSpPr>
        <p:spPr>
          <a:xfrm>
            <a:off x="4306824" y="1382136"/>
            <a:ext cx="7640760" cy="2504064"/>
          </a:xfrm>
          <a:prstGeom prst="roundRect">
            <a:avLst>
              <a:gd name="adj" fmla="val 3478"/>
            </a:avLst>
          </a:prstGeom>
          <a:solidFill>
            <a:srgbClr val="E9EFFC"/>
          </a:solidFill>
          <a:ln w="12700">
            <a:solidFill>
              <a:srgbClr val="C3CDE8"/>
            </a:solidFill>
            <a:prstDash val="solid"/>
          </a:ln>
        </p:spPr>
        <p:txBody>
          <a:bodyPr/>
          <a:p/>
        </p:txBody>
      </p:sp>
      <p:pic>
        <p:nvPicPr>
          <p:cNvPr id="12" name="Image 2" descr="assets/ic_target.png"/>
          <p:cNvPicPr>
            <a:picLocks noChangeAspect="1"/>
          </p:cNvPicPr>
          <p:nvPr/>
        </p:nvPicPr>
        <p:blipFill>
          <a:blip r:embed="rId5"/>
          <a:stretch>
            <a:fillRect/>
          </a:stretch>
        </p:blipFill>
        <p:spPr>
          <a:xfrm>
            <a:off x="4581144" y="1501688"/>
            <a:ext cx="292608" cy="292608"/>
          </a:xfrm>
          <a:prstGeom prst="rect">
            <a:avLst/>
          </a:prstGeom>
        </p:spPr>
      </p:pic>
      <p:sp>
        <p:nvSpPr>
          <p:cNvPr id="13" name="Text 8"/>
          <p:cNvSpPr/>
          <p:nvPr/>
        </p:nvSpPr>
        <p:spPr>
          <a:xfrm>
            <a:off x="4983480" y="1494093"/>
            <a:ext cx="2743200" cy="237744"/>
          </a:xfrm>
          <a:prstGeom prst="rect">
            <a:avLst/>
          </a:prstGeom>
          <a:noFill/>
          <a:ln/>
        </p:spPr>
        <p:txBody>
          <a:bodyPr wrap="square" lIns="0" tIns="0" rIns="0" bIns="0" rtlCol="0" anchor="ctr"/>
          <a:lstStyle/>
          <a:p>
            <a:pPr marL="0" indent="0" algn="l">
              <a:buNone/>
            </a:pPr>
            <a:r>
              <a:rPr lang="en-US" sz="1100" b="1" kern="0" spc="60" dirty="0">
                <a:solidFill>
                  <a:srgbClr val="071A45"/>
                </a:solidFill>
                <a:latin typeface="Calibri" pitchFamily="34" charset="0"/>
                <a:ea typeface="Calibri" pitchFamily="34" charset="-122"/>
                <a:cs typeface="Calibri" pitchFamily="34" charset="-120"/>
              </a:rPr>
              <a:t>MEASURABLE IMPACT</a:t>
            </a:r>
            <a:endParaRPr lang="en-US" sz="1100" dirty="0"/>
          </a:p>
        </p:txBody>
      </p:sp>
      <p:sp>
        <p:nvSpPr>
          <p:cNvPr id="14" name="Text 9"/>
          <p:cNvSpPr/>
          <p:nvPr/>
        </p:nvSpPr>
        <p:spPr>
          <a:xfrm>
            <a:off x="4581144" y="1878305"/>
            <a:ext cx="7196328" cy="1825015"/>
          </a:xfrm>
          <a:prstGeom prst="rect">
            <a:avLst/>
          </a:prstGeom>
          <a:noFill/>
          <a:ln/>
        </p:spPr>
        <p:txBody>
          <a:bodyPr wrap="square" lIns="0" tIns="0" rIns="0" bIns="0" rtlCol="0" anchor="t"/>
          <a:lstStyle/>
          <a:p>
            <a:pPr>
              <a:lnSpc>
                <a:spcPct val="105000"/>
              </a:lnSpc>
            </a:pPr>
            <a:r>
              <a:rPr lang="en-IN" dirty="0"/>
              <a:t>Saves </a:t>
            </a:r>
            <a:r>
              <a:rPr lang="en-IN" b="1" dirty="0"/>
              <a:t>2–3 hours per week</a:t>
            </a:r>
            <a:r>
              <a:rPr lang="en-IN" dirty="0"/>
              <a:t> by generating personalized study plans. Improves academic performance through targeted learning. Increases study consistency and reduces exam-related stress by helping students focus on weak topics.</a:t>
            </a:r>
            <a:endParaRPr lang="en-US" dirty="0"/>
          </a:p>
        </p:txBody>
      </p:sp>
      <p:sp>
        <p:nvSpPr>
          <p:cNvPr id="19" name="Shape 13"/>
          <p:cNvSpPr/>
          <p:nvPr/>
        </p:nvSpPr>
        <p:spPr>
          <a:xfrm>
            <a:off x="502919" y="4069080"/>
            <a:ext cx="11444665" cy="1965960"/>
          </a:xfrm>
          <a:prstGeom prst="roundRect">
            <a:avLst>
              <a:gd name="adj" fmla="val 3721"/>
            </a:avLst>
          </a:prstGeom>
          <a:solidFill>
            <a:srgbClr val="F5F7FB"/>
          </a:solidFill>
          <a:ln w="12700">
            <a:solidFill>
              <a:srgbClr val="DFE4EE"/>
            </a:solidFill>
            <a:prstDash val="solid"/>
          </a:ln>
        </p:spPr>
        <p:txBody>
          <a:bodyPr/>
          <a:p/>
        </p:txBody>
      </p:sp>
      <p:pic>
        <p:nvPicPr>
          <p:cNvPr id="20" name="Image 4" descr="assets/ic_globe.png"/>
          <p:cNvPicPr>
            <a:picLocks noChangeAspect="1"/>
          </p:cNvPicPr>
          <p:nvPr/>
        </p:nvPicPr>
        <p:blipFill>
          <a:blip r:embed="rId6"/>
          <a:stretch>
            <a:fillRect/>
          </a:stretch>
        </p:blipFill>
        <p:spPr>
          <a:xfrm>
            <a:off x="822960" y="4279392"/>
            <a:ext cx="310896" cy="310896"/>
          </a:xfrm>
          <a:prstGeom prst="rect">
            <a:avLst/>
          </a:prstGeom>
        </p:spPr>
      </p:pic>
      <p:sp>
        <p:nvSpPr>
          <p:cNvPr id="21" name="Text 14"/>
          <p:cNvSpPr/>
          <p:nvPr/>
        </p:nvSpPr>
        <p:spPr>
          <a:xfrm>
            <a:off x="1234440" y="4297680"/>
            <a:ext cx="5486400" cy="237744"/>
          </a:xfrm>
          <a:prstGeom prst="rect">
            <a:avLst/>
          </a:prstGeom>
          <a:noFill/>
          <a:ln/>
        </p:spPr>
        <p:txBody>
          <a:bodyPr wrap="square" lIns="0" tIns="0" rIns="0" bIns="0" rtlCol="0" anchor="ctr"/>
          <a:lstStyle/>
          <a:p>
            <a:pPr marL="0" indent="0" algn="l">
              <a:buNone/>
            </a:pPr>
            <a:r>
              <a:rPr lang="en-US" sz="1150" b="1" kern="0" spc="60" dirty="0">
                <a:solidFill>
                  <a:srgbClr val="071A45"/>
                </a:solidFill>
                <a:latin typeface="Calibri" pitchFamily="34" charset="0"/>
                <a:ea typeface="Calibri" pitchFamily="34" charset="-122"/>
                <a:cs typeface="Calibri" pitchFamily="34" charset="-120"/>
              </a:rPr>
              <a:t>UN SUSTAINABLE DEVELOPMENT GOALS</a:t>
            </a:r>
            <a:endParaRPr lang="en-US" sz="1150" dirty="0"/>
          </a:p>
        </p:txBody>
      </p:sp>
      <p:sp>
        <p:nvSpPr>
          <p:cNvPr id="22" name="Shape 15"/>
          <p:cNvSpPr/>
          <p:nvPr/>
        </p:nvSpPr>
        <p:spPr>
          <a:xfrm>
            <a:off x="822960" y="4754880"/>
            <a:ext cx="1152144" cy="310896"/>
          </a:xfrm>
          <a:prstGeom prst="roundRect">
            <a:avLst>
              <a:gd name="adj" fmla="val 17647"/>
            </a:avLst>
          </a:prstGeom>
          <a:solidFill>
            <a:srgbClr val="FFFFFF"/>
          </a:solidFill>
          <a:ln w="12700">
            <a:solidFill>
              <a:srgbClr val="C3CDE8"/>
            </a:solidFill>
            <a:prstDash val="solid"/>
          </a:ln>
        </p:spPr>
        <p:txBody>
          <a:bodyPr/>
          <a:p/>
        </p:txBody>
      </p:sp>
      <p:sp>
        <p:nvSpPr>
          <p:cNvPr id="23" name="Text 16"/>
          <p:cNvSpPr/>
          <p:nvPr/>
        </p:nvSpPr>
        <p:spPr>
          <a:xfrm>
            <a:off x="822960" y="4754880"/>
            <a:ext cx="1152144" cy="310896"/>
          </a:xfrm>
          <a:prstGeom prst="rect">
            <a:avLst/>
          </a:prstGeom>
          <a:noFill/>
          <a:ln/>
        </p:spPr>
        <p:txBody>
          <a:bodyPr wrap="square" lIns="0" tIns="0" rIns="0" bIns="0" rtlCol="0" anchor="ctr"/>
          <a:lstStyle/>
          <a:p>
            <a:pPr marL="0" indent="0" algn="ctr">
              <a:buNone/>
            </a:pPr>
            <a:r>
              <a:rPr lang="en-US" sz="750" dirty="0">
                <a:solidFill>
                  <a:srgbClr val="071A45"/>
                </a:solidFill>
                <a:latin typeface="Calibri" pitchFamily="34" charset="0"/>
                <a:ea typeface="Calibri" pitchFamily="34" charset="-122"/>
                <a:cs typeface="Calibri" pitchFamily="34" charset="-120"/>
              </a:rPr>
              <a:t>1 No Poverty</a:t>
            </a:r>
            <a:endParaRPr lang="en-US" sz="750" dirty="0"/>
          </a:p>
        </p:txBody>
      </p:sp>
      <p:sp>
        <p:nvSpPr>
          <p:cNvPr id="24" name="Shape 17"/>
          <p:cNvSpPr/>
          <p:nvPr/>
        </p:nvSpPr>
        <p:spPr>
          <a:xfrm>
            <a:off x="2048256" y="4754880"/>
            <a:ext cx="1152144" cy="310896"/>
          </a:xfrm>
          <a:prstGeom prst="roundRect">
            <a:avLst>
              <a:gd name="adj" fmla="val 17647"/>
            </a:avLst>
          </a:prstGeom>
          <a:solidFill>
            <a:srgbClr val="FFFFFF"/>
          </a:solidFill>
          <a:ln w="12700">
            <a:solidFill>
              <a:srgbClr val="C3CDE8"/>
            </a:solidFill>
            <a:prstDash val="solid"/>
          </a:ln>
        </p:spPr>
        <p:txBody>
          <a:bodyPr/>
          <a:p/>
        </p:txBody>
      </p:sp>
      <p:sp>
        <p:nvSpPr>
          <p:cNvPr id="25" name="Text 18"/>
          <p:cNvSpPr/>
          <p:nvPr/>
        </p:nvSpPr>
        <p:spPr>
          <a:xfrm>
            <a:off x="2048256" y="4754880"/>
            <a:ext cx="1152144" cy="310896"/>
          </a:xfrm>
          <a:prstGeom prst="rect">
            <a:avLst/>
          </a:prstGeom>
          <a:noFill/>
          <a:ln/>
        </p:spPr>
        <p:txBody>
          <a:bodyPr wrap="square" lIns="0" tIns="0" rIns="0" bIns="0" rtlCol="0" anchor="ctr"/>
          <a:lstStyle/>
          <a:p>
            <a:pPr marL="0" indent="0" algn="ctr">
              <a:buNone/>
            </a:pPr>
            <a:r>
              <a:rPr lang="en-US" sz="750" dirty="0">
                <a:solidFill>
                  <a:srgbClr val="071A45"/>
                </a:solidFill>
                <a:latin typeface="Calibri" pitchFamily="34" charset="0"/>
                <a:ea typeface="Calibri" pitchFamily="34" charset="-122"/>
                <a:cs typeface="Calibri" pitchFamily="34" charset="-120"/>
              </a:rPr>
              <a:t>2 Zero Hunger</a:t>
            </a:r>
            <a:endParaRPr lang="en-US" sz="750" dirty="0"/>
          </a:p>
        </p:txBody>
      </p:sp>
      <p:sp>
        <p:nvSpPr>
          <p:cNvPr id="26" name="Shape 19"/>
          <p:cNvSpPr/>
          <p:nvPr/>
        </p:nvSpPr>
        <p:spPr>
          <a:xfrm>
            <a:off x="3273552" y="4754880"/>
            <a:ext cx="1152144" cy="310896"/>
          </a:xfrm>
          <a:prstGeom prst="roundRect">
            <a:avLst>
              <a:gd name="adj" fmla="val 17647"/>
            </a:avLst>
          </a:prstGeom>
          <a:solidFill>
            <a:srgbClr val="FFFFFF"/>
          </a:solidFill>
          <a:ln w="12700">
            <a:solidFill>
              <a:srgbClr val="C3CDE8"/>
            </a:solidFill>
            <a:prstDash val="solid"/>
          </a:ln>
        </p:spPr>
        <p:txBody>
          <a:bodyPr/>
          <a:p/>
        </p:txBody>
      </p:sp>
      <p:sp>
        <p:nvSpPr>
          <p:cNvPr id="27" name="Text 20"/>
          <p:cNvSpPr/>
          <p:nvPr/>
        </p:nvSpPr>
        <p:spPr>
          <a:xfrm>
            <a:off x="3273552" y="4754880"/>
            <a:ext cx="1152144" cy="310896"/>
          </a:xfrm>
          <a:prstGeom prst="rect">
            <a:avLst/>
          </a:prstGeom>
          <a:noFill/>
          <a:ln/>
        </p:spPr>
        <p:txBody>
          <a:bodyPr wrap="square" lIns="0" tIns="0" rIns="0" bIns="0" rtlCol="0" anchor="ctr"/>
          <a:lstStyle/>
          <a:p>
            <a:pPr marL="0" indent="0" algn="ctr">
              <a:buNone/>
            </a:pPr>
            <a:r>
              <a:rPr lang="en-US" sz="750" dirty="0">
                <a:solidFill>
                  <a:srgbClr val="071A45"/>
                </a:solidFill>
                <a:latin typeface="Calibri" pitchFamily="34" charset="0"/>
                <a:ea typeface="Calibri" pitchFamily="34" charset="-122"/>
                <a:cs typeface="Calibri" pitchFamily="34" charset="-120"/>
              </a:rPr>
              <a:t>3 Good Health</a:t>
            </a:r>
            <a:endParaRPr lang="en-US" sz="750" dirty="0"/>
          </a:p>
        </p:txBody>
      </p:sp>
      <p:sp>
        <p:nvSpPr>
          <p:cNvPr id="28" name="Shape 21"/>
          <p:cNvSpPr/>
          <p:nvPr/>
        </p:nvSpPr>
        <p:spPr>
          <a:xfrm>
            <a:off x="4498848" y="4754880"/>
            <a:ext cx="1152144" cy="310896"/>
          </a:xfrm>
          <a:prstGeom prst="roundRect">
            <a:avLst>
              <a:gd name="adj" fmla="val 17647"/>
            </a:avLst>
          </a:prstGeom>
          <a:solidFill>
            <a:srgbClr val="0070C0"/>
          </a:solidFill>
          <a:ln w="12700">
            <a:solidFill>
              <a:srgbClr val="C3CDE8"/>
            </a:solidFill>
            <a:prstDash val="solid"/>
          </a:ln>
        </p:spPr>
        <p:txBody>
          <a:bodyPr/>
          <a:p/>
        </p:txBody>
      </p:sp>
      <p:sp>
        <p:nvSpPr>
          <p:cNvPr id="29" name="Text 22"/>
          <p:cNvSpPr/>
          <p:nvPr/>
        </p:nvSpPr>
        <p:spPr>
          <a:xfrm>
            <a:off x="4498848" y="4754880"/>
            <a:ext cx="1152144" cy="310896"/>
          </a:xfrm>
          <a:prstGeom prst="rect">
            <a:avLst/>
          </a:prstGeom>
          <a:noFill/>
          <a:ln/>
        </p:spPr>
        <p:txBody>
          <a:bodyPr wrap="square" lIns="0" tIns="0" rIns="0" bIns="0" rtlCol="0" anchor="ctr"/>
          <a:lstStyle/>
          <a:p>
            <a:pPr marL="0" indent="0" algn="ctr">
              <a:buNone/>
            </a:pPr>
            <a:r>
              <a:rPr lang="en-US" sz="750" dirty="0">
                <a:solidFill>
                  <a:srgbClr val="071A45"/>
                </a:solidFill>
                <a:latin typeface="Calibri" pitchFamily="34" charset="0"/>
                <a:ea typeface="Calibri" pitchFamily="34" charset="-122"/>
                <a:cs typeface="Calibri" pitchFamily="34" charset="-120"/>
              </a:rPr>
              <a:t>4 Quality Education</a:t>
            </a:r>
            <a:endParaRPr lang="en-US" sz="750" dirty="0"/>
          </a:p>
        </p:txBody>
      </p:sp>
      <p:sp>
        <p:nvSpPr>
          <p:cNvPr id="30" name="Shape 23"/>
          <p:cNvSpPr/>
          <p:nvPr/>
        </p:nvSpPr>
        <p:spPr>
          <a:xfrm>
            <a:off x="5724144" y="4754880"/>
            <a:ext cx="1152144" cy="310896"/>
          </a:xfrm>
          <a:prstGeom prst="roundRect">
            <a:avLst>
              <a:gd name="adj" fmla="val 17647"/>
            </a:avLst>
          </a:prstGeom>
          <a:solidFill>
            <a:srgbClr val="FFFFFF"/>
          </a:solidFill>
          <a:ln w="12700">
            <a:solidFill>
              <a:srgbClr val="C3CDE8"/>
            </a:solidFill>
            <a:prstDash val="solid"/>
          </a:ln>
        </p:spPr>
        <p:txBody>
          <a:bodyPr/>
          <a:p/>
        </p:txBody>
      </p:sp>
      <p:sp>
        <p:nvSpPr>
          <p:cNvPr id="31" name="Text 24"/>
          <p:cNvSpPr/>
          <p:nvPr/>
        </p:nvSpPr>
        <p:spPr>
          <a:xfrm>
            <a:off x="5724144" y="4754880"/>
            <a:ext cx="1152144" cy="310896"/>
          </a:xfrm>
          <a:prstGeom prst="rect">
            <a:avLst/>
          </a:prstGeom>
          <a:noFill/>
          <a:ln/>
        </p:spPr>
        <p:txBody>
          <a:bodyPr wrap="square" lIns="0" tIns="0" rIns="0" bIns="0" rtlCol="0" anchor="ctr"/>
          <a:lstStyle/>
          <a:p>
            <a:pPr marL="0" indent="0" algn="ctr">
              <a:buNone/>
            </a:pPr>
            <a:r>
              <a:rPr lang="en-US" sz="750" dirty="0">
                <a:solidFill>
                  <a:srgbClr val="071A45"/>
                </a:solidFill>
                <a:latin typeface="Calibri" pitchFamily="34" charset="0"/>
                <a:ea typeface="Calibri" pitchFamily="34" charset="-122"/>
                <a:cs typeface="Calibri" pitchFamily="34" charset="-120"/>
              </a:rPr>
              <a:t>5 Gender Equality</a:t>
            </a:r>
            <a:endParaRPr lang="en-US" sz="750" dirty="0"/>
          </a:p>
        </p:txBody>
      </p:sp>
      <p:sp>
        <p:nvSpPr>
          <p:cNvPr id="32" name="Shape 25"/>
          <p:cNvSpPr/>
          <p:nvPr/>
        </p:nvSpPr>
        <p:spPr>
          <a:xfrm>
            <a:off x="6949440" y="4754880"/>
            <a:ext cx="1152144" cy="310896"/>
          </a:xfrm>
          <a:prstGeom prst="roundRect">
            <a:avLst>
              <a:gd name="adj" fmla="val 17647"/>
            </a:avLst>
          </a:prstGeom>
          <a:solidFill>
            <a:srgbClr val="FFFFFF"/>
          </a:solidFill>
          <a:ln w="12700">
            <a:solidFill>
              <a:srgbClr val="C3CDE8"/>
            </a:solidFill>
            <a:prstDash val="solid"/>
          </a:ln>
        </p:spPr>
        <p:txBody>
          <a:bodyPr/>
          <a:p/>
        </p:txBody>
      </p:sp>
      <p:sp>
        <p:nvSpPr>
          <p:cNvPr id="33" name="Text 26"/>
          <p:cNvSpPr/>
          <p:nvPr/>
        </p:nvSpPr>
        <p:spPr>
          <a:xfrm>
            <a:off x="6949440" y="4754880"/>
            <a:ext cx="1152144" cy="310896"/>
          </a:xfrm>
          <a:prstGeom prst="rect">
            <a:avLst/>
          </a:prstGeom>
          <a:noFill/>
          <a:ln/>
        </p:spPr>
        <p:txBody>
          <a:bodyPr wrap="square" lIns="0" tIns="0" rIns="0" bIns="0" rtlCol="0" anchor="ctr"/>
          <a:lstStyle/>
          <a:p>
            <a:pPr marL="0" indent="0" algn="ctr">
              <a:buNone/>
            </a:pPr>
            <a:r>
              <a:rPr lang="en-US" sz="750" dirty="0">
                <a:solidFill>
                  <a:srgbClr val="071A45"/>
                </a:solidFill>
                <a:latin typeface="Calibri" pitchFamily="34" charset="0"/>
                <a:ea typeface="Calibri" pitchFamily="34" charset="-122"/>
                <a:cs typeface="Calibri" pitchFamily="34" charset="-120"/>
              </a:rPr>
              <a:t>6 Clean Water</a:t>
            </a:r>
            <a:endParaRPr lang="en-US" sz="750" dirty="0"/>
          </a:p>
        </p:txBody>
      </p:sp>
      <p:sp>
        <p:nvSpPr>
          <p:cNvPr id="34" name="Shape 27"/>
          <p:cNvSpPr/>
          <p:nvPr/>
        </p:nvSpPr>
        <p:spPr>
          <a:xfrm>
            <a:off x="8174736" y="4754880"/>
            <a:ext cx="1152144" cy="310896"/>
          </a:xfrm>
          <a:prstGeom prst="roundRect">
            <a:avLst>
              <a:gd name="adj" fmla="val 17647"/>
            </a:avLst>
          </a:prstGeom>
          <a:solidFill>
            <a:srgbClr val="FFFFFF"/>
          </a:solidFill>
          <a:ln w="12700">
            <a:solidFill>
              <a:srgbClr val="C3CDE8"/>
            </a:solidFill>
            <a:prstDash val="solid"/>
          </a:ln>
        </p:spPr>
        <p:txBody>
          <a:bodyPr/>
          <a:p/>
        </p:txBody>
      </p:sp>
      <p:sp>
        <p:nvSpPr>
          <p:cNvPr id="35" name="Text 28"/>
          <p:cNvSpPr/>
          <p:nvPr/>
        </p:nvSpPr>
        <p:spPr>
          <a:xfrm>
            <a:off x="8174736" y="4754880"/>
            <a:ext cx="1152144" cy="310896"/>
          </a:xfrm>
          <a:prstGeom prst="rect">
            <a:avLst/>
          </a:prstGeom>
          <a:noFill/>
          <a:ln/>
        </p:spPr>
        <p:txBody>
          <a:bodyPr wrap="square" lIns="0" tIns="0" rIns="0" bIns="0" rtlCol="0" anchor="ctr"/>
          <a:lstStyle/>
          <a:p>
            <a:pPr marL="0" indent="0" algn="ctr">
              <a:buNone/>
            </a:pPr>
            <a:r>
              <a:rPr lang="en-US" sz="750" dirty="0">
                <a:solidFill>
                  <a:srgbClr val="071A45"/>
                </a:solidFill>
                <a:latin typeface="Calibri" pitchFamily="34" charset="0"/>
                <a:ea typeface="Calibri" pitchFamily="34" charset="-122"/>
                <a:cs typeface="Calibri" pitchFamily="34" charset="-120"/>
              </a:rPr>
              <a:t>7 Clean Energy</a:t>
            </a:r>
            <a:endParaRPr lang="en-US" sz="750" dirty="0"/>
          </a:p>
        </p:txBody>
      </p:sp>
      <p:sp>
        <p:nvSpPr>
          <p:cNvPr id="36" name="Shape 29"/>
          <p:cNvSpPr/>
          <p:nvPr/>
        </p:nvSpPr>
        <p:spPr>
          <a:xfrm>
            <a:off x="9400032" y="4754880"/>
            <a:ext cx="1152144" cy="310896"/>
          </a:xfrm>
          <a:prstGeom prst="roundRect">
            <a:avLst>
              <a:gd name="adj" fmla="val 17647"/>
            </a:avLst>
          </a:prstGeom>
          <a:solidFill>
            <a:srgbClr val="FFFFFF"/>
          </a:solidFill>
          <a:ln w="12700">
            <a:solidFill>
              <a:srgbClr val="C3CDE8"/>
            </a:solidFill>
            <a:prstDash val="solid"/>
          </a:ln>
        </p:spPr>
        <p:txBody>
          <a:bodyPr/>
          <a:p/>
        </p:txBody>
      </p:sp>
      <p:sp>
        <p:nvSpPr>
          <p:cNvPr id="37" name="Text 30"/>
          <p:cNvSpPr/>
          <p:nvPr/>
        </p:nvSpPr>
        <p:spPr>
          <a:xfrm>
            <a:off x="9400032" y="4754880"/>
            <a:ext cx="1152144" cy="310896"/>
          </a:xfrm>
          <a:prstGeom prst="rect">
            <a:avLst/>
          </a:prstGeom>
          <a:noFill/>
          <a:ln/>
        </p:spPr>
        <p:txBody>
          <a:bodyPr wrap="square" lIns="0" tIns="0" rIns="0" bIns="0" rtlCol="0" anchor="ctr"/>
          <a:lstStyle/>
          <a:p>
            <a:pPr marL="0" indent="0" algn="ctr">
              <a:buNone/>
            </a:pPr>
            <a:r>
              <a:rPr lang="en-US" sz="750" dirty="0">
                <a:solidFill>
                  <a:srgbClr val="071A45"/>
                </a:solidFill>
                <a:latin typeface="Calibri" pitchFamily="34" charset="0"/>
                <a:ea typeface="Calibri" pitchFamily="34" charset="-122"/>
                <a:cs typeface="Calibri" pitchFamily="34" charset="-120"/>
              </a:rPr>
              <a:t>8 Decent Work</a:t>
            </a:r>
            <a:endParaRPr lang="en-US" sz="750" dirty="0"/>
          </a:p>
        </p:txBody>
      </p:sp>
      <p:sp>
        <p:nvSpPr>
          <p:cNvPr id="38" name="Shape 31"/>
          <p:cNvSpPr/>
          <p:nvPr/>
        </p:nvSpPr>
        <p:spPr>
          <a:xfrm>
            <a:off x="10625328" y="4754880"/>
            <a:ext cx="1152144" cy="310896"/>
          </a:xfrm>
          <a:prstGeom prst="roundRect">
            <a:avLst>
              <a:gd name="adj" fmla="val 17647"/>
            </a:avLst>
          </a:prstGeom>
          <a:solidFill>
            <a:srgbClr val="FFFFFF"/>
          </a:solidFill>
          <a:ln w="12700">
            <a:solidFill>
              <a:srgbClr val="C3CDE8"/>
            </a:solidFill>
            <a:prstDash val="solid"/>
          </a:ln>
        </p:spPr>
        <p:txBody>
          <a:bodyPr/>
          <a:p/>
        </p:txBody>
      </p:sp>
      <p:sp>
        <p:nvSpPr>
          <p:cNvPr id="39" name="Text 32"/>
          <p:cNvSpPr/>
          <p:nvPr/>
        </p:nvSpPr>
        <p:spPr>
          <a:xfrm>
            <a:off x="10625328" y="4754880"/>
            <a:ext cx="1152144" cy="310896"/>
          </a:xfrm>
          <a:prstGeom prst="rect">
            <a:avLst/>
          </a:prstGeom>
          <a:noFill/>
          <a:ln/>
        </p:spPr>
        <p:txBody>
          <a:bodyPr wrap="square" lIns="0" tIns="0" rIns="0" bIns="0" rtlCol="0" anchor="ctr"/>
          <a:lstStyle/>
          <a:p>
            <a:pPr marL="0" indent="0" algn="ctr">
              <a:buNone/>
            </a:pPr>
            <a:r>
              <a:rPr lang="en-US" sz="750" dirty="0">
                <a:solidFill>
                  <a:srgbClr val="071A45"/>
                </a:solidFill>
                <a:latin typeface="Calibri" pitchFamily="34" charset="0"/>
                <a:ea typeface="Calibri" pitchFamily="34" charset="-122"/>
                <a:cs typeface="Calibri" pitchFamily="34" charset="-120"/>
              </a:rPr>
              <a:t>9 Industry &amp; Innovation</a:t>
            </a:r>
            <a:endParaRPr lang="en-US" sz="750" dirty="0"/>
          </a:p>
        </p:txBody>
      </p:sp>
      <p:sp>
        <p:nvSpPr>
          <p:cNvPr id="40" name="Shape 33"/>
          <p:cNvSpPr/>
          <p:nvPr/>
        </p:nvSpPr>
        <p:spPr>
          <a:xfrm>
            <a:off x="822960" y="5138928"/>
            <a:ext cx="1152144" cy="310896"/>
          </a:xfrm>
          <a:prstGeom prst="roundRect">
            <a:avLst>
              <a:gd name="adj" fmla="val 17647"/>
            </a:avLst>
          </a:prstGeom>
          <a:solidFill>
            <a:srgbClr val="FFFFFF"/>
          </a:solidFill>
          <a:ln w="12700">
            <a:solidFill>
              <a:srgbClr val="C3CDE8"/>
            </a:solidFill>
            <a:prstDash val="solid"/>
          </a:ln>
        </p:spPr>
        <p:txBody>
          <a:bodyPr/>
          <a:p/>
        </p:txBody>
      </p:sp>
      <p:sp>
        <p:nvSpPr>
          <p:cNvPr id="41" name="Text 34"/>
          <p:cNvSpPr/>
          <p:nvPr/>
        </p:nvSpPr>
        <p:spPr>
          <a:xfrm>
            <a:off x="822960" y="5138928"/>
            <a:ext cx="1152144" cy="310896"/>
          </a:xfrm>
          <a:prstGeom prst="rect">
            <a:avLst/>
          </a:prstGeom>
          <a:noFill/>
          <a:ln/>
        </p:spPr>
        <p:txBody>
          <a:bodyPr wrap="square" lIns="0" tIns="0" rIns="0" bIns="0" rtlCol="0" anchor="ctr"/>
          <a:lstStyle/>
          <a:p>
            <a:pPr marL="0" indent="0" algn="ctr">
              <a:buNone/>
            </a:pPr>
            <a:r>
              <a:rPr lang="en-US" sz="750" dirty="0">
                <a:solidFill>
                  <a:srgbClr val="071A45"/>
                </a:solidFill>
                <a:latin typeface="Calibri" pitchFamily="34" charset="0"/>
                <a:ea typeface="Calibri" pitchFamily="34" charset="-122"/>
                <a:cs typeface="Calibri" pitchFamily="34" charset="-120"/>
              </a:rPr>
              <a:t>10 Reduced Inequalities</a:t>
            </a:r>
            <a:endParaRPr lang="en-US" sz="750" dirty="0"/>
          </a:p>
        </p:txBody>
      </p:sp>
      <p:sp>
        <p:nvSpPr>
          <p:cNvPr id="42" name="Shape 35"/>
          <p:cNvSpPr/>
          <p:nvPr/>
        </p:nvSpPr>
        <p:spPr>
          <a:xfrm>
            <a:off x="2048256" y="5138928"/>
            <a:ext cx="1152144" cy="310896"/>
          </a:xfrm>
          <a:prstGeom prst="roundRect">
            <a:avLst>
              <a:gd name="adj" fmla="val 17647"/>
            </a:avLst>
          </a:prstGeom>
          <a:solidFill>
            <a:srgbClr val="FFFFFF"/>
          </a:solidFill>
          <a:ln w="12700">
            <a:solidFill>
              <a:srgbClr val="C3CDE8"/>
            </a:solidFill>
            <a:prstDash val="solid"/>
          </a:ln>
        </p:spPr>
        <p:txBody>
          <a:bodyPr/>
          <a:p/>
        </p:txBody>
      </p:sp>
      <p:sp>
        <p:nvSpPr>
          <p:cNvPr id="43" name="Text 36"/>
          <p:cNvSpPr/>
          <p:nvPr/>
        </p:nvSpPr>
        <p:spPr>
          <a:xfrm>
            <a:off x="2048256" y="5138928"/>
            <a:ext cx="1152144" cy="310896"/>
          </a:xfrm>
          <a:prstGeom prst="rect">
            <a:avLst/>
          </a:prstGeom>
          <a:noFill/>
          <a:ln/>
        </p:spPr>
        <p:txBody>
          <a:bodyPr wrap="square" lIns="0" tIns="0" rIns="0" bIns="0" rtlCol="0" anchor="ctr"/>
          <a:lstStyle/>
          <a:p>
            <a:pPr marL="0" indent="0" algn="ctr">
              <a:buNone/>
            </a:pPr>
            <a:r>
              <a:rPr lang="en-US" sz="750" dirty="0">
                <a:solidFill>
                  <a:srgbClr val="071A45"/>
                </a:solidFill>
                <a:latin typeface="Calibri" pitchFamily="34" charset="0"/>
                <a:ea typeface="Calibri" pitchFamily="34" charset="-122"/>
                <a:cs typeface="Calibri" pitchFamily="34" charset="-120"/>
              </a:rPr>
              <a:t>11 Sustainable Cities</a:t>
            </a:r>
            <a:endParaRPr lang="en-US" sz="750" dirty="0"/>
          </a:p>
        </p:txBody>
      </p:sp>
      <p:sp>
        <p:nvSpPr>
          <p:cNvPr id="44" name="Shape 37"/>
          <p:cNvSpPr/>
          <p:nvPr/>
        </p:nvSpPr>
        <p:spPr>
          <a:xfrm>
            <a:off x="3273552" y="5138928"/>
            <a:ext cx="1152144" cy="310896"/>
          </a:xfrm>
          <a:prstGeom prst="roundRect">
            <a:avLst>
              <a:gd name="adj" fmla="val 17647"/>
            </a:avLst>
          </a:prstGeom>
          <a:solidFill>
            <a:srgbClr val="FFFFFF"/>
          </a:solidFill>
          <a:ln w="12700">
            <a:solidFill>
              <a:srgbClr val="C3CDE8"/>
            </a:solidFill>
            <a:prstDash val="solid"/>
          </a:ln>
        </p:spPr>
        <p:txBody>
          <a:bodyPr/>
          <a:p/>
        </p:txBody>
      </p:sp>
      <p:sp>
        <p:nvSpPr>
          <p:cNvPr id="45" name="Text 38"/>
          <p:cNvSpPr/>
          <p:nvPr/>
        </p:nvSpPr>
        <p:spPr>
          <a:xfrm>
            <a:off x="3273552" y="5138928"/>
            <a:ext cx="1152144" cy="310896"/>
          </a:xfrm>
          <a:prstGeom prst="rect">
            <a:avLst/>
          </a:prstGeom>
          <a:noFill/>
          <a:ln/>
        </p:spPr>
        <p:txBody>
          <a:bodyPr wrap="square" lIns="0" tIns="0" rIns="0" bIns="0" rtlCol="0" anchor="ctr"/>
          <a:lstStyle/>
          <a:p>
            <a:pPr marL="0" indent="0" algn="ctr">
              <a:buNone/>
            </a:pPr>
            <a:r>
              <a:rPr lang="en-US" sz="750" dirty="0">
                <a:solidFill>
                  <a:srgbClr val="071A45"/>
                </a:solidFill>
                <a:latin typeface="Calibri" pitchFamily="34" charset="0"/>
                <a:ea typeface="Calibri" pitchFamily="34" charset="-122"/>
                <a:cs typeface="Calibri" pitchFamily="34" charset="-120"/>
              </a:rPr>
              <a:t>12 Responsible Consumption</a:t>
            </a:r>
            <a:endParaRPr lang="en-US" sz="750" dirty="0"/>
          </a:p>
        </p:txBody>
      </p:sp>
      <p:sp>
        <p:nvSpPr>
          <p:cNvPr id="46" name="Shape 39"/>
          <p:cNvSpPr/>
          <p:nvPr/>
        </p:nvSpPr>
        <p:spPr>
          <a:xfrm>
            <a:off x="4498848" y="5138928"/>
            <a:ext cx="1152144" cy="310896"/>
          </a:xfrm>
          <a:prstGeom prst="roundRect">
            <a:avLst>
              <a:gd name="adj" fmla="val 17647"/>
            </a:avLst>
          </a:prstGeom>
          <a:solidFill>
            <a:srgbClr val="FFFFFF"/>
          </a:solidFill>
          <a:ln w="12700">
            <a:solidFill>
              <a:srgbClr val="C3CDE8"/>
            </a:solidFill>
            <a:prstDash val="solid"/>
          </a:ln>
        </p:spPr>
        <p:txBody>
          <a:bodyPr/>
          <a:p/>
        </p:txBody>
      </p:sp>
      <p:sp>
        <p:nvSpPr>
          <p:cNvPr id="47" name="Text 40"/>
          <p:cNvSpPr/>
          <p:nvPr/>
        </p:nvSpPr>
        <p:spPr>
          <a:xfrm>
            <a:off x="4498848" y="5138928"/>
            <a:ext cx="1152144" cy="310896"/>
          </a:xfrm>
          <a:prstGeom prst="rect">
            <a:avLst/>
          </a:prstGeom>
          <a:noFill/>
          <a:ln/>
        </p:spPr>
        <p:txBody>
          <a:bodyPr wrap="square" lIns="0" tIns="0" rIns="0" bIns="0" rtlCol="0" anchor="ctr"/>
          <a:lstStyle/>
          <a:p>
            <a:pPr marL="0" indent="0" algn="ctr">
              <a:buNone/>
            </a:pPr>
            <a:r>
              <a:rPr lang="en-US" sz="750" dirty="0">
                <a:solidFill>
                  <a:srgbClr val="071A45"/>
                </a:solidFill>
                <a:latin typeface="Calibri" pitchFamily="34" charset="0"/>
                <a:ea typeface="Calibri" pitchFamily="34" charset="-122"/>
                <a:cs typeface="Calibri" pitchFamily="34" charset="-120"/>
              </a:rPr>
              <a:t>13 Climate Action</a:t>
            </a:r>
            <a:endParaRPr lang="en-US" sz="750" dirty="0"/>
          </a:p>
        </p:txBody>
      </p:sp>
      <p:sp>
        <p:nvSpPr>
          <p:cNvPr id="48" name="Shape 41"/>
          <p:cNvSpPr/>
          <p:nvPr/>
        </p:nvSpPr>
        <p:spPr>
          <a:xfrm>
            <a:off x="5724144" y="5138928"/>
            <a:ext cx="1152144" cy="310896"/>
          </a:xfrm>
          <a:prstGeom prst="roundRect">
            <a:avLst>
              <a:gd name="adj" fmla="val 17647"/>
            </a:avLst>
          </a:prstGeom>
          <a:solidFill>
            <a:srgbClr val="FFFFFF"/>
          </a:solidFill>
          <a:ln w="12700">
            <a:solidFill>
              <a:srgbClr val="C3CDE8"/>
            </a:solidFill>
            <a:prstDash val="solid"/>
          </a:ln>
        </p:spPr>
        <p:txBody>
          <a:bodyPr/>
          <a:p/>
        </p:txBody>
      </p:sp>
      <p:sp>
        <p:nvSpPr>
          <p:cNvPr id="49" name="Text 42"/>
          <p:cNvSpPr/>
          <p:nvPr/>
        </p:nvSpPr>
        <p:spPr>
          <a:xfrm>
            <a:off x="5724144" y="5138928"/>
            <a:ext cx="1152144" cy="310896"/>
          </a:xfrm>
          <a:prstGeom prst="rect">
            <a:avLst/>
          </a:prstGeom>
          <a:noFill/>
          <a:ln/>
        </p:spPr>
        <p:txBody>
          <a:bodyPr wrap="square" lIns="0" tIns="0" rIns="0" bIns="0" rtlCol="0" anchor="ctr"/>
          <a:lstStyle/>
          <a:p>
            <a:pPr marL="0" indent="0" algn="ctr">
              <a:buNone/>
            </a:pPr>
            <a:r>
              <a:rPr lang="en-US" sz="750" dirty="0">
                <a:solidFill>
                  <a:srgbClr val="071A45"/>
                </a:solidFill>
                <a:latin typeface="Calibri" pitchFamily="34" charset="0"/>
                <a:ea typeface="Calibri" pitchFamily="34" charset="-122"/>
                <a:cs typeface="Calibri" pitchFamily="34" charset="-120"/>
              </a:rPr>
              <a:t>14 Life Below Water</a:t>
            </a:r>
            <a:endParaRPr lang="en-US" sz="750" dirty="0"/>
          </a:p>
        </p:txBody>
      </p:sp>
      <p:sp>
        <p:nvSpPr>
          <p:cNvPr id="50" name="Shape 43"/>
          <p:cNvSpPr/>
          <p:nvPr/>
        </p:nvSpPr>
        <p:spPr>
          <a:xfrm>
            <a:off x="6949440" y="5138928"/>
            <a:ext cx="1152144" cy="310896"/>
          </a:xfrm>
          <a:prstGeom prst="roundRect">
            <a:avLst>
              <a:gd name="adj" fmla="val 17647"/>
            </a:avLst>
          </a:prstGeom>
          <a:solidFill>
            <a:srgbClr val="FFFFFF"/>
          </a:solidFill>
          <a:ln w="12700">
            <a:solidFill>
              <a:srgbClr val="C3CDE8"/>
            </a:solidFill>
            <a:prstDash val="solid"/>
          </a:ln>
        </p:spPr>
        <p:txBody>
          <a:bodyPr/>
          <a:p/>
        </p:txBody>
      </p:sp>
      <p:sp>
        <p:nvSpPr>
          <p:cNvPr id="51" name="Text 44"/>
          <p:cNvSpPr/>
          <p:nvPr/>
        </p:nvSpPr>
        <p:spPr>
          <a:xfrm>
            <a:off x="6949440" y="5138928"/>
            <a:ext cx="1152144" cy="310896"/>
          </a:xfrm>
          <a:prstGeom prst="rect">
            <a:avLst/>
          </a:prstGeom>
          <a:noFill/>
          <a:ln/>
        </p:spPr>
        <p:txBody>
          <a:bodyPr wrap="square" lIns="0" tIns="0" rIns="0" bIns="0" rtlCol="0" anchor="ctr"/>
          <a:lstStyle/>
          <a:p>
            <a:pPr marL="0" indent="0" algn="ctr">
              <a:buNone/>
            </a:pPr>
            <a:r>
              <a:rPr lang="en-US" sz="750" dirty="0">
                <a:solidFill>
                  <a:srgbClr val="071A45"/>
                </a:solidFill>
                <a:latin typeface="Calibri" pitchFamily="34" charset="0"/>
                <a:ea typeface="Calibri" pitchFamily="34" charset="-122"/>
                <a:cs typeface="Calibri" pitchFamily="34" charset="-120"/>
              </a:rPr>
              <a:t>15 Life on Land</a:t>
            </a:r>
            <a:endParaRPr lang="en-US" sz="750" dirty="0"/>
          </a:p>
        </p:txBody>
      </p:sp>
      <p:sp>
        <p:nvSpPr>
          <p:cNvPr id="52" name="Shape 45"/>
          <p:cNvSpPr/>
          <p:nvPr/>
        </p:nvSpPr>
        <p:spPr>
          <a:xfrm>
            <a:off x="8174736" y="5138928"/>
            <a:ext cx="1152144" cy="310896"/>
          </a:xfrm>
          <a:prstGeom prst="roundRect">
            <a:avLst>
              <a:gd name="adj" fmla="val 17647"/>
            </a:avLst>
          </a:prstGeom>
          <a:solidFill>
            <a:srgbClr val="FFFFFF"/>
          </a:solidFill>
          <a:ln w="12700">
            <a:solidFill>
              <a:srgbClr val="C3CDE8"/>
            </a:solidFill>
            <a:prstDash val="solid"/>
          </a:ln>
        </p:spPr>
        <p:txBody>
          <a:bodyPr/>
          <a:p/>
        </p:txBody>
      </p:sp>
      <p:sp>
        <p:nvSpPr>
          <p:cNvPr id="53" name="Text 46"/>
          <p:cNvSpPr/>
          <p:nvPr/>
        </p:nvSpPr>
        <p:spPr>
          <a:xfrm>
            <a:off x="8174736" y="5138928"/>
            <a:ext cx="1152144" cy="310896"/>
          </a:xfrm>
          <a:prstGeom prst="rect">
            <a:avLst/>
          </a:prstGeom>
          <a:noFill/>
          <a:ln/>
        </p:spPr>
        <p:txBody>
          <a:bodyPr wrap="square" lIns="0" tIns="0" rIns="0" bIns="0" rtlCol="0" anchor="ctr"/>
          <a:lstStyle/>
          <a:p>
            <a:pPr marL="0" indent="0" algn="ctr">
              <a:buNone/>
            </a:pPr>
            <a:r>
              <a:rPr lang="en-US" sz="750" dirty="0">
                <a:solidFill>
                  <a:srgbClr val="071A45"/>
                </a:solidFill>
                <a:latin typeface="Calibri" pitchFamily="34" charset="0"/>
                <a:ea typeface="Calibri" pitchFamily="34" charset="-122"/>
                <a:cs typeface="Calibri" pitchFamily="34" charset="-120"/>
              </a:rPr>
              <a:t>16 Peace &amp; Justice</a:t>
            </a:r>
            <a:endParaRPr lang="en-US" sz="750" dirty="0"/>
          </a:p>
        </p:txBody>
      </p:sp>
      <p:sp>
        <p:nvSpPr>
          <p:cNvPr id="54" name="Shape 47"/>
          <p:cNvSpPr/>
          <p:nvPr/>
        </p:nvSpPr>
        <p:spPr>
          <a:xfrm>
            <a:off x="9400032" y="5138928"/>
            <a:ext cx="1152144" cy="310896"/>
          </a:xfrm>
          <a:prstGeom prst="roundRect">
            <a:avLst>
              <a:gd name="adj" fmla="val 17647"/>
            </a:avLst>
          </a:prstGeom>
          <a:solidFill>
            <a:srgbClr val="FFFFFF"/>
          </a:solidFill>
          <a:ln w="12700">
            <a:solidFill>
              <a:srgbClr val="C3CDE8"/>
            </a:solidFill>
            <a:prstDash val="solid"/>
          </a:ln>
        </p:spPr>
        <p:txBody>
          <a:bodyPr/>
          <a:p/>
        </p:txBody>
      </p:sp>
      <p:sp>
        <p:nvSpPr>
          <p:cNvPr id="55" name="Text 48"/>
          <p:cNvSpPr/>
          <p:nvPr/>
        </p:nvSpPr>
        <p:spPr>
          <a:xfrm>
            <a:off x="9400032" y="5138928"/>
            <a:ext cx="1152144" cy="310896"/>
          </a:xfrm>
          <a:prstGeom prst="rect">
            <a:avLst/>
          </a:prstGeom>
          <a:noFill/>
          <a:ln/>
        </p:spPr>
        <p:txBody>
          <a:bodyPr wrap="square" lIns="0" tIns="0" rIns="0" bIns="0" rtlCol="0" anchor="ctr"/>
          <a:lstStyle/>
          <a:p>
            <a:pPr marL="0" indent="0" algn="ctr">
              <a:buNone/>
            </a:pPr>
            <a:r>
              <a:rPr lang="en-US" sz="750" dirty="0">
                <a:solidFill>
                  <a:srgbClr val="071A45"/>
                </a:solidFill>
                <a:latin typeface="Calibri" pitchFamily="34" charset="0"/>
                <a:ea typeface="Calibri" pitchFamily="34" charset="-122"/>
                <a:cs typeface="Calibri" pitchFamily="34" charset="-120"/>
              </a:rPr>
              <a:t>17 Partnerships</a:t>
            </a:r>
            <a:endParaRPr lang="en-US" sz="750" dirty="0"/>
          </a:p>
        </p:txBody>
      </p:sp>
      <p:sp>
        <p:nvSpPr>
          <p:cNvPr id="56" name="Text 49"/>
          <p:cNvSpPr/>
          <p:nvPr/>
        </p:nvSpPr>
        <p:spPr>
          <a:xfrm>
            <a:off x="822960" y="5596128"/>
            <a:ext cx="10515600" cy="292608"/>
          </a:xfrm>
          <a:prstGeom prst="rect">
            <a:avLst/>
          </a:prstGeom>
          <a:noFill/>
          <a:ln/>
        </p:spPr>
        <p:txBody>
          <a:bodyPr wrap="square" lIns="0" tIns="0" rIns="0" bIns="0" rtlCol="0" anchor="t"/>
          <a:lstStyle/>
          <a:p>
            <a:pPr>
              <a:lnSpc>
                <a:spcPct val="105000"/>
              </a:lnSpc>
            </a:pPr>
            <a:r>
              <a:rPr lang="en-US" sz="1200" dirty="0">
                <a:solidFill>
                  <a:srgbClr val="1C52C2"/>
                </a:solidFill>
                <a:latin typeface="Calibri" pitchFamily="34" charset="0"/>
                <a:ea typeface="Calibri" pitchFamily="34" charset="-122"/>
                <a:cs typeface="Calibri" pitchFamily="34" charset="-120"/>
              </a:rPr>
              <a:t>Our solution maps to  SDG  4  because  </a:t>
            </a:r>
            <a:r>
              <a:rPr lang="en-IN" sz="1200" dirty="0">
                <a:solidFill>
                  <a:srgbClr val="1C52C2"/>
                </a:solidFill>
              </a:rPr>
              <a:t>Provides personalized learning support and improves educational outcomes through AI.</a:t>
            </a:r>
            <a:endParaRPr lang="en-US" sz="1200" dirty="0">
              <a:solidFill>
                <a:srgbClr val="1C52C2"/>
              </a:solidFill>
            </a:endParaRPr>
          </a:p>
        </p:txBody>
      </p:sp>
      <p:sp>
        <p:nvSpPr>
          <p:cNvPr id="57" name="Date Placeholder"/>
          <p:cNvSpPr>
            <a:spLocks noGrp="1"/>
          </p:cNvSpPr>
          <p:nvPr>
            <p:ph type="dt" sz="quarter" idx="10"/>
          </p:nvPr>
        </p:nvSpPr>
        <p:spPr>
          <a:xfrm>
            <a:off x="502920" y="6382512"/>
            <a:ext cx="2926080" cy="256032"/>
          </a:xfrm>
          <a:prstGeom prst="rect">
            <a:avLst/>
          </a:prstGeom>
        </p:spPr>
        <p:txBody>
          <a:bodyPr vert="horz" lIns="0" tIns="0" rIns="0" bIns="0" rtlCol="0" anchor="ctr"/>
          <a:lstStyle>
            <a:lvl1pPr algn="l">
              <a:defRPr sz="900">
                <a:solidFill>
                  <a:srgbClr val="8A93A8"/>
                </a:solidFill>
                <a:latin typeface="Calibri" pitchFamily="34" charset="0"/>
                <a:cs typeface="Calibri" pitchFamily="34" charset="0"/>
              </a:defRPr>
            </a:lvl1pPr>
          </a:lstStyle>
          <a:p>
            <a:r>
              <a:rPr lang="en-IN" dirty="0"/>
              <a:t>25-07-2026</a:t>
            </a:r>
          </a:p>
        </p:txBody>
      </p:sp>
      <p:sp>
        <p:nvSpPr>
          <p:cNvPr id="58" name="Footer Placeholder"/>
          <p:cNvSpPr>
            <a:spLocks noGrp="1"/>
          </p:cNvSpPr>
          <p:nvPr>
            <p:ph type="ftr" sz="quarter" idx="11"/>
          </p:nvPr>
        </p:nvSpPr>
        <p:spPr>
          <a:xfrm>
            <a:off x="3657600" y="6382512"/>
            <a:ext cx="4873752" cy="256032"/>
          </a:xfrm>
          <a:prstGeom prst="rect">
            <a:avLst/>
          </a:prstGeom>
        </p:spPr>
        <p:txBody>
          <a:bodyPr vert="horz" lIns="0" tIns="0" rIns="0" bIns="0" rtlCol="0" anchor="ctr"/>
          <a:lstStyle>
            <a:lvl1pPr algn="ctr">
              <a:defRPr sz="900">
                <a:solidFill>
                  <a:srgbClr val="8A93A8"/>
                </a:solidFill>
                <a:latin typeface="Calibri" pitchFamily="34" charset="0"/>
                <a:cs typeface="Calibri" pitchFamily="34" charset="0"/>
              </a:defRPr>
            </a:lvl1pPr>
          </a:lstStyle>
          <a:p>
            <a:r>
              <a:rPr lang="en-IN"/>
              <a:t>Sri Eshwar College of Engineering  ·  Design Thinking &amp; Innovation</a:t>
            </a:r>
          </a:p>
        </p:txBody>
      </p:sp>
      <p:sp>
        <p:nvSpPr>
          <p:cNvPr id="59" name="Slide Number Placeholder"/>
          <p:cNvSpPr>
            <a:spLocks noGrp="1"/>
          </p:cNvSpPr>
          <p:nvPr>
            <p:ph type="sldNum" sz="quarter" idx="12"/>
          </p:nvPr>
        </p:nvSpPr>
        <p:spPr>
          <a:xfrm>
            <a:off x="10424160" y="6382512"/>
            <a:ext cx="1261872" cy="256032"/>
          </a:xfrm>
          <a:prstGeom prst="rect">
            <a:avLst/>
          </a:prstGeom>
        </p:spPr>
        <p:txBody>
          <a:bodyPr vert="horz" lIns="0" tIns="0" rIns="0" bIns="0" rtlCol="0" anchor="ctr"/>
          <a:lstStyle>
            <a:lvl1pPr algn="r">
              <a:defRPr sz="900">
                <a:solidFill>
                  <a:srgbClr val="8A93A8"/>
                </a:solidFill>
                <a:latin typeface="Calibri" pitchFamily="34" charset="0"/>
                <a:cs typeface="Calibri" pitchFamily="34" charset="0"/>
              </a:defRPr>
            </a:lvl1pPr>
          </a:lstStyle>
          <a:p>
            <a:pPr>
              <a:defRPr sz="1000">
                <a:solidFill>
                  <a:srgbClr val="475569"/>
                </a:solidFill>
                <a:latin typeface="Calibri"/>
              </a:defRPr>
            </a:pPr>
            <a:r>
              <a:t>10</a:t>
            </a:r>
            <a:endParaRPr lang="en-IN"/>
          </a:p>
        </p:txBody>
      </p:sp>
      <p:pic>
        <p:nvPicPr>
          <p:cNvPr id="5" name="Picture 4">
            <a:extLst>
              <a:ext uri="{FF2B5EF4-FFF2-40B4-BE49-F238E27FC236}">
                <a16:creationId xmlns:a16="http://schemas.microsoft.com/office/drawing/2014/main" id="{D0B2F201-B669-D1C7-0D03-468F555FC01D}"/>
              </a:ext>
            </a:extLst>
          </p:cNvPr>
          <p:cNvPicPr>
            <a:picLocks noChangeAspect="1"/>
          </p:cNvPicPr>
          <p:nvPr/>
        </p:nvPicPr>
        <p:blipFill>
          <a:blip r:embed="rId7"/>
          <a:stretch>
            <a:fillRect/>
          </a:stretch>
        </p:blipFill>
        <p:spPr>
          <a:xfrm>
            <a:off x="10363654" y="371776"/>
            <a:ext cx="1325426" cy="60350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pic>
        <p:nvPicPr>
          <p:cNvPr id="2" name="Image 0" descr="assets/logo.png"/>
          <p:cNvPicPr>
            <a:picLocks noChangeAspect="1"/>
          </p:cNvPicPr>
          <p:nvPr/>
        </p:nvPicPr>
        <p:blipFill>
          <a:blip r:embed="rId3"/>
          <a:stretch>
            <a:fillRect/>
          </a:stretch>
        </p:blipFill>
        <p:spPr>
          <a:xfrm>
            <a:off x="457200" y="237744"/>
            <a:ext cx="1024128" cy="283464"/>
          </a:xfrm>
          <a:prstGeom prst="rect">
            <a:avLst/>
          </a:prstGeom>
        </p:spPr>
      </p:pic>
      <p:sp>
        <p:nvSpPr>
          <p:cNvPr id="4" name="Text 1"/>
          <p:cNvSpPr/>
          <p:nvPr/>
        </p:nvSpPr>
        <p:spPr>
          <a:xfrm>
            <a:off x="502920" y="658368"/>
            <a:ext cx="11183112" cy="457200"/>
          </a:xfrm>
          <a:prstGeom prst="rect">
            <a:avLst/>
          </a:prstGeom>
          <a:noFill/>
          <a:ln/>
        </p:spPr>
        <p:txBody>
          <a:bodyPr wrap="square" lIns="0" tIns="0" rIns="0" bIns="0" rtlCol="0" anchor="ctr"/>
          <a:lstStyle/>
          <a:p>
            <a:pPr marL="0" indent="0">
              <a:buNone/>
            </a:pPr>
            <a:r>
              <a:rPr lang="en-US" sz="2800" b="1" dirty="0">
                <a:solidFill>
                  <a:srgbClr val="071A45"/>
                </a:solidFill>
                <a:latin typeface="Calibri" pitchFamily="34" charset="0"/>
                <a:ea typeface="Calibri" pitchFamily="34" charset="-122"/>
                <a:cs typeface="Calibri" pitchFamily="34" charset="-120"/>
              </a:rPr>
              <a:t>Team Contribution</a:t>
            </a:r>
            <a:endParaRPr lang="en-US" sz="2800" dirty="0"/>
          </a:p>
        </p:txBody>
      </p:sp>
      <p:sp>
        <p:nvSpPr>
          <p:cNvPr id="5" name="Text 2"/>
          <p:cNvSpPr/>
          <p:nvPr/>
        </p:nvSpPr>
        <p:spPr>
          <a:xfrm>
            <a:off x="502920" y="1115568"/>
            <a:ext cx="11183112" cy="292608"/>
          </a:xfrm>
          <a:prstGeom prst="rect">
            <a:avLst/>
          </a:prstGeom>
          <a:noFill/>
          <a:ln/>
        </p:spPr>
        <p:txBody>
          <a:bodyPr wrap="square" lIns="0" tIns="0" rIns="0" bIns="0" rtlCol="0" anchor="ctr"/>
          <a:lstStyle/>
          <a:p>
            <a:pPr marL="0" indent="0">
              <a:buNone/>
            </a:pPr>
            <a:r>
              <a:rPr lang="en-US" sz="1200" i="1" dirty="0">
                <a:solidFill>
                  <a:srgbClr val="FF0000"/>
                </a:solidFill>
                <a:latin typeface="Calibri" pitchFamily="34" charset="0"/>
                <a:ea typeface="Calibri" pitchFamily="34" charset="-122"/>
                <a:cs typeface="Calibri" pitchFamily="34" charset="-120"/>
              </a:rPr>
              <a:t>Every member should be able to speak to their part.</a:t>
            </a:r>
            <a:endParaRPr lang="en-US" sz="1200" i="1" dirty="0">
              <a:solidFill>
                <a:srgbClr val="FF0000"/>
              </a:solidFill>
            </a:endParaRPr>
          </a:p>
        </p:txBody>
      </p:sp>
      <p:sp>
        <p:nvSpPr>
          <p:cNvPr id="6" name="Shape 3"/>
          <p:cNvSpPr/>
          <p:nvPr/>
        </p:nvSpPr>
        <p:spPr>
          <a:xfrm>
            <a:off x="502920" y="1481328"/>
            <a:ext cx="11183112" cy="0"/>
          </a:xfrm>
          <a:prstGeom prst="line">
            <a:avLst/>
          </a:prstGeom>
          <a:noFill/>
          <a:ln w="12700">
            <a:solidFill>
              <a:srgbClr val="DFE4EE"/>
            </a:solidFill>
            <a:prstDash val="solid"/>
          </a:ln>
        </p:spPr>
        <p:txBody>
          <a:bodyPr/>
          <a:p/>
        </p:txBody>
      </p:sp>
      <p:graphicFrame>
        <p:nvGraphicFramePr>
          <p:cNvPr id="17" name="Table 0"/>
          <p:cNvGraphicFramePr>
            <a:graphicFrameLocks noGrp="1"/>
          </p:cNvGraphicFramePr>
          <p:nvPr>
            <p:extLst>
              <p:ext uri="{D42A27DB-BD31-4B8C-83A1-F6EECF244321}">
                <p14:modId xmlns:p14="http://schemas.microsoft.com/office/powerpoint/2010/main" val="404841719"/>
              </p:ext>
            </p:extLst>
          </p:nvPr>
        </p:nvGraphicFramePr>
        <p:xfrm>
          <a:off x="502920" y="1828800"/>
          <a:ext cx="11183112" cy="1755648"/>
        </p:xfrm>
        <a:graphic>
          <a:graphicData uri="http://schemas.openxmlformats.org/drawingml/2006/table">
            <a:tbl>
              <a:tblPr/>
              <a:tblGrid>
                <a:gridCol w="265176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3108960">
                  <a:extLst>
                    <a:ext uri="{9D8B030D-6E8A-4147-A177-3AD203B41FA5}">
                      <a16:colId xmlns:a16="http://schemas.microsoft.com/office/drawing/2014/main" val="20003"/>
                    </a:ext>
                  </a:extLst>
                </a:gridCol>
                <a:gridCol w="1764792">
                  <a:extLst>
                    <a:ext uri="{9D8B030D-6E8A-4147-A177-3AD203B41FA5}">
                      <a16:colId xmlns:a16="http://schemas.microsoft.com/office/drawing/2014/main" val="20004"/>
                    </a:ext>
                  </a:extLst>
                </a:gridCol>
              </a:tblGrid>
              <a:tr h="438912">
                <a:tc>
                  <a:txBody>
                    <a:bodyPr/>
                    <a:lstStyle/>
                    <a:p>
                      <a:pPr marL="0" indent="0" algn="ctr">
                        <a:buNone/>
                        <a:defRPr sz="1000">
                          <a:latin typeface="Calibri"/>
                        </a:defRPr>
                      </a:pPr>
                      <a:r>
                        <a:rPr lang="en-US" sz="1200" b="1" dirty="0">
                          <a:solidFill>
                            <a:srgbClr val="FFFFFF"/>
                          </a:solidFill>
                          <a:latin typeface="Calibri" pitchFamily="34" charset="0"/>
                          <a:ea typeface="Calibri" pitchFamily="34" charset="-122"/>
                          <a:cs typeface="Calibri" pitchFamily="34" charset="-120"/>
                        </a:rPr>
                        <a:t>Member Name</a:t>
                      </a:r>
                      <a:endParaRPr lang="en-US" sz="1200" dirty="0">
                        <a:latin typeface="Calibri" charset="0"/>
                        <a:ea typeface="Calibri" charset="0"/>
                        <a:cs typeface="Calibri" charset="0"/>
                      </a:endParaRPr>
                    </a:p>
                  </a:txBody>
                  <a:tcPr marL="64008" marR="64008" marT="64008" marB="64008"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071A45"/>
                    </a:solidFill>
                  </a:tcPr>
                </a:tc>
                <a:tc>
                  <a:txBody>
                    <a:bodyPr/>
                    <a:lstStyle/>
                    <a:p>
                      <a:pPr marL="0" indent="0" algn="ctr">
                        <a:buNone/>
                        <a:defRPr sz="1000">
                          <a:latin typeface="Calibri"/>
                        </a:defRPr>
                      </a:pPr>
                      <a:r>
                        <a:rPr lang="en-US" sz="1200" b="1" dirty="0">
                          <a:solidFill>
                            <a:srgbClr val="FFFFFF"/>
                          </a:solidFill>
                          <a:latin typeface="Calibri" pitchFamily="34" charset="0"/>
                          <a:ea typeface="Calibri" pitchFamily="34" charset="-122"/>
                          <a:cs typeface="Calibri" pitchFamily="34" charset="-120"/>
                        </a:rPr>
                        <a:t>Roll No.</a:t>
                      </a:r>
                      <a:endParaRPr lang="en-US" sz="1200" dirty="0">
                        <a:latin typeface="Calibri" charset="0"/>
                        <a:ea typeface="Calibri" charset="0"/>
                        <a:cs typeface="Calibri" charset="0"/>
                      </a:endParaRPr>
                    </a:p>
                  </a:txBody>
                  <a:tcPr marL="64008" marR="64008" marT="64008" marB="64008"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071A45"/>
                    </a:solidFill>
                  </a:tcPr>
                </a:tc>
                <a:tc>
                  <a:txBody>
                    <a:bodyPr/>
                    <a:lstStyle/>
                    <a:p>
                      <a:pPr marL="0" indent="0" algn="ctr">
                        <a:buNone/>
                        <a:defRPr sz="1000">
                          <a:latin typeface="Calibri"/>
                        </a:defRPr>
                      </a:pPr>
                      <a:r>
                        <a:rPr lang="en-US" sz="1200" b="1" dirty="0">
                          <a:solidFill>
                            <a:srgbClr val="FFFFFF"/>
                          </a:solidFill>
                          <a:latin typeface="Calibri" pitchFamily="34" charset="0"/>
                          <a:ea typeface="Calibri" pitchFamily="34" charset="-122"/>
                          <a:cs typeface="Calibri" pitchFamily="34" charset="-120"/>
                        </a:rPr>
                        <a:t>Role in the Team</a:t>
                      </a:r>
                      <a:endParaRPr lang="en-US" sz="1200" dirty="0">
                        <a:latin typeface="Calibri" charset="0"/>
                        <a:ea typeface="Calibri" charset="0"/>
                        <a:cs typeface="Calibri" charset="0"/>
                      </a:endParaRPr>
                    </a:p>
                  </a:txBody>
                  <a:tcPr marL="64008" marR="64008" marT="64008" marB="64008"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071A45"/>
                    </a:solidFill>
                  </a:tcPr>
                </a:tc>
                <a:tc>
                  <a:txBody>
                    <a:bodyPr/>
                    <a:lstStyle/>
                    <a:p>
                      <a:pPr marL="0" indent="0" algn="ctr">
                        <a:buNone/>
                        <a:defRPr sz="1000">
                          <a:latin typeface="Calibri"/>
                        </a:defRPr>
                      </a:pPr>
                      <a:r>
                        <a:rPr lang="en-US" sz="1200" b="1" dirty="0">
                          <a:solidFill>
                            <a:srgbClr val="FFFFFF"/>
                          </a:solidFill>
                          <a:latin typeface="Calibri" pitchFamily="34" charset="0"/>
                          <a:ea typeface="Calibri" pitchFamily="34" charset="-122"/>
                          <a:cs typeface="Calibri" pitchFamily="34" charset="-120"/>
                        </a:rPr>
                        <a:t>Contribution to Ideation</a:t>
                      </a:r>
                      <a:endParaRPr lang="en-US" sz="1200" dirty="0">
                        <a:latin typeface="Calibri" charset="0"/>
                        <a:ea typeface="Calibri" charset="0"/>
                        <a:cs typeface="Calibri" charset="0"/>
                      </a:endParaRPr>
                    </a:p>
                  </a:txBody>
                  <a:tcPr marL="64008" marR="64008" marT="64008" marB="64008"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071A45"/>
                    </a:solidFill>
                  </a:tcPr>
                </a:tc>
                <a:tc>
                  <a:txBody>
                    <a:bodyPr/>
                    <a:lstStyle/>
                    <a:p>
                      <a:pPr marL="0" indent="0" algn="ctr">
                        <a:buNone/>
                        <a:defRPr sz="1000">
                          <a:latin typeface="Calibri"/>
                        </a:defRPr>
                      </a:pPr>
                      <a:r>
                        <a:rPr lang="en-US" sz="1200" b="1" dirty="0">
                          <a:solidFill>
                            <a:srgbClr val="FFFFFF"/>
                          </a:solidFill>
                          <a:latin typeface="Calibri" pitchFamily="34" charset="0"/>
                          <a:ea typeface="Calibri" pitchFamily="34" charset="-122"/>
                          <a:cs typeface="Calibri" pitchFamily="34" charset="-120"/>
                        </a:rPr>
                        <a:t>Next Task</a:t>
                      </a:r>
                      <a:endParaRPr lang="en-US" sz="1200" dirty="0">
                        <a:latin typeface="Calibri" charset="0"/>
                        <a:ea typeface="Calibri" charset="0"/>
                        <a:cs typeface="Calibri" charset="0"/>
                      </a:endParaRPr>
                    </a:p>
                  </a:txBody>
                  <a:tcPr marL="64008" marR="64008" marT="64008" marB="64008"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071A45"/>
                    </a:solidFill>
                  </a:tcPr>
                </a:tc>
                <a:extLst>
                  <a:ext uri="{0D108BD9-81ED-4DB2-BD59-A6C34878D82A}">
                    <a16:rowId xmlns:a16="http://schemas.microsoft.com/office/drawing/2014/main" val="10000"/>
                  </a:ext>
                </a:extLst>
              </a:tr>
              <a:tr h="438912">
                <a:tc>
                  <a:txBody>
                    <a:bodyPr/>
                    <a:lstStyle/>
                    <a:p>
                      <a:pPr marL="0" indent="0" algn="l">
                        <a:buNone/>
                        <a:defRPr sz="1000">
                          <a:latin typeface="Calibri"/>
                        </a:defRPr>
                      </a:pPr>
                      <a:r>
                        <a:rPr lang="en-US" sz="1200" dirty="0">
                          <a:latin typeface="Calibri" charset="0"/>
                          <a:ea typeface="Calibri" charset="0"/>
                          <a:cs typeface="Calibri" charset="0"/>
                        </a:rPr>
                        <a:t>ASWATHY J</a:t>
                      </a:r>
                    </a:p>
                  </a:txBody>
                  <a:tcPr marL="64008" marR="64008" marT="64008" marB="64008"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FFFFF"/>
                    </a:solidFill>
                  </a:tcPr>
                </a:tc>
                <a:tc>
                  <a:txBody>
                    <a:bodyPr/>
                    <a:lstStyle/>
                    <a:p>
                      <a:pPr marL="0" indent="0" algn="l">
                        <a:buNone/>
                        <a:defRPr sz="1000">
                          <a:latin typeface="Calibri"/>
                        </a:defRPr>
                      </a:pPr>
                      <a:r>
                        <a:rPr lang="en-US" sz="1200" dirty="0">
                          <a:latin typeface="Calibri" charset="0"/>
                          <a:ea typeface="Calibri" charset="0"/>
                          <a:cs typeface="Calibri" charset="0"/>
                        </a:rPr>
                        <a:t>25AD018</a:t>
                      </a:r>
                    </a:p>
                  </a:txBody>
                  <a:tcPr marL="64008" marR="64008" marT="64008" marB="64008"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FFFFF"/>
                    </a:solidFill>
                  </a:tcPr>
                </a:tc>
                <a:tc>
                  <a:txBody>
                    <a:bodyPr/>
                    <a:lstStyle/>
                    <a:p>
                      <a:pPr>
                        <a:defRPr sz="1000">
                          <a:latin typeface="Calibri"/>
                        </a:defRPr>
                      </a:pPr>
                      <a:r>
                        <a:t>AI/ML Lead &amp; Content Architect</a:t>
                      </a:r>
                    </a:p>
                  </a:txBody>
                  <a:tcPr marL="64008" marR="64008" marT="64008" marB="64008"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FFFFF"/>
                    </a:solidFill>
                  </a:tcPr>
                </a:tc>
                <a:tc>
                  <a:txBody>
                    <a:bodyPr/>
                    <a:lstStyle/>
                    <a:p>
                      <a:pPr>
                        <a:defRPr sz="1000">
                          <a:latin typeface="Calibri"/>
                        </a:defRPr>
                      </a:pPr>
                      <a:r>
                        <a:t>Engineered Claude prompt pipelines for syllabus-grounded quiz generation; built the Weak Topic Detector (&lt;60% accuracy) and 24/7 AI Course Tutor.</a:t>
                      </a:r>
                    </a:p>
                  </a:txBody>
                  <a:tcPr marL="64008" marR="64008" marT="64008" marB="64008"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FFFFF"/>
                    </a:solidFill>
                  </a:tcPr>
                </a:tc>
                <a:tc>
                  <a:txBody>
                    <a:bodyPr/>
                    <a:lstStyle/>
                    <a:p>
                      <a:pPr>
                        <a:defRPr sz="1000">
                          <a:latin typeface="Calibri"/>
                        </a:defRPr>
                      </a:pPr>
                      <a:r>
                        <a:t>Fine-tune prompt token efficiency and implement speech-to-text lecture note generation.</a:t>
                      </a:r>
                    </a:p>
                  </a:txBody>
                  <a:tcPr marL="64008" marR="64008" marT="64008" marB="64008"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8912">
                <a:tc>
                  <a:txBody>
                    <a:bodyPr/>
                    <a:lstStyle/>
                    <a:p>
                      <a:pPr marL="0" indent="0" algn="l">
                        <a:buNone/>
                        <a:defRPr sz="1000">
                          <a:latin typeface="Calibri"/>
                        </a:defRPr>
                      </a:pPr>
                      <a:r>
                        <a:rPr lang="en-US" sz="1200" dirty="0">
                          <a:latin typeface="Calibri" charset="0"/>
                          <a:ea typeface="Calibri" charset="0"/>
                          <a:cs typeface="Calibri" charset="0"/>
                        </a:rPr>
                        <a:t>BRAGALYA YAZHINI KM</a:t>
                      </a:r>
                    </a:p>
                  </a:txBody>
                  <a:tcPr marL="64008" marR="64008" marT="64008" marB="64008"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5F7FB"/>
                    </a:solidFill>
                  </a:tcPr>
                </a:tc>
                <a:tc>
                  <a:txBody>
                    <a:bodyPr/>
                    <a:lstStyle/>
                    <a:p>
                      <a:pPr marL="0" indent="0" algn="l">
                        <a:buNone/>
                        <a:defRPr sz="1000">
                          <a:latin typeface="Calibri"/>
                        </a:defRPr>
                      </a:pPr>
                      <a:r>
                        <a:rPr lang="en-US" sz="1200" dirty="0">
                          <a:latin typeface="Calibri" charset="0"/>
                          <a:ea typeface="Calibri" charset="0"/>
                          <a:cs typeface="Calibri" charset="0"/>
                        </a:rPr>
                        <a:t>25AD026</a:t>
                      </a:r>
                    </a:p>
                  </a:txBody>
                  <a:tcPr marL="64008" marR="64008" marT="64008" marB="64008"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5F7FB"/>
                    </a:solidFill>
                  </a:tcPr>
                </a:tc>
                <a:tc>
                  <a:txBody>
                    <a:bodyPr/>
                    <a:lstStyle/>
                    <a:p>
                      <a:pPr>
                        <a:defRPr sz="1000">
                          <a:latin typeface="Calibri"/>
                        </a:defRPr>
                      </a:pPr>
                      <a:r>
                        <a:t>Full-Stack Dev &amp; UI/UX Lead</a:t>
                      </a:r>
                    </a:p>
                  </a:txBody>
                  <a:tcPr marL="64008" marR="64008" marT="64008" marB="64008"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5F7FB"/>
                    </a:solidFill>
                  </a:tcPr>
                </a:tc>
                <a:tc>
                  <a:txBody>
                    <a:bodyPr/>
                    <a:lstStyle/>
                    <a:p>
                      <a:pPr>
                        <a:defRPr sz="1000">
                          <a:latin typeface="Calibri"/>
                        </a:defRPr>
                      </a:pPr>
                      <a:r>
                        <a:t>Developed responsive React 19 + Tailwind interface; built live WebRTC Peer Study Rooms with real-time pair-coding sandbox, Pomodoro audio timer, and PWA.</a:t>
                      </a:r>
                    </a:p>
                  </a:txBody>
                  <a:tcPr marL="64008" marR="64008" marT="64008" marB="64008"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5F7FB"/>
                    </a:solidFill>
                  </a:tcPr>
                </a:tc>
                <a:tc>
                  <a:txBody>
                    <a:bodyPr/>
                    <a:lstStyle/>
                    <a:p>
                      <a:pPr>
                        <a:defRPr sz="1000">
                          <a:latin typeface="Calibri"/>
                        </a:defRPr>
                      </a:pPr>
                      <a:r>
                        <a:t>Deploy dedicated signaling server for study rooms and expand ambient soundscape library.</a:t>
                      </a:r>
                    </a:p>
                  </a:txBody>
                  <a:tcPr marL="64008" marR="64008" marT="64008" marB="64008"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5F7FB"/>
                    </a:solidFill>
                  </a:tcPr>
                </a:tc>
                <a:extLst>
                  <a:ext uri="{0D108BD9-81ED-4DB2-BD59-A6C34878D82A}">
                    <a16:rowId xmlns:a16="http://schemas.microsoft.com/office/drawing/2014/main" val="10002"/>
                  </a:ext>
                </a:extLst>
              </a:tr>
              <a:tr h="438912">
                <a:tc>
                  <a:txBody>
                    <a:bodyPr/>
                    <a:lstStyle/>
                    <a:p>
                      <a:pPr marL="0" indent="0" algn="l">
                        <a:buNone/>
                        <a:defRPr sz="1000">
                          <a:latin typeface="Calibri"/>
                        </a:defRPr>
                      </a:pPr>
                      <a:r>
                        <a:rPr lang="en-US" sz="1200" dirty="0">
                          <a:latin typeface="Calibri" charset="0"/>
                          <a:ea typeface="Calibri" charset="0"/>
                          <a:cs typeface="Calibri" charset="0"/>
                        </a:rPr>
                        <a:t>HARINI S</a:t>
                      </a:r>
                    </a:p>
                  </a:txBody>
                  <a:tcPr marL="64008" marR="64008" marT="64008" marB="64008"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FFFFF"/>
                    </a:solidFill>
                  </a:tcPr>
                </a:tc>
                <a:tc>
                  <a:txBody>
                    <a:bodyPr/>
                    <a:lstStyle/>
                    <a:p>
                      <a:pPr marL="0" indent="0" algn="l">
                        <a:buNone/>
                        <a:defRPr sz="1000">
                          <a:latin typeface="Calibri"/>
                        </a:defRPr>
                      </a:pPr>
                      <a:r>
                        <a:rPr lang="en-US" sz="1200" dirty="0">
                          <a:latin typeface="Calibri" charset="0"/>
                          <a:ea typeface="Calibri" charset="0"/>
                          <a:cs typeface="Calibri" charset="0"/>
                        </a:rPr>
                        <a:t>25AD063</a:t>
                      </a:r>
                    </a:p>
                  </a:txBody>
                  <a:tcPr marL="64008" marR="64008" marT="64008" marB="64008"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FFFFF"/>
                    </a:solidFill>
                  </a:tcPr>
                </a:tc>
                <a:tc>
                  <a:txBody>
                    <a:bodyPr/>
                    <a:lstStyle/>
                    <a:p>
                      <a:pPr>
                        <a:defRPr sz="1000">
                          <a:latin typeface="Calibri"/>
                        </a:defRPr>
                      </a:pPr>
                      <a:r>
                        <a:t>System Architect &amp; Testing Lead</a:t>
                      </a:r>
                    </a:p>
                  </a:txBody>
                  <a:tcPr marL="64008" marR="64008" marT="64008" marB="64008"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FFFFF"/>
                    </a:solidFill>
                  </a:tcPr>
                </a:tc>
                <a:tc>
                  <a:txBody>
                    <a:bodyPr/>
                    <a:lstStyle/>
                    <a:p>
                      <a:pPr>
                        <a:defRPr sz="1000">
                          <a:latin typeface="Calibri"/>
                        </a:defRPr>
                      </a:pPr>
                      <a:r>
                        <a:t>Architected Supabase schema and IndexedDB local caching; implemented SuperMemo SM-2 spaced repetition flashcards; conducted student interviews and pilot testing.</a:t>
                      </a:r>
                    </a:p>
                  </a:txBody>
                  <a:tcPr marL="64008" marR="64008" marT="64008" marB="64008"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FFFFF"/>
                    </a:solidFill>
                  </a:tcPr>
                </a:tc>
                <a:tc>
                  <a:txBody>
                    <a:bodyPr/>
                    <a:lstStyle/>
                    <a:p>
                      <a:pPr>
                        <a:defRPr sz="1000">
                          <a:latin typeface="Calibri"/>
                        </a:defRPr>
                      </a:pPr>
                      <a:r>
                        <a:t>Integrate Anna University timetable sync and expand multi-subject diagnostic datasets.</a:t>
                      </a:r>
                    </a:p>
                  </a:txBody>
                  <a:tcPr marL="64008" marR="64008" marT="64008" marB="64008"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8" name="Date Placeholder"/>
          <p:cNvSpPr>
            <a:spLocks noGrp="1"/>
          </p:cNvSpPr>
          <p:nvPr>
            <p:ph type="dt" sz="quarter" idx="10"/>
          </p:nvPr>
        </p:nvSpPr>
        <p:spPr>
          <a:xfrm>
            <a:off x="502920" y="6382512"/>
            <a:ext cx="2926080" cy="256032"/>
          </a:xfrm>
          <a:prstGeom prst="rect">
            <a:avLst/>
          </a:prstGeom>
        </p:spPr>
        <p:txBody>
          <a:bodyPr vert="horz" lIns="0" tIns="0" rIns="0" bIns="0" rtlCol="0" anchor="ctr"/>
          <a:lstStyle>
            <a:lvl1pPr algn="l">
              <a:defRPr sz="900">
                <a:solidFill>
                  <a:srgbClr val="8A93A8"/>
                </a:solidFill>
                <a:latin typeface="Calibri" pitchFamily="34" charset="0"/>
                <a:cs typeface="Calibri" pitchFamily="34" charset="0"/>
              </a:defRPr>
            </a:lvl1pPr>
          </a:lstStyle>
          <a:p>
            <a:r>
              <a:rPr lang="en-IN" dirty="0"/>
              <a:t>25-07-2026</a:t>
            </a:r>
          </a:p>
        </p:txBody>
      </p:sp>
      <p:sp>
        <p:nvSpPr>
          <p:cNvPr id="19" name="Footer Placeholder"/>
          <p:cNvSpPr>
            <a:spLocks noGrp="1"/>
          </p:cNvSpPr>
          <p:nvPr>
            <p:ph type="ftr" sz="quarter" idx="11"/>
          </p:nvPr>
        </p:nvSpPr>
        <p:spPr>
          <a:xfrm>
            <a:off x="3657600" y="6382512"/>
            <a:ext cx="4873752" cy="256032"/>
          </a:xfrm>
          <a:prstGeom prst="rect">
            <a:avLst/>
          </a:prstGeom>
        </p:spPr>
        <p:txBody>
          <a:bodyPr vert="horz" lIns="0" tIns="0" rIns="0" bIns="0" rtlCol="0" anchor="ctr"/>
          <a:lstStyle>
            <a:lvl1pPr algn="ctr">
              <a:defRPr sz="900">
                <a:solidFill>
                  <a:srgbClr val="8A93A8"/>
                </a:solidFill>
                <a:latin typeface="Calibri" pitchFamily="34" charset="0"/>
                <a:cs typeface="Calibri" pitchFamily="34" charset="0"/>
              </a:defRPr>
            </a:lvl1pPr>
          </a:lstStyle>
          <a:p>
            <a:r>
              <a:rPr lang="en-IN"/>
              <a:t>Sri Eshwar College of Engineering  ·  Design Thinking &amp; Innovation</a:t>
            </a:r>
          </a:p>
        </p:txBody>
      </p:sp>
      <p:sp>
        <p:nvSpPr>
          <p:cNvPr id="20" name="Slide Number Placeholder"/>
          <p:cNvSpPr>
            <a:spLocks noGrp="1"/>
          </p:cNvSpPr>
          <p:nvPr>
            <p:ph type="sldNum" sz="quarter" idx="12"/>
          </p:nvPr>
        </p:nvSpPr>
        <p:spPr>
          <a:xfrm>
            <a:off x="10424160" y="6382512"/>
            <a:ext cx="1261872" cy="256032"/>
          </a:xfrm>
          <a:prstGeom prst="rect">
            <a:avLst/>
          </a:prstGeom>
        </p:spPr>
        <p:txBody>
          <a:bodyPr vert="horz" lIns="0" tIns="0" rIns="0" bIns="0" rtlCol="0" anchor="ctr"/>
          <a:lstStyle>
            <a:lvl1pPr algn="r">
              <a:defRPr sz="900">
                <a:solidFill>
                  <a:srgbClr val="8A93A8"/>
                </a:solidFill>
                <a:latin typeface="Calibri" pitchFamily="34" charset="0"/>
                <a:cs typeface="Calibri" pitchFamily="34" charset="0"/>
              </a:defRPr>
            </a:lvl1pPr>
          </a:lstStyle>
          <a:p>
            <a:pPr>
              <a:defRPr sz="1000">
                <a:solidFill>
                  <a:srgbClr val="475569"/>
                </a:solidFill>
                <a:latin typeface="Calibri"/>
              </a:defRPr>
            </a:pPr>
            <a:r>
              <a:t>11</a:t>
            </a:r>
            <a:endParaRPr lang="en-IN"/>
          </a:p>
        </p:txBody>
      </p:sp>
      <p:pic>
        <p:nvPicPr>
          <p:cNvPr id="7" name="Picture 6">
            <a:extLst>
              <a:ext uri="{FF2B5EF4-FFF2-40B4-BE49-F238E27FC236}">
                <a16:creationId xmlns:a16="http://schemas.microsoft.com/office/drawing/2014/main" id="{EB3CBBC7-3D19-4274-94C8-1A9CBF2DC55C}"/>
              </a:ext>
            </a:extLst>
          </p:cNvPr>
          <p:cNvPicPr>
            <a:picLocks noChangeAspect="1"/>
          </p:cNvPicPr>
          <p:nvPr/>
        </p:nvPicPr>
        <p:blipFill>
          <a:blip r:embed="rId4"/>
          <a:stretch>
            <a:fillRect/>
          </a:stretch>
        </p:blipFill>
        <p:spPr>
          <a:xfrm>
            <a:off x="10363654" y="371776"/>
            <a:ext cx="1325426" cy="60350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pic>
        <p:nvPicPr>
          <p:cNvPr id="2" name="Image 0" descr="assets/logo.png"/>
          <p:cNvPicPr>
            <a:picLocks noChangeAspect="1"/>
          </p:cNvPicPr>
          <p:nvPr/>
        </p:nvPicPr>
        <p:blipFill>
          <a:blip r:embed="rId3"/>
          <a:stretch>
            <a:fillRect/>
          </a:stretch>
        </p:blipFill>
        <p:spPr>
          <a:xfrm>
            <a:off x="457200" y="237744"/>
            <a:ext cx="1024128" cy="283464"/>
          </a:xfrm>
          <a:prstGeom prst="rect">
            <a:avLst/>
          </a:prstGeom>
        </p:spPr>
      </p:pic>
      <p:sp>
        <p:nvSpPr>
          <p:cNvPr id="4" name="Text 1"/>
          <p:cNvSpPr/>
          <p:nvPr/>
        </p:nvSpPr>
        <p:spPr>
          <a:xfrm>
            <a:off x="502920" y="658368"/>
            <a:ext cx="11183112" cy="457200"/>
          </a:xfrm>
          <a:prstGeom prst="rect">
            <a:avLst/>
          </a:prstGeom>
          <a:noFill/>
          <a:ln/>
        </p:spPr>
        <p:txBody>
          <a:bodyPr wrap="square" lIns="0" tIns="0" rIns="0" bIns="0" rtlCol="0" anchor="ctr"/>
          <a:lstStyle/>
          <a:p>
            <a:pPr marL="0" indent="0">
              <a:buNone/>
            </a:pPr>
            <a:r>
              <a:rPr lang="en-US" sz="2800" b="1" dirty="0">
                <a:solidFill>
                  <a:srgbClr val="071A45"/>
                </a:solidFill>
                <a:latin typeface="Calibri" pitchFamily="34" charset="0"/>
                <a:ea typeface="Calibri" pitchFamily="34" charset="-122"/>
                <a:cs typeface="Calibri" pitchFamily="34" charset="-120"/>
              </a:rPr>
              <a:t>Roadmap</a:t>
            </a:r>
            <a:endParaRPr lang="en-US" sz="2800" dirty="0"/>
          </a:p>
        </p:txBody>
      </p:sp>
      <p:sp>
        <p:nvSpPr>
          <p:cNvPr id="5" name="Text 2"/>
          <p:cNvSpPr/>
          <p:nvPr/>
        </p:nvSpPr>
        <p:spPr>
          <a:xfrm>
            <a:off x="502920" y="1115568"/>
            <a:ext cx="11183112" cy="292608"/>
          </a:xfrm>
          <a:prstGeom prst="rect">
            <a:avLst/>
          </a:prstGeom>
          <a:noFill/>
          <a:ln/>
        </p:spPr>
        <p:txBody>
          <a:bodyPr wrap="square" lIns="0" tIns="0" rIns="0" bIns="0" rtlCol="0" anchor="ctr"/>
          <a:lstStyle/>
          <a:p>
            <a:pPr marL="0" indent="0">
              <a:buNone/>
            </a:pPr>
            <a:r>
              <a:rPr lang="en-US" sz="1200" i="1" dirty="0">
                <a:solidFill>
                  <a:srgbClr val="FF0000"/>
                </a:solidFill>
                <a:latin typeface="Calibri" pitchFamily="34" charset="0"/>
                <a:ea typeface="Calibri" pitchFamily="34" charset="-122"/>
                <a:cs typeface="Calibri" pitchFamily="34" charset="-120"/>
              </a:rPr>
              <a:t>What happens between today and the Prototype review. - Sample</a:t>
            </a:r>
            <a:endParaRPr lang="en-US" sz="1200" i="1" dirty="0">
              <a:solidFill>
                <a:srgbClr val="FF0000"/>
              </a:solidFill>
            </a:endParaRPr>
          </a:p>
        </p:txBody>
      </p:sp>
      <p:sp>
        <p:nvSpPr>
          <p:cNvPr id="6" name="Shape 3"/>
          <p:cNvSpPr/>
          <p:nvPr/>
        </p:nvSpPr>
        <p:spPr>
          <a:xfrm>
            <a:off x="502920" y="1481328"/>
            <a:ext cx="11183112" cy="0"/>
          </a:xfrm>
          <a:prstGeom prst="line">
            <a:avLst/>
          </a:prstGeom>
          <a:noFill/>
          <a:ln w="12700">
            <a:solidFill>
              <a:srgbClr val="DFE4EE"/>
            </a:solidFill>
            <a:prstDash val="solid"/>
          </a:ln>
        </p:spPr>
        <p:txBody>
          <a:bodyPr/>
          <a:p/>
        </p:txBody>
      </p:sp>
      <p:sp>
        <p:nvSpPr>
          <p:cNvPr id="7" name="Shape 4"/>
          <p:cNvSpPr/>
          <p:nvPr/>
        </p:nvSpPr>
        <p:spPr>
          <a:xfrm>
            <a:off x="1005840" y="3246120"/>
            <a:ext cx="10149840" cy="0"/>
          </a:xfrm>
          <a:prstGeom prst="line">
            <a:avLst/>
          </a:prstGeom>
          <a:noFill/>
          <a:ln w="25400">
            <a:solidFill>
              <a:srgbClr val="C3CDE8"/>
            </a:solidFill>
            <a:prstDash val="solid"/>
          </a:ln>
        </p:spPr>
        <p:txBody>
          <a:bodyPr/>
          <a:p/>
        </p:txBody>
      </p:sp>
      <p:sp>
        <p:nvSpPr>
          <p:cNvPr id="8" name="Shape 5"/>
          <p:cNvSpPr/>
          <p:nvPr/>
        </p:nvSpPr>
        <p:spPr>
          <a:xfrm>
            <a:off x="2039112" y="3054096"/>
            <a:ext cx="384048" cy="384048"/>
          </a:xfrm>
          <a:prstGeom prst="ellipse">
            <a:avLst/>
          </a:prstGeom>
          <a:solidFill>
            <a:srgbClr val="071A45"/>
          </a:solidFill>
          <a:ln w="12700">
            <a:solidFill>
              <a:srgbClr val="071A45"/>
            </a:solidFill>
            <a:prstDash val="solid"/>
          </a:ln>
        </p:spPr>
        <p:txBody>
          <a:bodyPr/>
          <a:p/>
        </p:txBody>
      </p:sp>
      <p:sp>
        <p:nvSpPr>
          <p:cNvPr id="9" name="Text 6"/>
          <p:cNvSpPr/>
          <p:nvPr/>
        </p:nvSpPr>
        <p:spPr>
          <a:xfrm>
            <a:off x="2039112" y="3054096"/>
            <a:ext cx="384048" cy="384048"/>
          </a:xfrm>
          <a:prstGeom prst="rect">
            <a:avLst/>
          </a:prstGeom>
          <a:noFill/>
          <a:ln/>
        </p:spPr>
        <p:txBody>
          <a:bodyPr wrap="square" lIns="0" tIns="0" rIns="0" bIns="0" rtlCol="0" anchor="ctr"/>
          <a:lstStyle/>
          <a:p>
            <a:pPr marL="0" indent="0" algn="ctr">
              <a:buNone/>
              <a:defRPr sz="1000">
                <a:solidFill>
                  <a:srgbClr val="475569"/>
                </a:solidFill>
                <a:latin typeface="Calibri"/>
              </a:defRPr>
            </a:pPr>
            <a:r>
              <a:t>12</a:t>
            </a:r>
            <a:endParaRPr lang="en-US" sz="1200" dirty="0"/>
          </a:p>
        </p:txBody>
      </p:sp>
      <p:sp>
        <p:nvSpPr>
          <p:cNvPr id="10" name="Shape 7"/>
          <p:cNvSpPr/>
          <p:nvPr/>
        </p:nvSpPr>
        <p:spPr>
          <a:xfrm>
            <a:off x="868680" y="1783080"/>
            <a:ext cx="2651760" cy="1188720"/>
          </a:xfrm>
          <a:prstGeom prst="roundRect">
            <a:avLst>
              <a:gd name="adj" fmla="val 6154"/>
            </a:avLst>
          </a:prstGeom>
          <a:solidFill>
            <a:srgbClr val="FFF6DD"/>
          </a:solidFill>
          <a:ln w="12700">
            <a:solidFill>
              <a:srgbClr val="F2D98A"/>
            </a:solidFill>
            <a:prstDash val="solid"/>
          </a:ln>
        </p:spPr>
        <p:txBody>
          <a:bodyPr/>
          <a:p/>
        </p:txBody>
      </p:sp>
      <p:sp>
        <p:nvSpPr>
          <p:cNvPr id="11" name="Text 8"/>
          <p:cNvSpPr/>
          <p:nvPr/>
        </p:nvSpPr>
        <p:spPr>
          <a:xfrm>
            <a:off x="1097280" y="1947672"/>
            <a:ext cx="2194560" cy="237744"/>
          </a:xfrm>
          <a:prstGeom prst="rect">
            <a:avLst/>
          </a:prstGeom>
          <a:noFill/>
          <a:ln/>
        </p:spPr>
        <p:txBody>
          <a:bodyPr wrap="square" lIns="0" tIns="0" rIns="0" bIns="0" rtlCol="0" anchor="ctr"/>
          <a:lstStyle/>
          <a:p>
            <a:pPr marL="0" indent="0" algn="l">
              <a:buNone/>
            </a:pPr>
            <a:r>
              <a:rPr lang="en-US" sz="950" b="1" kern="0" spc="60" dirty="0">
                <a:solidFill>
                  <a:srgbClr val="7A5E16"/>
                </a:solidFill>
                <a:latin typeface="Calibri" pitchFamily="34" charset="0"/>
                <a:ea typeface="Calibri" pitchFamily="34" charset="-122"/>
                <a:cs typeface="Calibri" pitchFamily="34" charset="-120"/>
              </a:rPr>
              <a:t>STEP 1</a:t>
            </a:r>
            <a:endParaRPr lang="en-US" sz="950" dirty="0"/>
          </a:p>
        </p:txBody>
      </p:sp>
      <p:sp>
        <p:nvSpPr>
          <p:cNvPr id="12" name="Text 9"/>
          <p:cNvSpPr/>
          <p:nvPr/>
        </p:nvSpPr>
        <p:spPr>
          <a:xfrm>
            <a:off x="1097280" y="2221992"/>
            <a:ext cx="2194560" cy="274320"/>
          </a:xfrm>
          <a:prstGeom prst="rect">
            <a:avLst/>
          </a:prstGeom>
          <a:noFill/>
          <a:ln/>
        </p:spPr>
        <p:txBody>
          <a:bodyPr wrap="square" lIns="0" tIns="0" rIns="0" bIns="0" rtlCol="0" anchor="t"/>
          <a:lstStyle/>
          <a:p>
            <a:pPr marL="0" indent="0" algn="l">
              <a:lnSpc>
                <a:spcPct val="105000"/>
              </a:lnSpc>
              <a:buNone/>
            </a:pPr>
            <a:r>
              <a:rPr lang="en-US" sz="1300" dirty="0">
                <a:solidFill>
                  <a:srgbClr val="7A5E16"/>
                </a:solidFill>
                <a:latin typeface="Calibri" pitchFamily="34" charset="0"/>
                <a:ea typeface="Calibri" pitchFamily="34" charset="-122"/>
                <a:cs typeface="Calibri" pitchFamily="34" charset="-120"/>
              </a:rPr>
              <a:t>Finalise design</a:t>
            </a:r>
            <a:endParaRPr lang="en-US" sz="1300" dirty="0"/>
          </a:p>
        </p:txBody>
      </p:sp>
      <p:sp>
        <p:nvSpPr>
          <p:cNvPr id="13" name="Text 10"/>
          <p:cNvSpPr/>
          <p:nvPr/>
        </p:nvSpPr>
        <p:spPr>
          <a:xfrm>
            <a:off x="1105486" y="2496312"/>
            <a:ext cx="2194560" cy="274320"/>
          </a:xfrm>
          <a:prstGeom prst="rect">
            <a:avLst/>
          </a:prstGeom>
          <a:noFill/>
          <a:ln/>
        </p:spPr>
        <p:txBody>
          <a:bodyPr wrap="square" lIns="0" tIns="0" rIns="0" bIns="0" rtlCol="0" anchor="t"/>
          <a:lstStyle/>
          <a:p>
            <a:pPr>
              <a:lnSpc>
                <a:spcPct val="105000"/>
              </a:lnSpc>
              <a:defRPr sz="1050" b="1">
                <a:latin typeface="Calibri"/>
              </a:defRPr>
            </a:pPr>
            <a:r>
              <a:t>Student Empathy &amp; UI Wireframes (Completed)</a:t>
            </a:r>
            <a:endParaRPr lang="en-US" sz="1400" dirty="0"/>
          </a:p>
        </p:txBody>
      </p:sp>
      <p:sp>
        <p:nvSpPr>
          <p:cNvPr id="14" name="Shape 11"/>
          <p:cNvSpPr/>
          <p:nvPr/>
        </p:nvSpPr>
        <p:spPr>
          <a:xfrm>
            <a:off x="4828032" y="3054096"/>
            <a:ext cx="384048" cy="384048"/>
          </a:xfrm>
          <a:prstGeom prst="ellipse">
            <a:avLst/>
          </a:prstGeom>
          <a:solidFill>
            <a:srgbClr val="071A45"/>
          </a:solidFill>
          <a:ln w="12700">
            <a:solidFill>
              <a:srgbClr val="071A45"/>
            </a:solidFill>
            <a:prstDash val="solid"/>
          </a:ln>
        </p:spPr>
        <p:txBody>
          <a:bodyPr/>
          <a:p/>
        </p:txBody>
      </p:sp>
      <p:sp>
        <p:nvSpPr>
          <p:cNvPr id="15" name="Text 12"/>
          <p:cNvSpPr/>
          <p:nvPr/>
        </p:nvSpPr>
        <p:spPr>
          <a:xfrm>
            <a:off x="4828032" y="3054096"/>
            <a:ext cx="384048" cy="384048"/>
          </a:xfrm>
          <a:prstGeom prst="rect">
            <a:avLst/>
          </a:prstGeom>
          <a:noFill/>
          <a:ln/>
        </p:spPr>
        <p:txBody>
          <a:bodyPr wrap="square" lIns="0" tIns="0" rIns="0" bIns="0" rtlCol="0" anchor="ctr"/>
          <a:lstStyle/>
          <a:p>
            <a:pPr marL="0" indent="0" algn="ctr">
              <a:buNone/>
              <a:defRPr sz="1000">
                <a:solidFill>
                  <a:srgbClr val="475569"/>
                </a:solidFill>
                <a:latin typeface="Calibri"/>
              </a:defRPr>
            </a:pPr>
            <a:r>
              <a:t>12</a:t>
            </a:r>
            <a:endParaRPr lang="en-US" sz="1200" dirty="0"/>
          </a:p>
        </p:txBody>
      </p:sp>
      <p:sp>
        <p:nvSpPr>
          <p:cNvPr id="16" name="Shape 13"/>
          <p:cNvSpPr/>
          <p:nvPr/>
        </p:nvSpPr>
        <p:spPr>
          <a:xfrm>
            <a:off x="3657600" y="3611880"/>
            <a:ext cx="2651760" cy="1188720"/>
          </a:xfrm>
          <a:prstGeom prst="roundRect">
            <a:avLst>
              <a:gd name="adj" fmla="val 6154"/>
            </a:avLst>
          </a:prstGeom>
          <a:solidFill>
            <a:srgbClr val="E9EFFC"/>
          </a:solidFill>
          <a:ln w="12700">
            <a:solidFill>
              <a:srgbClr val="C3CDE8"/>
            </a:solidFill>
            <a:prstDash val="solid"/>
          </a:ln>
        </p:spPr>
        <p:txBody>
          <a:bodyPr/>
          <a:p/>
        </p:txBody>
      </p:sp>
      <p:sp>
        <p:nvSpPr>
          <p:cNvPr id="17" name="Text 14"/>
          <p:cNvSpPr/>
          <p:nvPr/>
        </p:nvSpPr>
        <p:spPr>
          <a:xfrm>
            <a:off x="3886200" y="3776472"/>
            <a:ext cx="2194560" cy="237744"/>
          </a:xfrm>
          <a:prstGeom prst="rect">
            <a:avLst/>
          </a:prstGeom>
          <a:noFill/>
          <a:ln/>
        </p:spPr>
        <p:txBody>
          <a:bodyPr wrap="square" lIns="0" tIns="0" rIns="0" bIns="0" rtlCol="0" anchor="ctr"/>
          <a:lstStyle/>
          <a:p>
            <a:pPr marL="0" indent="0" algn="l">
              <a:buNone/>
            </a:pPr>
            <a:r>
              <a:rPr lang="en-US" sz="950" b="1" kern="0" spc="60" dirty="0">
                <a:solidFill>
                  <a:srgbClr val="071A45"/>
                </a:solidFill>
                <a:latin typeface="Calibri" pitchFamily="34" charset="0"/>
                <a:ea typeface="Calibri" pitchFamily="34" charset="-122"/>
                <a:cs typeface="Calibri" pitchFamily="34" charset="-120"/>
              </a:rPr>
              <a:t>STEP 2</a:t>
            </a:r>
            <a:endParaRPr lang="en-US" sz="950" dirty="0"/>
          </a:p>
        </p:txBody>
      </p:sp>
      <p:sp>
        <p:nvSpPr>
          <p:cNvPr id="18" name="Text 15"/>
          <p:cNvSpPr/>
          <p:nvPr/>
        </p:nvSpPr>
        <p:spPr>
          <a:xfrm>
            <a:off x="3886200" y="4050792"/>
            <a:ext cx="2194560" cy="274320"/>
          </a:xfrm>
          <a:prstGeom prst="rect">
            <a:avLst/>
          </a:prstGeom>
          <a:noFill/>
          <a:ln/>
        </p:spPr>
        <p:txBody>
          <a:bodyPr wrap="square" lIns="0" tIns="0" rIns="0" bIns="0" rtlCol="0" anchor="t"/>
          <a:lstStyle/>
          <a:p>
            <a:pPr marL="0" indent="0" algn="l">
              <a:lnSpc>
                <a:spcPct val="105000"/>
              </a:lnSpc>
              <a:buNone/>
            </a:pPr>
            <a:r>
              <a:rPr lang="en-US" sz="1300" dirty="0">
                <a:solidFill>
                  <a:srgbClr val="071A45"/>
                </a:solidFill>
                <a:latin typeface="Calibri" pitchFamily="34" charset="0"/>
                <a:ea typeface="Calibri" pitchFamily="34" charset="-122"/>
                <a:cs typeface="Calibri" pitchFamily="34" charset="-120"/>
              </a:rPr>
              <a:t>Source materials</a:t>
            </a:r>
            <a:endParaRPr lang="en-US" sz="1300" dirty="0"/>
          </a:p>
        </p:txBody>
      </p:sp>
      <p:sp>
        <p:nvSpPr>
          <p:cNvPr id="19" name="Text 16"/>
          <p:cNvSpPr/>
          <p:nvPr/>
        </p:nvSpPr>
        <p:spPr>
          <a:xfrm>
            <a:off x="3886200" y="4283962"/>
            <a:ext cx="2194560" cy="452629"/>
          </a:xfrm>
          <a:prstGeom prst="rect">
            <a:avLst/>
          </a:prstGeom>
          <a:noFill/>
          <a:ln/>
        </p:spPr>
        <p:txBody>
          <a:bodyPr wrap="square" lIns="0" tIns="0" rIns="0" bIns="0" rtlCol="0" anchor="t"/>
          <a:lstStyle/>
          <a:p>
            <a:pPr>
              <a:lnSpc>
                <a:spcPct val="105000"/>
              </a:lnSpc>
              <a:defRPr sz="1050" b="1">
                <a:latin typeface="Calibri"/>
              </a:defRPr>
            </a:pPr>
            <a:r>
              <a:t>AI Engine &amp; Active Recall Quizzes (Completed)</a:t>
            </a:r>
            <a:endParaRPr lang="en-US" sz="1400" dirty="0"/>
          </a:p>
        </p:txBody>
      </p:sp>
      <p:sp>
        <p:nvSpPr>
          <p:cNvPr id="20" name="Shape 17"/>
          <p:cNvSpPr/>
          <p:nvPr/>
        </p:nvSpPr>
        <p:spPr>
          <a:xfrm>
            <a:off x="7616952" y="3054096"/>
            <a:ext cx="384048" cy="384048"/>
          </a:xfrm>
          <a:prstGeom prst="ellipse">
            <a:avLst/>
          </a:prstGeom>
          <a:solidFill>
            <a:srgbClr val="071A45"/>
          </a:solidFill>
          <a:ln w="12700">
            <a:solidFill>
              <a:srgbClr val="071A45"/>
            </a:solidFill>
            <a:prstDash val="solid"/>
          </a:ln>
        </p:spPr>
        <p:txBody>
          <a:bodyPr/>
          <a:p/>
        </p:txBody>
      </p:sp>
      <p:sp>
        <p:nvSpPr>
          <p:cNvPr id="21" name="Text 18"/>
          <p:cNvSpPr/>
          <p:nvPr/>
        </p:nvSpPr>
        <p:spPr>
          <a:xfrm>
            <a:off x="7616952" y="3054096"/>
            <a:ext cx="384048" cy="384048"/>
          </a:xfrm>
          <a:prstGeom prst="rect">
            <a:avLst/>
          </a:prstGeom>
          <a:noFill/>
          <a:ln/>
        </p:spPr>
        <p:txBody>
          <a:bodyPr wrap="square" lIns="0" tIns="0" rIns="0" bIns="0" rtlCol="0" anchor="ctr"/>
          <a:lstStyle/>
          <a:p>
            <a:pPr marL="0" indent="0" algn="ctr">
              <a:buNone/>
              <a:defRPr sz="1000">
                <a:solidFill>
                  <a:srgbClr val="475569"/>
                </a:solidFill>
                <a:latin typeface="Calibri"/>
              </a:defRPr>
            </a:pPr>
            <a:r>
              <a:t>12</a:t>
            </a:r>
            <a:endParaRPr lang="en-US" sz="1200" dirty="0"/>
          </a:p>
        </p:txBody>
      </p:sp>
      <p:sp>
        <p:nvSpPr>
          <p:cNvPr id="22" name="Shape 19"/>
          <p:cNvSpPr/>
          <p:nvPr/>
        </p:nvSpPr>
        <p:spPr>
          <a:xfrm>
            <a:off x="6446520" y="1783080"/>
            <a:ext cx="2651760" cy="1188720"/>
          </a:xfrm>
          <a:prstGeom prst="roundRect">
            <a:avLst>
              <a:gd name="adj" fmla="val 6154"/>
            </a:avLst>
          </a:prstGeom>
          <a:solidFill>
            <a:srgbClr val="F5F7FB"/>
          </a:solidFill>
          <a:ln w="12700">
            <a:solidFill>
              <a:srgbClr val="DFE4EE"/>
            </a:solidFill>
            <a:prstDash val="solid"/>
          </a:ln>
        </p:spPr>
        <p:txBody>
          <a:bodyPr/>
          <a:p/>
        </p:txBody>
      </p:sp>
      <p:sp>
        <p:nvSpPr>
          <p:cNvPr id="23" name="Text 20"/>
          <p:cNvSpPr/>
          <p:nvPr/>
        </p:nvSpPr>
        <p:spPr>
          <a:xfrm>
            <a:off x="6675120" y="1947672"/>
            <a:ext cx="2194560" cy="237744"/>
          </a:xfrm>
          <a:prstGeom prst="rect">
            <a:avLst/>
          </a:prstGeom>
          <a:noFill/>
          <a:ln/>
        </p:spPr>
        <p:txBody>
          <a:bodyPr wrap="square" lIns="0" tIns="0" rIns="0" bIns="0" rtlCol="0" anchor="ctr"/>
          <a:lstStyle/>
          <a:p>
            <a:pPr marL="0" indent="0" algn="l">
              <a:buNone/>
            </a:pPr>
            <a:r>
              <a:rPr lang="en-US" sz="950" b="1" kern="0" spc="60" dirty="0">
                <a:solidFill>
                  <a:srgbClr val="5B6685"/>
                </a:solidFill>
                <a:latin typeface="Calibri" pitchFamily="34" charset="0"/>
                <a:ea typeface="Calibri" pitchFamily="34" charset="-122"/>
                <a:cs typeface="Calibri" pitchFamily="34" charset="-120"/>
              </a:rPr>
              <a:t>STEP 3</a:t>
            </a:r>
            <a:endParaRPr lang="en-US" sz="950" dirty="0"/>
          </a:p>
        </p:txBody>
      </p:sp>
      <p:sp>
        <p:nvSpPr>
          <p:cNvPr id="24" name="Text 21"/>
          <p:cNvSpPr/>
          <p:nvPr/>
        </p:nvSpPr>
        <p:spPr>
          <a:xfrm>
            <a:off x="6675120" y="2221992"/>
            <a:ext cx="2194560" cy="274320"/>
          </a:xfrm>
          <a:prstGeom prst="rect">
            <a:avLst/>
          </a:prstGeom>
          <a:noFill/>
          <a:ln/>
        </p:spPr>
        <p:txBody>
          <a:bodyPr wrap="square" lIns="0" tIns="0" rIns="0" bIns="0" rtlCol="0" anchor="t"/>
          <a:lstStyle/>
          <a:p>
            <a:pPr marL="0" indent="0" algn="l">
              <a:lnSpc>
                <a:spcPct val="105000"/>
              </a:lnSpc>
              <a:buNone/>
            </a:pPr>
            <a:r>
              <a:rPr lang="en-US" sz="1300" dirty="0">
                <a:solidFill>
                  <a:srgbClr val="5B6685"/>
                </a:solidFill>
                <a:latin typeface="Calibri" pitchFamily="34" charset="0"/>
                <a:ea typeface="Calibri" pitchFamily="34" charset="-122"/>
                <a:cs typeface="Calibri" pitchFamily="34" charset="-120"/>
              </a:rPr>
              <a:t>Build first version</a:t>
            </a:r>
            <a:endParaRPr lang="en-US" sz="1300" dirty="0"/>
          </a:p>
        </p:txBody>
      </p:sp>
      <p:sp>
        <p:nvSpPr>
          <p:cNvPr id="25" name="Text 22"/>
          <p:cNvSpPr/>
          <p:nvPr/>
        </p:nvSpPr>
        <p:spPr>
          <a:xfrm>
            <a:off x="6675120" y="2505456"/>
            <a:ext cx="2194560" cy="274320"/>
          </a:xfrm>
          <a:prstGeom prst="rect">
            <a:avLst/>
          </a:prstGeom>
          <a:noFill/>
          <a:ln/>
        </p:spPr>
        <p:txBody>
          <a:bodyPr wrap="square" lIns="0" tIns="0" rIns="0" bIns="0" rtlCol="0" anchor="t"/>
          <a:lstStyle/>
          <a:p>
            <a:pPr>
              <a:lnSpc>
                <a:spcPct val="105000"/>
              </a:lnSpc>
              <a:defRPr sz="1050" b="1">
                <a:latin typeface="Calibri"/>
              </a:defRPr>
            </a:pPr>
            <a:r>
              <a:t>Full-Stack PWA &amp; Peer Rooms (Completed)</a:t>
            </a:r>
            <a:endParaRPr lang="en-US" sz="1400" dirty="0"/>
          </a:p>
        </p:txBody>
      </p:sp>
      <p:sp>
        <p:nvSpPr>
          <p:cNvPr id="26" name="Shape 23"/>
          <p:cNvSpPr/>
          <p:nvPr/>
        </p:nvSpPr>
        <p:spPr>
          <a:xfrm>
            <a:off x="10405872" y="3054096"/>
            <a:ext cx="384048" cy="384048"/>
          </a:xfrm>
          <a:prstGeom prst="ellipse">
            <a:avLst/>
          </a:prstGeom>
          <a:solidFill>
            <a:srgbClr val="071A45"/>
          </a:solidFill>
          <a:ln w="12700">
            <a:solidFill>
              <a:srgbClr val="071A45"/>
            </a:solidFill>
            <a:prstDash val="solid"/>
          </a:ln>
        </p:spPr>
        <p:txBody>
          <a:bodyPr/>
          <a:p/>
        </p:txBody>
      </p:sp>
      <p:sp>
        <p:nvSpPr>
          <p:cNvPr id="27" name="Text 24"/>
          <p:cNvSpPr/>
          <p:nvPr/>
        </p:nvSpPr>
        <p:spPr>
          <a:xfrm>
            <a:off x="10405872" y="3054096"/>
            <a:ext cx="384048" cy="384048"/>
          </a:xfrm>
          <a:prstGeom prst="rect">
            <a:avLst/>
          </a:prstGeom>
          <a:noFill/>
          <a:ln/>
        </p:spPr>
        <p:txBody>
          <a:bodyPr wrap="square" lIns="0" tIns="0" rIns="0" bIns="0" rtlCol="0" anchor="ctr"/>
          <a:lstStyle/>
          <a:p>
            <a:pPr marL="0" indent="0" algn="ctr">
              <a:buNone/>
              <a:defRPr sz="1000">
                <a:solidFill>
                  <a:srgbClr val="475569"/>
                </a:solidFill>
                <a:latin typeface="Calibri"/>
              </a:defRPr>
            </a:pPr>
            <a:r>
              <a:t>12</a:t>
            </a:r>
            <a:endParaRPr lang="en-US" sz="1200" dirty="0"/>
          </a:p>
        </p:txBody>
      </p:sp>
      <p:sp>
        <p:nvSpPr>
          <p:cNvPr id="28" name="Shape 25"/>
          <p:cNvSpPr/>
          <p:nvPr/>
        </p:nvSpPr>
        <p:spPr>
          <a:xfrm>
            <a:off x="9235440" y="3611880"/>
            <a:ext cx="2651760" cy="1188720"/>
          </a:xfrm>
          <a:prstGeom prst="roundRect">
            <a:avLst>
              <a:gd name="adj" fmla="val 6154"/>
            </a:avLst>
          </a:prstGeom>
          <a:solidFill>
            <a:srgbClr val="E9EFFC"/>
          </a:solidFill>
          <a:ln w="12700">
            <a:solidFill>
              <a:srgbClr val="C3CDE8"/>
            </a:solidFill>
            <a:prstDash val="solid"/>
          </a:ln>
        </p:spPr>
        <p:txBody>
          <a:bodyPr/>
          <a:p/>
        </p:txBody>
      </p:sp>
      <p:sp>
        <p:nvSpPr>
          <p:cNvPr id="29" name="Text 26"/>
          <p:cNvSpPr/>
          <p:nvPr/>
        </p:nvSpPr>
        <p:spPr>
          <a:xfrm>
            <a:off x="9464040" y="3776472"/>
            <a:ext cx="2194560" cy="237744"/>
          </a:xfrm>
          <a:prstGeom prst="rect">
            <a:avLst/>
          </a:prstGeom>
          <a:noFill/>
          <a:ln/>
        </p:spPr>
        <p:txBody>
          <a:bodyPr wrap="square" lIns="0" tIns="0" rIns="0" bIns="0" rtlCol="0" anchor="ctr"/>
          <a:lstStyle/>
          <a:p>
            <a:pPr marL="0" indent="0" algn="l">
              <a:buNone/>
            </a:pPr>
            <a:r>
              <a:rPr lang="en-US" sz="950" b="1" kern="0" spc="60" dirty="0">
                <a:solidFill>
                  <a:srgbClr val="071A45"/>
                </a:solidFill>
                <a:latin typeface="Calibri" pitchFamily="34" charset="0"/>
                <a:ea typeface="Calibri" pitchFamily="34" charset="-122"/>
                <a:cs typeface="Calibri" pitchFamily="34" charset="-120"/>
              </a:rPr>
              <a:t>STEP 4</a:t>
            </a:r>
            <a:endParaRPr lang="en-US" sz="950" dirty="0"/>
          </a:p>
        </p:txBody>
      </p:sp>
      <p:sp>
        <p:nvSpPr>
          <p:cNvPr id="30" name="Text 27"/>
          <p:cNvSpPr/>
          <p:nvPr/>
        </p:nvSpPr>
        <p:spPr>
          <a:xfrm>
            <a:off x="9464040" y="4050792"/>
            <a:ext cx="2194560" cy="274320"/>
          </a:xfrm>
          <a:prstGeom prst="rect">
            <a:avLst/>
          </a:prstGeom>
          <a:noFill/>
          <a:ln/>
        </p:spPr>
        <p:txBody>
          <a:bodyPr wrap="square" lIns="0" tIns="0" rIns="0" bIns="0" rtlCol="0" anchor="t"/>
          <a:lstStyle/>
          <a:p>
            <a:pPr marL="0" indent="0" algn="l">
              <a:lnSpc>
                <a:spcPct val="105000"/>
              </a:lnSpc>
              <a:buNone/>
            </a:pPr>
            <a:r>
              <a:rPr lang="en-US" sz="1300" dirty="0">
                <a:solidFill>
                  <a:srgbClr val="071A45"/>
                </a:solidFill>
                <a:latin typeface="Calibri" pitchFamily="34" charset="0"/>
                <a:ea typeface="Calibri" pitchFamily="34" charset="-122"/>
                <a:cs typeface="Calibri" pitchFamily="34" charset="-120"/>
              </a:rPr>
              <a:t>Test with the user</a:t>
            </a:r>
            <a:endParaRPr lang="en-US" sz="1300" dirty="0"/>
          </a:p>
        </p:txBody>
      </p:sp>
      <p:sp>
        <p:nvSpPr>
          <p:cNvPr id="31" name="Text 28"/>
          <p:cNvSpPr/>
          <p:nvPr/>
        </p:nvSpPr>
        <p:spPr>
          <a:xfrm>
            <a:off x="9464040" y="4315968"/>
            <a:ext cx="2194560" cy="274320"/>
          </a:xfrm>
          <a:prstGeom prst="rect">
            <a:avLst/>
          </a:prstGeom>
          <a:noFill/>
          <a:ln/>
        </p:spPr>
        <p:txBody>
          <a:bodyPr wrap="square" lIns="0" tIns="0" rIns="0" bIns="0" rtlCol="0" anchor="t"/>
          <a:lstStyle/>
          <a:p>
            <a:pPr>
              <a:lnSpc>
                <a:spcPct val="105000"/>
              </a:lnSpc>
              <a:defRPr sz="1050" b="1">
                <a:latin typeface="Calibri"/>
              </a:defRPr>
            </a:pPr>
            <a:r>
              <a:t>Beta Pilot Testing &amp; LMS Sync (In Progress)</a:t>
            </a:r>
            <a:endParaRPr lang="en-US" sz="1400" dirty="0"/>
          </a:p>
        </p:txBody>
      </p:sp>
      <p:sp>
        <p:nvSpPr>
          <p:cNvPr id="32" name="Shape 29"/>
          <p:cNvSpPr/>
          <p:nvPr/>
        </p:nvSpPr>
        <p:spPr>
          <a:xfrm>
            <a:off x="502920" y="5212080"/>
            <a:ext cx="11183112" cy="868680"/>
          </a:xfrm>
          <a:prstGeom prst="roundRect">
            <a:avLst>
              <a:gd name="adj" fmla="val 8421"/>
            </a:avLst>
          </a:prstGeom>
          <a:solidFill>
            <a:srgbClr val="F5F7FB"/>
          </a:solidFill>
          <a:ln w="12700">
            <a:solidFill>
              <a:srgbClr val="DFE4EE"/>
            </a:solidFill>
            <a:prstDash val="solid"/>
          </a:ln>
        </p:spPr>
        <p:txBody>
          <a:bodyPr/>
          <a:p/>
        </p:txBody>
      </p:sp>
      <p:sp>
        <p:nvSpPr>
          <p:cNvPr id="33" name="Text 30"/>
          <p:cNvSpPr/>
          <p:nvPr/>
        </p:nvSpPr>
        <p:spPr>
          <a:xfrm>
            <a:off x="822960" y="5376672"/>
            <a:ext cx="4114800" cy="237744"/>
          </a:xfrm>
          <a:prstGeom prst="rect">
            <a:avLst/>
          </a:prstGeom>
          <a:noFill/>
          <a:ln/>
        </p:spPr>
        <p:txBody>
          <a:bodyPr wrap="square" lIns="0" tIns="0" rIns="0" bIns="0" rtlCol="0" anchor="ctr"/>
          <a:lstStyle/>
          <a:p>
            <a:pPr marL="0" indent="0" algn="l">
              <a:buNone/>
            </a:pPr>
            <a:r>
              <a:rPr lang="en-US" sz="1050" b="1" kern="0" spc="60" dirty="0">
                <a:solidFill>
                  <a:srgbClr val="071A45"/>
                </a:solidFill>
                <a:latin typeface="Calibri" pitchFamily="34" charset="0"/>
                <a:ea typeface="Calibri" pitchFamily="34" charset="-122"/>
                <a:cs typeface="Calibri" pitchFamily="34" charset="-120"/>
              </a:rPr>
              <a:t>WHAT WE NEED HELP WITH</a:t>
            </a:r>
            <a:endParaRPr lang="en-US" sz="1050" dirty="0"/>
          </a:p>
        </p:txBody>
      </p:sp>
      <p:sp>
        <p:nvSpPr>
          <p:cNvPr id="34" name="Text 31"/>
          <p:cNvSpPr/>
          <p:nvPr/>
        </p:nvSpPr>
        <p:spPr>
          <a:xfrm>
            <a:off x="822960" y="5669280"/>
            <a:ext cx="10515600" cy="320040"/>
          </a:xfrm>
          <a:prstGeom prst="rect">
            <a:avLst/>
          </a:prstGeom>
          <a:noFill/>
          <a:ln/>
        </p:spPr>
        <p:txBody>
          <a:bodyPr wrap="square" lIns="0" tIns="0" rIns="0" bIns="0" rtlCol="0" anchor="t"/>
          <a:lstStyle/>
          <a:p>
            <a:pPr>
              <a:lnSpc>
                <a:spcPct val="105000"/>
              </a:lnSpc>
            </a:pPr>
            <a:r>
              <a:rPr lang="en-IN" sz="1400" dirty="0"/>
              <a:t>AI model training - Mentor feedback - User testing with students</a:t>
            </a:r>
            <a:endParaRPr lang="en-US" sz="1250" dirty="0"/>
          </a:p>
        </p:txBody>
      </p:sp>
      <p:sp>
        <p:nvSpPr>
          <p:cNvPr id="35" name="Date Placeholder"/>
          <p:cNvSpPr>
            <a:spLocks noGrp="1"/>
          </p:cNvSpPr>
          <p:nvPr>
            <p:ph type="dt" sz="quarter" idx="10"/>
          </p:nvPr>
        </p:nvSpPr>
        <p:spPr>
          <a:xfrm>
            <a:off x="502920" y="6382512"/>
            <a:ext cx="2926080" cy="256032"/>
          </a:xfrm>
          <a:prstGeom prst="rect">
            <a:avLst/>
          </a:prstGeom>
        </p:spPr>
        <p:txBody>
          <a:bodyPr vert="horz" lIns="0" tIns="0" rIns="0" bIns="0" rtlCol="0" anchor="ctr"/>
          <a:lstStyle>
            <a:lvl1pPr algn="l">
              <a:defRPr sz="900">
                <a:solidFill>
                  <a:srgbClr val="8A93A8"/>
                </a:solidFill>
                <a:latin typeface="Calibri" pitchFamily="34" charset="0"/>
                <a:cs typeface="Calibri" pitchFamily="34" charset="0"/>
              </a:defRPr>
            </a:lvl1pPr>
          </a:lstStyle>
          <a:p>
            <a:r>
              <a:rPr lang="en-IN" dirty="0"/>
              <a:t>25-07-2026</a:t>
            </a:r>
          </a:p>
        </p:txBody>
      </p:sp>
      <p:sp>
        <p:nvSpPr>
          <p:cNvPr id="36" name="Footer Placeholder"/>
          <p:cNvSpPr>
            <a:spLocks noGrp="1"/>
          </p:cNvSpPr>
          <p:nvPr>
            <p:ph type="ftr" sz="quarter" idx="11"/>
          </p:nvPr>
        </p:nvSpPr>
        <p:spPr>
          <a:xfrm>
            <a:off x="3657600" y="6382512"/>
            <a:ext cx="4873752" cy="256032"/>
          </a:xfrm>
          <a:prstGeom prst="rect">
            <a:avLst/>
          </a:prstGeom>
        </p:spPr>
        <p:txBody>
          <a:bodyPr vert="horz" lIns="0" tIns="0" rIns="0" bIns="0" rtlCol="0" anchor="ctr"/>
          <a:lstStyle>
            <a:lvl1pPr algn="ctr">
              <a:defRPr sz="900">
                <a:solidFill>
                  <a:srgbClr val="8A93A8"/>
                </a:solidFill>
                <a:latin typeface="Calibri" pitchFamily="34" charset="0"/>
                <a:cs typeface="Calibri" pitchFamily="34" charset="0"/>
              </a:defRPr>
            </a:lvl1pPr>
          </a:lstStyle>
          <a:p>
            <a:r>
              <a:rPr lang="en-IN"/>
              <a:t>Sri Eshwar College of Engineering  ·  Design Thinking &amp; Innovation</a:t>
            </a:r>
          </a:p>
        </p:txBody>
      </p:sp>
      <p:sp>
        <p:nvSpPr>
          <p:cNvPr id="37" name="Slide Number Placeholder"/>
          <p:cNvSpPr>
            <a:spLocks noGrp="1"/>
          </p:cNvSpPr>
          <p:nvPr>
            <p:ph type="sldNum" sz="quarter" idx="12"/>
          </p:nvPr>
        </p:nvSpPr>
        <p:spPr>
          <a:xfrm>
            <a:off x="10424160" y="6382512"/>
            <a:ext cx="1261872" cy="256032"/>
          </a:xfrm>
          <a:prstGeom prst="rect">
            <a:avLst/>
          </a:prstGeom>
        </p:spPr>
        <p:txBody>
          <a:bodyPr vert="horz" lIns="0" tIns="0" rIns="0" bIns="0" rtlCol="0" anchor="ctr"/>
          <a:lstStyle>
            <a:lvl1pPr algn="r">
              <a:defRPr sz="900">
                <a:solidFill>
                  <a:srgbClr val="8A93A8"/>
                </a:solidFill>
                <a:latin typeface="Calibri" pitchFamily="34" charset="0"/>
                <a:cs typeface="Calibri" pitchFamily="34" charset="0"/>
              </a:defRPr>
            </a:lvl1pPr>
          </a:lstStyle>
          <a:p>
            <a:pPr>
              <a:defRPr sz="1000">
                <a:solidFill>
                  <a:srgbClr val="475569"/>
                </a:solidFill>
                <a:latin typeface="Calibri"/>
              </a:defRPr>
            </a:pPr>
            <a:r>
              <a:t>12</a:t>
            </a:r>
            <a:endParaRPr lang="en-IN"/>
          </a:p>
        </p:txBody>
      </p:sp>
      <p:pic>
        <p:nvPicPr>
          <p:cNvPr id="38" name="Picture 37">
            <a:extLst>
              <a:ext uri="{FF2B5EF4-FFF2-40B4-BE49-F238E27FC236}">
                <a16:creationId xmlns:a16="http://schemas.microsoft.com/office/drawing/2014/main" id="{5F6858B6-56EF-541B-2198-4A2398ED5DBD}"/>
              </a:ext>
            </a:extLst>
          </p:cNvPr>
          <p:cNvPicPr>
            <a:picLocks noChangeAspect="1"/>
          </p:cNvPicPr>
          <p:nvPr/>
        </p:nvPicPr>
        <p:blipFill>
          <a:blip r:embed="rId4"/>
          <a:stretch>
            <a:fillRect/>
          </a:stretch>
        </p:blipFill>
        <p:spPr>
          <a:xfrm>
            <a:off x="10363654" y="371776"/>
            <a:ext cx="1325426" cy="60350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71A45"/>
        </a:solidFill>
        <a:effectLst/>
      </p:bgPr>
    </p:bg>
    <p:spTree>
      <p:nvGrpSpPr>
        <p:cNvPr id="1" name=""/>
        <p:cNvGrpSpPr/>
        <p:nvPr/>
      </p:nvGrpSpPr>
      <p:grpSpPr>
        <a:xfrm>
          <a:off x="0" y="0"/>
          <a:ext cx="0" cy="0"/>
          <a:chOff x="0" y="0"/>
          <a:chExt cx="0" cy="0"/>
        </a:xfrm>
      </p:grpSpPr>
      <p:sp>
        <p:nvSpPr>
          <p:cNvPr id="2" name="Shape 0"/>
          <p:cNvSpPr/>
          <p:nvPr/>
        </p:nvSpPr>
        <p:spPr>
          <a:xfrm>
            <a:off x="8229600" y="-2194560"/>
            <a:ext cx="6583680" cy="6583680"/>
          </a:xfrm>
          <a:prstGeom prst="ellipse">
            <a:avLst/>
          </a:prstGeom>
          <a:solidFill>
            <a:srgbClr val="0D2F7A">
              <a:alpha val="50000"/>
            </a:srgbClr>
          </a:solidFill>
          <a:ln/>
        </p:spPr>
        <p:txBody>
          <a:bodyPr/>
          <a:p/>
        </p:txBody>
      </p:sp>
      <p:sp>
        <p:nvSpPr>
          <p:cNvPr id="3" name="Shape 1"/>
          <p:cNvSpPr/>
          <p:nvPr/>
        </p:nvSpPr>
        <p:spPr>
          <a:xfrm>
            <a:off x="-2377440" y="3474720"/>
            <a:ext cx="5852160" cy="5852160"/>
          </a:xfrm>
          <a:prstGeom prst="ellipse">
            <a:avLst/>
          </a:prstGeom>
          <a:solidFill>
            <a:srgbClr val="0D2F7A">
              <a:alpha val="42000"/>
            </a:srgbClr>
          </a:solidFill>
          <a:ln/>
        </p:spPr>
        <p:txBody>
          <a:bodyPr/>
          <a:p/>
        </p:txBody>
      </p:sp>
      <p:sp>
        <p:nvSpPr>
          <p:cNvPr id="4" name="Text 2"/>
          <p:cNvSpPr/>
          <p:nvPr/>
        </p:nvSpPr>
        <p:spPr>
          <a:xfrm>
            <a:off x="457200" y="2148840"/>
            <a:ext cx="11274552" cy="12801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200" b="1" i="0" u="none" strike="noStrike" kern="1200" cap="none" spc="0" normalizeH="0" baseline="0" noProof="0" dirty="0">
                <a:ln>
                  <a:noFill/>
                </a:ln>
                <a:solidFill>
                  <a:srgbClr val="FFC01E"/>
                </a:solidFill>
                <a:effectLst/>
                <a:uLnTx/>
                <a:uFillTx/>
                <a:latin typeface="Calibri" pitchFamily="34" charset="0"/>
                <a:ea typeface="Calibri" pitchFamily="34" charset="-122"/>
                <a:cs typeface="Calibri" pitchFamily="34" charset="-120"/>
              </a:rPr>
              <a:t>Thank You!</a:t>
            </a:r>
            <a:endParaRPr kumimoji="0" lang="en-US" sz="7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457200" y="3520440"/>
            <a:ext cx="11274552"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100" b="0" i="0" u="none" strike="noStrike" kern="0" cap="none" spc="50" normalizeH="0" baseline="0" noProof="0" dirty="0">
                <a:ln>
                  <a:noFill/>
                </a:ln>
                <a:solidFill>
                  <a:srgbClr val="FFFFFF"/>
                </a:solidFill>
                <a:effectLst/>
                <a:uLnTx/>
                <a:uFillTx/>
                <a:latin typeface="Calibri" pitchFamily="34" charset="0"/>
                <a:ea typeface="Calibri" pitchFamily="34" charset="-122"/>
                <a:cs typeface="Calibri" pitchFamily="34" charset="-120"/>
              </a:rPr>
              <a:t>Questions, feedback &amp; ideas are always welcome.</a:t>
            </a:r>
            <a:endParaRPr kumimoji="0" lang="en-US" sz="2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457200" y="4800600"/>
            <a:ext cx="11274552"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CE4D"/>
                </a:solidFill>
                <a:effectLst/>
                <a:uLnTx/>
                <a:uFillTx/>
                <a:latin typeface="Calibri" pitchFamily="34" charset="0"/>
                <a:ea typeface="Calibri" pitchFamily="34" charset="-122"/>
                <a:cs typeface="Calibri" pitchFamily="34" charset="-120"/>
              </a:rPr>
              <a:t>Sri Eshwar College of Engineering</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457200" y="5212080"/>
            <a:ext cx="11274552"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0" cap="none" spc="100" normalizeH="0" baseline="0" noProof="0" dirty="0">
                <a:ln>
                  <a:noFill/>
                </a:ln>
                <a:solidFill>
                  <a:srgbClr val="C3CDE8"/>
                </a:solidFill>
                <a:effectLst/>
                <a:uLnTx/>
                <a:uFillTx/>
                <a:latin typeface="Calibri" pitchFamily="34" charset="0"/>
                <a:ea typeface="Calibri" pitchFamily="34" charset="-122"/>
                <a:cs typeface="Calibri" pitchFamily="34" charset="-120"/>
              </a:rPr>
              <a:t>Sri Eshwar Innovation Studio ·  Coimbatore | Tamilnadu</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457200" y="237744"/>
            <a:ext cx="1024128" cy="283464"/>
          </a:xfrm>
          <a:prstGeom prst="rect">
            <a:avLst/>
          </a:prstGeom>
        </p:spPr>
      </p:pic>
      <p:pic>
        <p:nvPicPr>
          <p:cNvPr id="3" name="Picture 2" descr="image.png"/>
          <p:cNvPicPr>
            <a:picLocks noChangeAspect="1"/>
          </p:cNvPicPr>
          <p:nvPr/>
        </p:nvPicPr>
        <p:blipFill>
          <a:blip r:embed="rId3"/>
          <a:stretch>
            <a:fillRect/>
          </a:stretch>
        </p:blipFill>
        <p:spPr>
          <a:xfrm>
            <a:off x="10363654" y="371776"/>
            <a:ext cx="1325426" cy="603504"/>
          </a:xfrm>
          <a:prstGeom prst="rect">
            <a:avLst/>
          </a:prstGeom>
        </p:spPr>
      </p:pic>
      <p:sp>
        <p:nvSpPr>
          <p:cNvPr id="4" name="TextBox 3"/>
          <p:cNvSpPr txBox="1"/>
          <p:nvPr/>
        </p:nvSpPr>
        <p:spPr>
          <a:xfrm>
            <a:off x="502920" y="658368"/>
            <a:ext cx="9600000" cy="420000"/>
          </a:xfrm>
          <a:prstGeom prst="rect">
            <a:avLst/>
          </a:prstGeom>
          <a:noFill/>
        </p:spPr>
        <p:txBody>
          <a:bodyPr wrap="square" lIns="0" tIns="0" rIns="0" bIns="0">
            <a:spAutoFit/>
          </a:bodyPr>
          <a:lstStyle/>
          <a:p>
            <a:pPr>
              <a:defRPr sz="2800" b="1">
                <a:solidFill>
                  <a:srgbClr val="071A45"/>
                </a:solidFill>
                <a:latin typeface="Calibri"/>
              </a:defRPr>
            </a:pPr>
            <a:r>
              <a:t>Implemented System: Core Study &amp; Active Recall</a:t>
            </a:r>
          </a:p>
        </p:txBody>
      </p:sp>
      <p:sp>
        <p:nvSpPr>
          <p:cNvPr id="5" name="TextBox 4"/>
          <p:cNvSpPr txBox="1"/>
          <p:nvPr/>
        </p:nvSpPr>
        <p:spPr>
          <a:xfrm>
            <a:off x="502920" y="1080000"/>
            <a:ext cx="9600000" cy="260000"/>
          </a:xfrm>
          <a:prstGeom prst="rect">
            <a:avLst/>
          </a:prstGeom>
          <a:noFill/>
        </p:spPr>
        <p:txBody>
          <a:bodyPr wrap="square" lIns="0" tIns="0" rIns="0" bIns="0">
            <a:spAutoFit/>
          </a:bodyPr>
          <a:lstStyle/>
          <a:p>
            <a:pPr>
              <a:defRPr sz="1200">
                <a:solidFill>
                  <a:srgbClr val="475569"/>
                </a:solidFill>
                <a:latin typeface="Calibri"/>
              </a:defRPr>
            </a:pPr>
            <a:r>
              <a:t>Centralized learning command center, multi-format lecture ingestion, and grounded quiz generation</a:t>
            </a:r>
          </a:p>
        </p:txBody>
      </p:sp>
      <p:sp>
        <p:nvSpPr>
          <p:cNvPr id="6" name="Rectangle 5"/>
          <p:cNvSpPr/>
          <p:nvPr/>
        </p:nvSpPr>
        <p:spPr>
          <a:xfrm>
            <a:off x="502920" y="1350000"/>
            <a:ext cx="11183112" cy="15000"/>
          </a:xfrm>
          <a:prstGeom prst="rect">
            <a:avLst/>
          </a:prstGeom>
          <a:solidFill>
            <a:srgbClr val="DFE4EE"/>
          </a:solidFill>
          <a:ln>
            <a:solidFill>
              <a:srgbClr val="DF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382512"/>
            <a:ext cx="2926080" cy="256032"/>
          </a:xfrm>
          <a:prstGeom prst="rect">
            <a:avLst/>
          </a:prstGeom>
          <a:noFill/>
        </p:spPr>
        <p:txBody>
          <a:bodyPr wrap="square" lIns="0" tIns="0" rIns="0" bIns="0">
            <a:spAutoFit/>
          </a:bodyPr>
          <a:lstStyle/>
          <a:p>
            <a:pPr>
              <a:defRPr sz="1000">
                <a:solidFill>
                  <a:srgbClr val="475569"/>
                </a:solidFill>
                <a:latin typeface="Calibri"/>
              </a:defRPr>
            </a:pPr>
            <a:r>
              <a:t>25-07-2026</a:t>
            </a:r>
          </a:p>
        </p:txBody>
      </p:sp>
      <p:sp>
        <p:nvSpPr>
          <p:cNvPr id="8" name="TextBox 7"/>
          <p:cNvSpPr txBox="1"/>
          <p:nvPr/>
        </p:nvSpPr>
        <p:spPr>
          <a:xfrm>
            <a:off x="3657600" y="6382512"/>
            <a:ext cx="4873752" cy="256032"/>
          </a:xfrm>
          <a:prstGeom prst="rect">
            <a:avLst/>
          </a:prstGeom>
          <a:noFill/>
        </p:spPr>
        <p:txBody>
          <a:bodyPr wrap="square" lIns="0" tIns="0" rIns="0" bIns="0">
            <a:spAutoFit/>
          </a:bodyPr>
          <a:lstStyle/>
          <a:p>
            <a:pPr>
              <a:defRPr sz="1000">
                <a:solidFill>
                  <a:srgbClr val="475569"/>
                </a:solidFill>
                <a:latin typeface="Calibri"/>
              </a:defRPr>
            </a:pPr>
            <a:r>
              <a:t>Sri Eshwar College of Engineering  ·  Design Thinking &amp; Innovation</a:t>
            </a:r>
          </a:p>
        </p:txBody>
      </p:sp>
      <p:sp>
        <p:nvSpPr>
          <p:cNvPr id="9" name="TextBox 8"/>
          <p:cNvSpPr txBox="1"/>
          <p:nvPr/>
        </p:nvSpPr>
        <p:spPr>
          <a:xfrm>
            <a:off x="10424160" y="6382512"/>
            <a:ext cx="1261872" cy="256032"/>
          </a:xfrm>
          <a:prstGeom prst="rect">
            <a:avLst/>
          </a:prstGeom>
          <a:noFill/>
        </p:spPr>
        <p:txBody>
          <a:bodyPr wrap="square" lIns="0" tIns="0" rIns="0" bIns="0">
            <a:spAutoFit/>
          </a:bodyPr>
          <a:lstStyle/>
          <a:p>
            <a:pPr>
              <a:defRPr sz="1000">
                <a:solidFill>
                  <a:srgbClr val="475569"/>
                </a:solidFill>
                <a:latin typeface="Calibri"/>
              </a:defRPr>
            </a:pPr>
            <a:r>
              <a:t>13</a:t>
            </a:r>
          </a:p>
        </p:txBody>
      </p:sp>
      <p:sp>
        <p:nvSpPr>
          <p:cNvPr id="10" name="Rounded Rectangle 9"/>
          <p:cNvSpPr/>
          <p:nvPr/>
        </p:nvSpPr>
        <p:spPr>
          <a:xfrm>
            <a:off x="502920" y="1460000"/>
            <a:ext cx="3520000" cy="4750000"/>
          </a:xfrm>
          <a:prstGeom prst="roundRect">
            <a:avLst/>
          </a:prstGeom>
          <a:solidFill>
            <a:srgbClr val="F8FAFC"/>
          </a:solidFill>
          <a:ln w="19050">
            <a:solidFill>
              <a:srgbClr val="C3C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2920" y="1560000"/>
            <a:ext cx="3280000" cy="320000"/>
          </a:xfrm>
          <a:prstGeom prst="rect">
            <a:avLst/>
          </a:prstGeom>
          <a:noFill/>
        </p:spPr>
        <p:txBody>
          <a:bodyPr wrap="square" lIns="0" tIns="0" rIns="0" bIns="0">
            <a:spAutoFit/>
          </a:bodyPr>
          <a:lstStyle/>
          <a:p>
            <a:pPr>
              <a:defRPr sz="1300" b="1">
                <a:solidFill>
                  <a:srgbClr val="071A45"/>
                </a:solidFill>
                <a:latin typeface="Calibri"/>
              </a:defRPr>
            </a:pPr>
            <a:r>
              <a:t>Dashboard &amp; Study Hub</a:t>
            </a:r>
          </a:p>
        </p:txBody>
      </p:sp>
      <p:pic>
        <p:nvPicPr>
          <p:cNvPr id="12" name="Picture 11" descr="raw_screen_1.jpeg"/>
          <p:cNvPicPr>
            <a:picLocks noChangeAspect="1"/>
          </p:cNvPicPr>
          <p:nvPr/>
        </p:nvPicPr>
        <p:blipFill>
          <a:blip r:embed="rId4"/>
          <a:stretch>
            <a:fillRect/>
          </a:stretch>
        </p:blipFill>
        <p:spPr>
          <a:xfrm>
            <a:off x="622920" y="1920000"/>
            <a:ext cx="3280000" cy="1980000"/>
          </a:xfrm>
          <a:prstGeom prst="rect">
            <a:avLst/>
          </a:prstGeom>
        </p:spPr>
      </p:pic>
      <p:sp>
        <p:nvSpPr>
          <p:cNvPr id="13" name="TextBox 12"/>
          <p:cNvSpPr txBox="1"/>
          <p:nvPr/>
        </p:nvSpPr>
        <p:spPr>
          <a:xfrm>
            <a:off x="622920" y="3960000"/>
            <a:ext cx="3280000" cy="2150000"/>
          </a:xfrm>
          <a:prstGeom prst="rect">
            <a:avLst/>
          </a:prstGeom>
          <a:noFill/>
        </p:spPr>
        <p:txBody>
          <a:bodyPr wrap="square" lIns="0" tIns="0" rIns="0" bIns="0">
            <a:spAutoFit/>
          </a:bodyPr>
          <a:lstStyle/>
          <a:p>
            <a:pPr>
              <a:spcAft>
                <a:spcPts val="400"/>
              </a:spcAft>
              <a:defRPr sz="1050">
                <a:solidFill>
                  <a:srgbClr val="0F172A"/>
                </a:solidFill>
                <a:latin typeface="Calibri"/>
              </a:defRPr>
            </a:pPr>
            <a:r>
              <a:t>• Displays real-time study stats, streak counter (1 Day, longest 14 days), and earned StudySpark points.</a:t>
            </a:r>
          </a:p>
          <a:p>
            <a:pPr>
              <a:spcAft>
                <a:spcPts val="400"/>
              </a:spcAft>
              <a:defRPr sz="1050">
                <a:solidFill>
                  <a:srgbClr val="0F172A"/>
                </a:solidFill>
                <a:latin typeface="Calibri"/>
              </a:defRPr>
            </a:pPr>
            <a:r>
              <a:t>• Quick action tiles provide instant 1-click access to Quizzes, Planner, Focus Timer, and Materials.</a:t>
            </a:r>
          </a:p>
          <a:p>
            <a:pPr>
              <a:spcAft>
                <a:spcPts val="400"/>
              </a:spcAft>
              <a:defRPr sz="1050">
                <a:solidFill>
                  <a:srgbClr val="0F172A"/>
                </a:solidFill>
                <a:latin typeface="Calibri"/>
              </a:defRPr>
            </a:pPr>
            <a:r>
              <a:t>• Smart alert dynamically detects overdue tasks and triggers an automated re-planning banner.</a:t>
            </a:r>
          </a:p>
        </p:txBody>
      </p:sp>
      <p:sp>
        <p:nvSpPr>
          <p:cNvPr id="14" name="Rounded Rectangle 13"/>
          <p:cNvSpPr/>
          <p:nvPr/>
        </p:nvSpPr>
        <p:spPr>
          <a:xfrm>
            <a:off x="4330000" y="1460000"/>
            <a:ext cx="3520000" cy="4750000"/>
          </a:xfrm>
          <a:prstGeom prst="roundRect">
            <a:avLst/>
          </a:prstGeom>
          <a:solidFill>
            <a:srgbClr val="F8FAFC"/>
          </a:solidFill>
          <a:ln w="19050">
            <a:solidFill>
              <a:srgbClr val="C3C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50000" y="1560000"/>
            <a:ext cx="3280000" cy="320000"/>
          </a:xfrm>
          <a:prstGeom prst="rect">
            <a:avLst/>
          </a:prstGeom>
          <a:noFill/>
        </p:spPr>
        <p:txBody>
          <a:bodyPr wrap="square" lIns="0" tIns="0" rIns="0" bIns="0">
            <a:spAutoFit/>
          </a:bodyPr>
          <a:lstStyle/>
          <a:p>
            <a:pPr>
              <a:defRPr sz="1300" b="1">
                <a:solidFill>
                  <a:srgbClr val="071A45"/>
                </a:solidFill>
                <a:latin typeface="Calibri"/>
              </a:defRPr>
            </a:pPr>
            <a:r>
              <a:t>Multi-Source Materials Hub</a:t>
            </a:r>
          </a:p>
        </p:txBody>
      </p:sp>
      <p:pic>
        <p:nvPicPr>
          <p:cNvPr id="16" name="Picture 15" descr="raw_screen_3.jpeg"/>
          <p:cNvPicPr>
            <a:picLocks noChangeAspect="1"/>
          </p:cNvPicPr>
          <p:nvPr/>
        </p:nvPicPr>
        <p:blipFill>
          <a:blip r:embed="rId5"/>
          <a:stretch>
            <a:fillRect/>
          </a:stretch>
        </p:blipFill>
        <p:spPr>
          <a:xfrm>
            <a:off x="4450000" y="1920000"/>
            <a:ext cx="3280000" cy="1980000"/>
          </a:xfrm>
          <a:prstGeom prst="rect">
            <a:avLst/>
          </a:prstGeom>
        </p:spPr>
      </p:pic>
      <p:sp>
        <p:nvSpPr>
          <p:cNvPr id="17" name="TextBox 16"/>
          <p:cNvSpPr txBox="1"/>
          <p:nvPr/>
        </p:nvSpPr>
        <p:spPr>
          <a:xfrm>
            <a:off x="4450000" y="3960000"/>
            <a:ext cx="3280000" cy="2150000"/>
          </a:xfrm>
          <a:prstGeom prst="rect">
            <a:avLst/>
          </a:prstGeom>
          <a:noFill/>
        </p:spPr>
        <p:txBody>
          <a:bodyPr wrap="square" lIns="0" tIns="0" rIns="0" bIns="0">
            <a:spAutoFit/>
          </a:bodyPr>
          <a:lstStyle/>
          <a:p>
            <a:pPr>
              <a:spcAft>
                <a:spcPts val="400"/>
              </a:spcAft>
              <a:defRPr sz="1050">
                <a:solidFill>
                  <a:srgbClr val="0F172A"/>
                </a:solidFill>
                <a:latin typeface="Calibri"/>
              </a:defRPr>
            </a:pPr>
            <a:r>
              <a:t>• Ingests lecture audio/video (mp3, wav), YouTube transcripts, PDFs, DOCX, and raw class notes.</a:t>
            </a:r>
          </a:p>
          <a:p>
            <a:pPr>
              <a:spcAft>
                <a:spcPts val="400"/>
              </a:spcAft>
              <a:defRPr sz="1050">
                <a:solidFill>
                  <a:srgbClr val="0F172A"/>
                </a:solidFill>
                <a:latin typeface="Calibri"/>
              </a:defRPr>
            </a:pPr>
            <a:r>
              <a:t>• Instant document processing with status indicators ('UNIT 5 PDF - Ready').</a:t>
            </a:r>
          </a:p>
          <a:p>
            <a:pPr>
              <a:spcAft>
                <a:spcPts val="400"/>
              </a:spcAft>
              <a:defRPr sz="1050">
                <a:solidFill>
                  <a:srgbClr val="0F172A"/>
                </a:solidFill>
                <a:latin typeface="Calibri"/>
              </a:defRPr>
            </a:pPr>
            <a:r>
              <a:t>• Direct action buttons to immediately generate Quizzes, Flashcards, or open AI Contextual Chat.</a:t>
            </a:r>
          </a:p>
        </p:txBody>
      </p:sp>
      <p:sp>
        <p:nvSpPr>
          <p:cNvPr id="18" name="Rounded Rectangle 17"/>
          <p:cNvSpPr/>
          <p:nvPr/>
        </p:nvSpPr>
        <p:spPr>
          <a:xfrm>
            <a:off x="8160000" y="1460000"/>
            <a:ext cx="3520000" cy="4750000"/>
          </a:xfrm>
          <a:prstGeom prst="roundRect">
            <a:avLst/>
          </a:prstGeom>
          <a:solidFill>
            <a:srgbClr val="F8FAFC"/>
          </a:solidFill>
          <a:ln w="19050">
            <a:solidFill>
              <a:srgbClr val="C3C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80000" y="1560000"/>
            <a:ext cx="3280000" cy="320000"/>
          </a:xfrm>
          <a:prstGeom prst="rect">
            <a:avLst/>
          </a:prstGeom>
          <a:noFill/>
        </p:spPr>
        <p:txBody>
          <a:bodyPr wrap="square" lIns="0" tIns="0" rIns="0" bIns="0">
            <a:spAutoFit/>
          </a:bodyPr>
          <a:lstStyle/>
          <a:p>
            <a:pPr>
              <a:defRPr sz="1300" b="1">
                <a:solidFill>
                  <a:srgbClr val="071A45"/>
                </a:solidFill>
                <a:latin typeface="Calibri"/>
              </a:defRPr>
            </a:pPr>
            <a:r>
              <a:t>AI Active Recall Quizzes</a:t>
            </a:r>
          </a:p>
        </p:txBody>
      </p:sp>
      <p:pic>
        <p:nvPicPr>
          <p:cNvPr id="20" name="Picture 19" descr="raw_screen_5.jpeg"/>
          <p:cNvPicPr>
            <a:picLocks noChangeAspect="1"/>
          </p:cNvPicPr>
          <p:nvPr/>
        </p:nvPicPr>
        <p:blipFill>
          <a:blip r:embed="rId6"/>
          <a:stretch>
            <a:fillRect/>
          </a:stretch>
        </p:blipFill>
        <p:spPr>
          <a:xfrm>
            <a:off x="8280000" y="1920000"/>
            <a:ext cx="3280000" cy="1980000"/>
          </a:xfrm>
          <a:prstGeom prst="rect">
            <a:avLst/>
          </a:prstGeom>
        </p:spPr>
      </p:pic>
      <p:sp>
        <p:nvSpPr>
          <p:cNvPr id="21" name="TextBox 20"/>
          <p:cNvSpPr txBox="1"/>
          <p:nvPr/>
        </p:nvSpPr>
        <p:spPr>
          <a:xfrm>
            <a:off x="8280000" y="3960000"/>
            <a:ext cx="3280000" cy="2150000"/>
          </a:xfrm>
          <a:prstGeom prst="rect">
            <a:avLst/>
          </a:prstGeom>
          <a:noFill/>
        </p:spPr>
        <p:txBody>
          <a:bodyPr wrap="square" lIns="0" tIns="0" rIns="0" bIns="0">
            <a:spAutoFit/>
          </a:bodyPr>
          <a:lstStyle/>
          <a:p>
            <a:pPr>
              <a:spcAft>
                <a:spcPts val="400"/>
              </a:spcAft>
              <a:defRPr sz="1050">
                <a:solidFill>
                  <a:srgbClr val="0F172A"/>
                </a:solidFill>
                <a:latin typeface="Calibri"/>
              </a:defRPr>
            </a:pPr>
            <a:r>
              <a:t>• Generates targeted practice quizzes strictly grounded in student lecture notes (eliminates hallucinations).</a:t>
            </a:r>
          </a:p>
          <a:p>
            <a:pPr>
              <a:spcAft>
                <a:spcPts val="400"/>
              </a:spcAft>
              <a:defRPr sz="1050">
                <a:solidFill>
                  <a:srgbClr val="0F172A"/>
                </a:solidFill>
                <a:latin typeface="Calibri"/>
              </a:defRPr>
            </a:pPr>
            <a:r>
              <a:t>• Configurable question volume (5, 10, 15, 20), difficulty levels (Easy, Medium, Hard), and formats.</a:t>
            </a:r>
          </a:p>
          <a:p>
            <a:pPr>
              <a:spcAft>
                <a:spcPts val="400"/>
              </a:spcAft>
              <a:defRPr sz="1050">
                <a:solidFill>
                  <a:srgbClr val="0F172A"/>
                </a:solidFill>
                <a:latin typeface="Calibri"/>
              </a:defRPr>
            </a:pPr>
            <a:r>
              <a:t>• Active recall method guarantees immediate concept reinforcement and objective mastery feedback.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457200" y="237744"/>
            <a:ext cx="1024128" cy="283464"/>
          </a:xfrm>
          <a:prstGeom prst="rect">
            <a:avLst/>
          </a:prstGeom>
        </p:spPr>
      </p:pic>
      <p:pic>
        <p:nvPicPr>
          <p:cNvPr id="3" name="Picture 2" descr="image.png"/>
          <p:cNvPicPr>
            <a:picLocks noChangeAspect="1"/>
          </p:cNvPicPr>
          <p:nvPr/>
        </p:nvPicPr>
        <p:blipFill>
          <a:blip r:embed="rId3"/>
          <a:stretch>
            <a:fillRect/>
          </a:stretch>
        </p:blipFill>
        <p:spPr>
          <a:xfrm>
            <a:off x="10363654" y="371776"/>
            <a:ext cx="1325426" cy="603504"/>
          </a:xfrm>
          <a:prstGeom prst="rect">
            <a:avLst/>
          </a:prstGeom>
        </p:spPr>
      </p:pic>
      <p:sp>
        <p:nvSpPr>
          <p:cNvPr id="4" name="TextBox 3"/>
          <p:cNvSpPr txBox="1"/>
          <p:nvPr/>
        </p:nvSpPr>
        <p:spPr>
          <a:xfrm>
            <a:off x="502920" y="658368"/>
            <a:ext cx="9600000" cy="420000"/>
          </a:xfrm>
          <a:prstGeom prst="rect">
            <a:avLst/>
          </a:prstGeom>
          <a:noFill/>
        </p:spPr>
        <p:txBody>
          <a:bodyPr wrap="square" lIns="0" tIns="0" rIns="0" bIns="0">
            <a:spAutoFit/>
          </a:bodyPr>
          <a:lstStyle/>
          <a:p>
            <a:pPr>
              <a:defRPr sz="2800" b="1">
                <a:solidFill>
                  <a:srgbClr val="071A45"/>
                </a:solidFill>
                <a:latin typeface="Calibri"/>
              </a:defRPr>
            </a:pPr>
            <a:r>
              <a:t>Implemented System: Adaptive Planning &amp; Diagnostics</a:t>
            </a:r>
          </a:p>
        </p:txBody>
      </p:sp>
      <p:sp>
        <p:nvSpPr>
          <p:cNvPr id="5" name="TextBox 4"/>
          <p:cNvSpPr txBox="1"/>
          <p:nvPr/>
        </p:nvSpPr>
        <p:spPr>
          <a:xfrm>
            <a:off x="502920" y="1080000"/>
            <a:ext cx="9600000" cy="260000"/>
          </a:xfrm>
          <a:prstGeom prst="rect">
            <a:avLst/>
          </a:prstGeom>
          <a:noFill/>
        </p:spPr>
        <p:txBody>
          <a:bodyPr wrap="square" lIns="0" tIns="0" rIns="0" bIns="0">
            <a:spAutoFit/>
          </a:bodyPr>
          <a:lstStyle/>
          <a:p>
            <a:pPr>
              <a:defRPr sz="1200">
                <a:solidFill>
                  <a:srgbClr val="475569"/>
                </a:solidFill>
                <a:latin typeface="Calibri"/>
              </a:defRPr>
            </a:pPr>
            <a:r>
              <a:t>Automated spaced schedules, rigorous mock exams, and transparent weakness detection</a:t>
            </a:r>
          </a:p>
        </p:txBody>
      </p:sp>
      <p:sp>
        <p:nvSpPr>
          <p:cNvPr id="6" name="Rectangle 5"/>
          <p:cNvSpPr/>
          <p:nvPr/>
        </p:nvSpPr>
        <p:spPr>
          <a:xfrm>
            <a:off x="502920" y="1350000"/>
            <a:ext cx="11183112" cy="15000"/>
          </a:xfrm>
          <a:prstGeom prst="rect">
            <a:avLst/>
          </a:prstGeom>
          <a:solidFill>
            <a:srgbClr val="DFE4EE"/>
          </a:solidFill>
          <a:ln>
            <a:solidFill>
              <a:srgbClr val="DF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382512"/>
            <a:ext cx="2926080" cy="256032"/>
          </a:xfrm>
          <a:prstGeom prst="rect">
            <a:avLst/>
          </a:prstGeom>
          <a:noFill/>
        </p:spPr>
        <p:txBody>
          <a:bodyPr wrap="square" lIns="0" tIns="0" rIns="0" bIns="0">
            <a:spAutoFit/>
          </a:bodyPr>
          <a:lstStyle/>
          <a:p>
            <a:pPr>
              <a:defRPr sz="1000">
                <a:solidFill>
                  <a:srgbClr val="475569"/>
                </a:solidFill>
                <a:latin typeface="Calibri"/>
              </a:defRPr>
            </a:pPr>
            <a:r>
              <a:t>25-07-2026</a:t>
            </a:r>
          </a:p>
        </p:txBody>
      </p:sp>
      <p:sp>
        <p:nvSpPr>
          <p:cNvPr id="8" name="TextBox 7"/>
          <p:cNvSpPr txBox="1"/>
          <p:nvPr/>
        </p:nvSpPr>
        <p:spPr>
          <a:xfrm>
            <a:off x="3657600" y="6382512"/>
            <a:ext cx="4873752" cy="256032"/>
          </a:xfrm>
          <a:prstGeom prst="rect">
            <a:avLst/>
          </a:prstGeom>
          <a:noFill/>
        </p:spPr>
        <p:txBody>
          <a:bodyPr wrap="square" lIns="0" tIns="0" rIns="0" bIns="0">
            <a:spAutoFit/>
          </a:bodyPr>
          <a:lstStyle/>
          <a:p>
            <a:pPr>
              <a:defRPr sz="1000">
                <a:solidFill>
                  <a:srgbClr val="475569"/>
                </a:solidFill>
                <a:latin typeface="Calibri"/>
              </a:defRPr>
            </a:pPr>
            <a:r>
              <a:t>Sri Eshwar College of Engineering  ·  Design Thinking &amp; Innovation</a:t>
            </a:r>
          </a:p>
        </p:txBody>
      </p:sp>
      <p:sp>
        <p:nvSpPr>
          <p:cNvPr id="9" name="TextBox 8"/>
          <p:cNvSpPr txBox="1"/>
          <p:nvPr/>
        </p:nvSpPr>
        <p:spPr>
          <a:xfrm>
            <a:off x="10424160" y="6382512"/>
            <a:ext cx="1261872" cy="256032"/>
          </a:xfrm>
          <a:prstGeom prst="rect">
            <a:avLst/>
          </a:prstGeom>
          <a:noFill/>
        </p:spPr>
        <p:txBody>
          <a:bodyPr wrap="square" lIns="0" tIns="0" rIns="0" bIns="0">
            <a:spAutoFit/>
          </a:bodyPr>
          <a:lstStyle/>
          <a:p>
            <a:pPr>
              <a:defRPr sz="1000">
                <a:solidFill>
                  <a:srgbClr val="475569"/>
                </a:solidFill>
                <a:latin typeface="Calibri"/>
              </a:defRPr>
            </a:pPr>
            <a:r>
              <a:t>14</a:t>
            </a:r>
          </a:p>
        </p:txBody>
      </p:sp>
      <p:sp>
        <p:nvSpPr>
          <p:cNvPr id="10" name="Rounded Rectangle 9"/>
          <p:cNvSpPr/>
          <p:nvPr/>
        </p:nvSpPr>
        <p:spPr>
          <a:xfrm>
            <a:off x="502920" y="1460000"/>
            <a:ext cx="3520000" cy="4750000"/>
          </a:xfrm>
          <a:prstGeom prst="roundRect">
            <a:avLst/>
          </a:prstGeom>
          <a:solidFill>
            <a:srgbClr val="F8FAFC"/>
          </a:solidFill>
          <a:ln w="19050">
            <a:solidFill>
              <a:srgbClr val="C3C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2920" y="1560000"/>
            <a:ext cx="3280000" cy="320000"/>
          </a:xfrm>
          <a:prstGeom prst="rect">
            <a:avLst/>
          </a:prstGeom>
          <a:noFill/>
        </p:spPr>
        <p:txBody>
          <a:bodyPr wrap="square" lIns="0" tIns="0" rIns="0" bIns="0">
            <a:spAutoFit/>
          </a:bodyPr>
          <a:lstStyle/>
          <a:p>
            <a:pPr>
              <a:defRPr sz="1300" b="1">
                <a:solidFill>
                  <a:srgbClr val="071A45"/>
                </a:solidFill>
                <a:latin typeface="Calibri"/>
              </a:defRPr>
            </a:pPr>
            <a:r>
              <a:t>Adaptive Study Planner</a:t>
            </a:r>
          </a:p>
        </p:txBody>
      </p:sp>
      <p:pic>
        <p:nvPicPr>
          <p:cNvPr id="12" name="Picture 11" descr="raw_screen_8.jpeg"/>
          <p:cNvPicPr>
            <a:picLocks noChangeAspect="1"/>
          </p:cNvPicPr>
          <p:nvPr/>
        </p:nvPicPr>
        <p:blipFill>
          <a:blip r:embed="rId4"/>
          <a:stretch>
            <a:fillRect/>
          </a:stretch>
        </p:blipFill>
        <p:spPr>
          <a:xfrm>
            <a:off x="622920" y="1920000"/>
            <a:ext cx="3280000" cy="1980000"/>
          </a:xfrm>
          <a:prstGeom prst="rect">
            <a:avLst/>
          </a:prstGeom>
        </p:spPr>
      </p:pic>
      <p:sp>
        <p:nvSpPr>
          <p:cNvPr id="13" name="TextBox 12"/>
          <p:cNvSpPr txBox="1"/>
          <p:nvPr/>
        </p:nvSpPr>
        <p:spPr>
          <a:xfrm>
            <a:off x="622920" y="3960000"/>
            <a:ext cx="3280000" cy="2150000"/>
          </a:xfrm>
          <a:prstGeom prst="rect">
            <a:avLst/>
          </a:prstGeom>
          <a:noFill/>
        </p:spPr>
        <p:txBody>
          <a:bodyPr wrap="square" lIns="0" tIns="0" rIns="0" bIns="0">
            <a:spAutoFit/>
          </a:bodyPr>
          <a:lstStyle/>
          <a:p>
            <a:pPr>
              <a:spcAft>
                <a:spcPts val="400"/>
              </a:spcAft>
              <a:defRPr sz="1050">
                <a:solidFill>
                  <a:srgbClr val="0F172A"/>
                </a:solidFill>
                <a:latin typeface="Calibri"/>
              </a:defRPr>
            </a:pPr>
            <a:r>
              <a:t>• Generates exam-aligned spaced repetition schedules tailored to real syllabus weights and deadlines.</a:t>
            </a:r>
          </a:p>
          <a:p>
            <a:pPr>
              <a:spcAft>
                <a:spcPts val="400"/>
              </a:spcAft>
              <a:defRPr sz="1050">
                <a:solidFill>
                  <a:srgbClr val="0F172A"/>
                </a:solidFill>
                <a:latin typeface="Calibri"/>
              </a:defRPr>
            </a:pPr>
            <a:r>
              <a:t>• 'One-Click Smart Re-Plan' dynamically redistributes missed tasks across future days without cramming.</a:t>
            </a:r>
          </a:p>
          <a:p>
            <a:pPr>
              <a:spcAft>
                <a:spcPts val="400"/>
              </a:spcAft>
              <a:defRPr sz="1050">
                <a:solidFill>
                  <a:srgbClr val="0F172A"/>
                </a:solidFill>
                <a:latin typeface="Calibri"/>
              </a:defRPr>
            </a:pPr>
            <a:r>
              <a:t>• Daily subject checklist tracks real progress and links directly to timer-assisted study blocks.</a:t>
            </a:r>
          </a:p>
        </p:txBody>
      </p:sp>
      <p:sp>
        <p:nvSpPr>
          <p:cNvPr id="14" name="Rounded Rectangle 13"/>
          <p:cNvSpPr/>
          <p:nvPr/>
        </p:nvSpPr>
        <p:spPr>
          <a:xfrm>
            <a:off x="4330000" y="1460000"/>
            <a:ext cx="3520000" cy="4750000"/>
          </a:xfrm>
          <a:prstGeom prst="roundRect">
            <a:avLst/>
          </a:prstGeom>
          <a:solidFill>
            <a:srgbClr val="F8FAFC"/>
          </a:solidFill>
          <a:ln w="19050">
            <a:solidFill>
              <a:srgbClr val="C3C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50000" y="1560000"/>
            <a:ext cx="3280000" cy="320000"/>
          </a:xfrm>
          <a:prstGeom prst="rect">
            <a:avLst/>
          </a:prstGeom>
          <a:noFill/>
        </p:spPr>
        <p:txBody>
          <a:bodyPr wrap="square" lIns="0" tIns="0" rIns="0" bIns="0">
            <a:spAutoFit/>
          </a:bodyPr>
          <a:lstStyle/>
          <a:p>
            <a:pPr>
              <a:defRPr sz="1300" b="1">
                <a:solidFill>
                  <a:srgbClr val="071A45"/>
                </a:solidFill>
                <a:latin typeface="Calibri"/>
              </a:defRPr>
            </a:pPr>
            <a:r>
              <a:t>Exam Simulation Mode</a:t>
            </a:r>
          </a:p>
        </p:txBody>
      </p:sp>
      <p:pic>
        <p:nvPicPr>
          <p:cNvPr id="16" name="Picture 15" descr="raw_screen_6.jpeg"/>
          <p:cNvPicPr>
            <a:picLocks noChangeAspect="1"/>
          </p:cNvPicPr>
          <p:nvPr/>
        </p:nvPicPr>
        <p:blipFill>
          <a:blip r:embed="rId5"/>
          <a:stretch>
            <a:fillRect/>
          </a:stretch>
        </p:blipFill>
        <p:spPr>
          <a:xfrm>
            <a:off x="4450000" y="1920000"/>
            <a:ext cx="3280000" cy="1980000"/>
          </a:xfrm>
          <a:prstGeom prst="rect">
            <a:avLst/>
          </a:prstGeom>
        </p:spPr>
      </p:pic>
      <p:sp>
        <p:nvSpPr>
          <p:cNvPr id="17" name="TextBox 16"/>
          <p:cNvSpPr txBox="1"/>
          <p:nvPr/>
        </p:nvSpPr>
        <p:spPr>
          <a:xfrm>
            <a:off x="4450000" y="3960000"/>
            <a:ext cx="3280000" cy="2150000"/>
          </a:xfrm>
          <a:prstGeom prst="rect">
            <a:avLst/>
          </a:prstGeom>
          <a:noFill/>
        </p:spPr>
        <p:txBody>
          <a:bodyPr wrap="square" lIns="0" tIns="0" rIns="0" bIns="0">
            <a:spAutoFit/>
          </a:bodyPr>
          <a:lstStyle/>
          <a:p>
            <a:pPr>
              <a:spcAft>
                <a:spcPts val="400"/>
              </a:spcAft>
              <a:defRPr sz="1050">
                <a:solidFill>
                  <a:srgbClr val="0F172A"/>
                </a:solidFill>
                <a:latin typeface="Calibri"/>
              </a:defRPr>
            </a:pPr>
            <a:r>
              <a:t>• Authentic exam environment with Sprint Mocks (15 Qs · 20m), Midterms, and Comprehensive Finals.</a:t>
            </a:r>
          </a:p>
          <a:p>
            <a:pPr>
              <a:spcAft>
                <a:spcPts val="400"/>
              </a:spcAft>
              <a:defRPr sz="1050">
                <a:solidFill>
                  <a:srgbClr val="0F172A"/>
                </a:solidFill>
                <a:latin typeface="Calibri"/>
              </a:defRPr>
            </a:pPr>
            <a:r>
              <a:t>• Strict countdown timers with automatic submission enforce realistic exam pacing.</a:t>
            </a:r>
          </a:p>
          <a:p>
            <a:pPr>
              <a:spcAft>
                <a:spcPts val="400"/>
              </a:spcAft>
              <a:defRPr sz="1050">
                <a:solidFill>
                  <a:srgbClr val="0F172A"/>
                </a:solidFill>
                <a:latin typeface="Calibri"/>
              </a:defRPr>
            </a:pPr>
            <a:r>
              <a:t>• Zero-hints policy during test with post-submission question-by-question diagnostic analytics.</a:t>
            </a:r>
          </a:p>
        </p:txBody>
      </p:sp>
      <p:sp>
        <p:nvSpPr>
          <p:cNvPr id="18" name="Rounded Rectangle 17"/>
          <p:cNvSpPr/>
          <p:nvPr/>
        </p:nvSpPr>
        <p:spPr>
          <a:xfrm>
            <a:off x="8160000" y="1460000"/>
            <a:ext cx="3520000" cy="4750000"/>
          </a:xfrm>
          <a:prstGeom prst="roundRect">
            <a:avLst/>
          </a:prstGeom>
          <a:solidFill>
            <a:srgbClr val="F8FAFC"/>
          </a:solidFill>
          <a:ln w="19050">
            <a:solidFill>
              <a:srgbClr val="C3C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80000" y="1560000"/>
            <a:ext cx="3280000" cy="320000"/>
          </a:xfrm>
          <a:prstGeom prst="rect">
            <a:avLst/>
          </a:prstGeom>
          <a:noFill/>
        </p:spPr>
        <p:txBody>
          <a:bodyPr wrap="square" lIns="0" tIns="0" rIns="0" bIns="0">
            <a:spAutoFit/>
          </a:bodyPr>
          <a:lstStyle/>
          <a:p>
            <a:pPr>
              <a:defRPr sz="1300" b="1">
                <a:solidFill>
                  <a:srgbClr val="071A45"/>
                </a:solidFill>
                <a:latin typeface="Calibri"/>
              </a:defRPr>
            </a:pPr>
            <a:r>
              <a:t>Weak Topics &amp; Diagnostics</a:t>
            </a:r>
          </a:p>
        </p:txBody>
      </p:sp>
      <p:pic>
        <p:nvPicPr>
          <p:cNvPr id="20" name="Picture 19" descr="raw_screen_9.jpeg"/>
          <p:cNvPicPr>
            <a:picLocks noChangeAspect="1"/>
          </p:cNvPicPr>
          <p:nvPr/>
        </p:nvPicPr>
        <p:blipFill>
          <a:blip r:embed="rId6"/>
          <a:stretch>
            <a:fillRect/>
          </a:stretch>
        </p:blipFill>
        <p:spPr>
          <a:xfrm>
            <a:off x="8280000" y="1920000"/>
            <a:ext cx="3280000" cy="1980000"/>
          </a:xfrm>
          <a:prstGeom prst="rect">
            <a:avLst/>
          </a:prstGeom>
        </p:spPr>
      </p:pic>
      <p:sp>
        <p:nvSpPr>
          <p:cNvPr id="21" name="TextBox 20"/>
          <p:cNvSpPr txBox="1"/>
          <p:nvPr/>
        </p:nvSpPr>
        <p:spPr>
          <a:xfrm>
            <a:off x="8280000" y="3960000"/>
            <a:ext cx="3280000" cy="2150000"/>
          </a:xfrm>
          <a:prstGeom prst="rect">
            <a:avLst/>
          </a:prstGeom>
          <a:noFill/>
        </p:spPr>
        <p:txBody>
          <a:bodyPr wrap="square" lIns="0" tIns="0" rIns="0" bIns="0">
            <a:spAutoFit/>
          </a:bodyPr>
          <a:lstStyle/>
          <a:p>
            <a:pPr>
              <a:spcAft>
                <a:spcPts val="400"/>
              </a:spcAft>
              <a:defRPr sz="1050">
                <a:solidFill>
                  <a:srgbClr val="0F172A"/>
                </a:solidFill>
                <a:latin typeface="Calibri"/>
              </a:defRPr>
            </a:pPr>
            <a:r>
              <a:t>• Transparent rule-based detection flags topics with &lt;60% accuracy after at least 5 questions.</a:t>
            </a:r>
          </a:p>
          <a:p>
            <a:pPr>
              <a:spcAft>
                <a:spcPts val="400"/>
              </a:spcAft>
              <a:defRPr sz="1050">
                <a:solidFill>
                  <a:srgbClr val="0F172A"/>
                </a:solidFill>
                <a:latin typeface="Calibri"/>
              </a:defRPr>
            </a:pPr>
            <a:r>
              <a:t>• Eliminates ungrounded black-box AI by providing clear deterministic mastery thresholds.</a:t>
            </a:r>
          </a:p>
          <a:p>
            <a:pPr>
              <a:spcAft>
                <a:spcPts val="400"/>
              </a:spcAft>
              <a:defRPr sz="1050">
                <a:solidFill>
                  <a:srgbClr val="0F172A"/>
                </a:solidFill>
                <a:latin typeface="Calibri"/>
              </a:defRPr>
            </a:pPr>
            <a:r>
              <a:t>• Automatically surfaces prioritized remediation practice sets for flagged subjects.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457200" y="237744"/>
            <a:ext cx="1024128" cy="283464"/>
          </a:xfrm>
          <a:prstGeom prst="rect">
            <a:avLst/>
          </a:prstGeom>
        </p:spPr>
      </p:pic>
      <p:pic>
        <p:nvPicPr>
          <p:cNvPr id="3" name="Picture 2" descr="image.png"/>
          <p:cNvPicPr>
            <a:picLocks noChangeAspect="1"/>
          </p:cNvPicPr>
          <p:nvPr/>
        </p:nvPicPr>
        <p:blipFill>
          <a:blip r:embed="rId3"/>
          <a:stretch>
            <a:fillRect/>
          </a:stretch>
        </p:blipFill>
        <p:spPr>
          <a:xfrm>
            <a:off x="10363654" y="371776"/>
            <a:ext cx="1325426" cy="603504"/>
          </a:xfrm>
          <a:prstGeom prst="rect">
            <a:avLst/>
          </a:prstGeom>
        </p:spPr>
      </p:pic>
      <p:sp>
        <p:nvSpPr>
          <p:cNvPr id="4" name="TextBox 3"/>
          <p:cNvSpPr txBox="1"/>
          <p:nvPr/>
        </p:nvSpPr>
        <p:spPr>
          <a:xfrm>
            <a:off x="502920" y="658368"/>
            <a:ext cx="9600000" cy="420000"/>
          </a:xfrm>
          <a:prstGeom prst="rect">
            <a:avLst/>
          </a:prstGeom>
          <a:noFill/>
        </p:spPr>
        <p:txBody>
          <a:bodyPr wrap="square" lIns="0" tIns="0" rIns="0" bIns="0">
            <a:spAutoFit/>
          </a:bodyPr>
          <a:lstStyle/>
          <a:p>
            <a:pPr>
              <a:defRPr sz="2800" b="1">
                <a:solidFill>
                  <a:srgbClr val="071A45"/>
                </a:solidFill>
                <a:latin typeface="Calibri"/>
              </a:defRPr>
            </a:pPr>
            <a:r>
              <a:t>Implemented System: Collaborative &amp; Focus Workspace</a:t>
            </a:r>
          </a:p>
        </p:txBody>
      </p:sp>
      <p:sp>
        <p:nvSpPr>
          <p:cNvPr id="5" name="TextBox 4"/>
          <p:cNvSpPr txBox="1"/>
          <p:nvPr/>
        </p:nvSpPr>
        <p:spPr>
          <a:xfrm>
            <a:off x="502920" y="1080000"/>
            <a:ext cx="9600000" cy="260000"/>
          </a:xfrm>
          <a:prstGeom prst="rect">
            <a:avLst/>
          </a:prstGeom>
          <a:noFill/>
        </p:spPr>
        <p:txBody>
          <a:bodyPr wrap="square" lIns="0" tIns="0" rIns="0" bIns="0">
            <a:spAutoFit/>
          </a:bodyPr>
          <a:lstStyle/>
          <a:p>
            <a:pPr>
              <a:defRPr sz="1200">
                <a:solidFill>
                  <a:srgbClr val="475569"/>
                </a:solidFill>
                <a:latin typeface="Calibri"/>
              </a:defRPr>
            </a:pPr>
            <a:r>
              <a:t>Peer study rooms, live pair-coding sandbox, Pomodoro timer, and 24/7 AI course tutor</a:t>
            </a:r>
          </a:p>
        </p:txBody>
      </p:sp>
      <p:sp>
        <p:nvSpPr>
          <p:cNvPr id="6" name="Rectangle 5"/>
          <p:cNvSpPr/>
          <p:nvPr/>
        </p:nvSpPr>
        <p:spPr>
          <a:xfrm>
            <a:off x="502920" y="1350000"/>
            <a:ext cx="11183112" cy="15000"/>
          </a:xfrm>
          <a:prstGeom prst="rect">
            <a:avLst/>
          </a:prstGeom>
          <a:solidFill>
            <a:srgbClr val="DFE4EE"/>
          </a:solidFill>
          <a:ln>
            <a:solidFill>
              <a:srgbClr val="DF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382512"/>
            <a:ext cx="2926080" cy="256032"/>
          </a:xfrm>
          <a:prstGeom prst="rect">
            <a:avLst/>
          </a:prstGeom>
          <a:noFill/>
        </p:spPr>
        <p:txBody>
          <a:bodyPr wrap="square" lIns="0" tIns="0" rIns="0" bIns="0">
            <a:spAutoFit/>
          </a:bodyPr>
          <a:lstStyle/>
          <a:p>
            <a:pPr>
              <a:defRPr sz="1000">
                <a:solidFill>
                  <a:srgbClr val="475569"/>
                </a:solidFill>
                <a:latin typeface="Calibri"/>
              </a:defRPr>
            </a:pPr>
            <a:r>
              <a:t>25-07-2026</a:t>
            </a:r>
          </a:p>
        </p:txBody>
      </p:sp>
      <p:sp>
        <p:nvSpPr>
          <p:cNvPr id="8" name="TextBox 7"/>
          <p:cNvSpPr txBox="1"/>
          <p:nvPr/>
        </p:nvSpPr>
        <p:spPr>
          <a:xfrm>
            <a:off x="3657600" y="6382512"/>
            <a:ext cx="4873752" cy="256032"/>
          </a:xfrm>
          <a:prstGeom prst="rect">
            <a:avLst/>
          </a:prstGeom>
          <a:noFill/>
        </p:spPr>
        <p:txBody>
          <a:bodyPr wrap="square" lIns="0" tIns="0" rIns="0" bIns="0">
            <a:spAutoFit/>
          </a:bodyPr>
          <a:lstStyle/>
          <a:p>
            <a:pPr>
              <a:defRPr sz="1000">
                <a:solidFill>
                  <a:srgbClr val="475569"/>
                </a:solidFill>
                <a:latin typeface="Calibri"/>
              </a:defRPr>
            </a:pPr>
            <a:r>
              <a:t>Sri Eshwar College of Engineering  ·  Design Thinking &amp; Innovation</a:t>
            </a:r>
          </a:p>
        </p:txBody>
      </p:sp>
      <p:sp>
        <p:nvSpPr>
          <p:cNvPr id="9" name="TextBox 8"/>
          <p:cNvSpPr txBox="1"/>
          <p:nvPr/>
        </p:nvSpPr>
        <p:spPr>
          <a:xfrm>
            <a:off x="10424160" y="6382512"/>
            <a:ext cx="1261872" cy="256032"/>
          </a:xfrm>
          <a:prstGeom prst="rect">
            <a:avLst/>
          </a:prstGeom>
          <a:noFill/>
        </p:spPr>
        <p:txBody>
          <a:bodyPr wrap="square" lIns="0" tIns="0" rIns="0" bIns="0">
            <a:spAutoFit/>
          </a:bodyPr>
          <a:lstStyle/>
          <a:p>
            <a:pPr>
              <a:defRPr sz="1000">
                <a:solidFill>
                  <a:srgbClr val="475569"/>
                </a:solidFill>
                <a:latin typeface="Calibri"/>
              </a:defRPr>
            </a:pPr>
            <a:r>
              <a:t>15</a:t>
            </a:r>
          </a:p>
        </p:txBody>
      </p:sp>
      <p:sp>
        <p:nvSpPr>
          <p:cNvPr id="10" name="Rounded Rectangle 9"/>
          <p:cNvSpPr/>
          <p:nvPr/>
        </p:nvSpPr>
        <p:spPr>
          <a:xfrm>
            <a:off x="502920" y="1460000"/>
            <a:ext cx="3520000" cy="4750000"/>
          </a:xfrm>
          <a:prstGeom prst="roundRect">
            <a:avLst/>
          </a:prstGeom>
          <a:solidFill>
            <a:srgbClr val="F8FAFC"/>
          </a:solidFill>
          <a:ln w="19050">
            <a:solidFill>
              <a:srgbClr val="C3C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2920" y="1560000"/>
            <a:ext cx="3280000" cy="320000"/>
          </a:xfrm>
          <a:prstGeom prst="rect">
            <a:avLst/>
          </a:prstGeom>
          <a:noFill/>
        </p:spPr>
        <p:txBody>
          <a:bodyPr wrap="square" lIns="0" tIns="0" rIns="0" bIns="0">
            <a:spAutoFit/>
          </a:bodyPr>
          <a:lstStyle/>
          <a:p>
            <a:pPr>
              <a:defRPr sz="1300" b="1">
                <a:solidFill>
                  <a:srgbClr val="071A45"/>
                </a:solidFill>
                <a:latin typeface="Calibri"/>
              </a:defRPr>
            </a:pPr>
            <a:r>
              <a:t>Peer Study &amp; Live Pair Coding</a:t>
            </a:r>
          </a:p>
        </p:txBody>
      </p:sp>
      <p:pic>
        <p:nvPicPr>
          <p:cNvPr id="12" name="Picture 11" descr="raw_screen_2.jpeg"/>
          <p:cNvPicPr>
            <a:picLocks noChangeAspect="1"/>
          </p:cNvPicPr>
          <p:nvPr/>
        </p:nvPicPr>
        <p:blipFill>
          <a:blip r:embed="rId4"/>
          <a:stretch>
            <a:fillRect/>
          </a:stretch>
        </p:blipFill>
        <p:spPr>
          <a:xfrm>
            <a:off x="622920" y="1920000"/>
            <a:ext cx="3280000" cy="1980000"/>
          </a:xfrm>
          <a:prstGeom prst="rect">
            <a:avLst/>
          </a:prstGeom>
        </p:spPr>
      </p:pic>
      <p:sp>
        <p:nvSpPr>
          <p:cNvPr id="13" name="TextBox 12"/>
          <p:cNvSpPr txBox="1"/>
          <p:nvPr/>
        </p:nvSpPr>
        <p:spPr>
          <a:xfrm>
            <a:off x="622920" y="3960000"/>
            <a:ext cx="3280000" cy="2150000"/>
          </a:xfrm>
          <a:prstGeom prst="rect">
            <a:avLst/>
          </a:prstGeom>
          <a:noFill/>
        </p:spPr>
        <p:txBody>
          <a:bodyPr wrap="square" lIns="0" tIns="0" rIns="0" bIns="0">
            <a:spAutoFit/>
          </a:bodyPr>
          <a:lstStyle/>
          <a:p>
            <a:pPr>
              <a:spcAft>
                <a:spcPts val="400"/>
              </a:spcAft>
              <a:defRPr sz="1050">
                <a:solidFill>
                  <a:srgbClr val="0F172A"/>
                </a:solidFill>
                <a:latin typeface="Calibri"/>
              </a:defRPr>
            </a:pPr>
            <a:r>
              <a:t>• Collaborative multi-user study workspace with WebRTC live video and crystal-clear audio calls.</a:t>
            </a:r>
          </a:p>
          <a:p>
            <a:pPr>
              <a:spcAft>
                <a:spcPts val="400"/>
              </a:spcAft>
              <a:defRPr sz="1050">
                <a:solidFill>
                  <a:srgbClr val="0F172A"/>
                </a:solidFill>
                <a:latin typeface="Calibri"/>
              </a:defRPr>
            </a:pPr>
            <a:r>
              <a:t>• Interactive multi-language live code sandbox for real-time collaborative coding and debugging.</a:t>
            </a:r>
          </a:p>
          <a:p>
            <a:pPr>
              <a:spcAft>
                <a:spcPts val="400"/>
              </a:spcAft>
              <a:defRPr sz="1050">
                <a:solidFill>
                  <a:srgbClr val="0F172A"/>
                </a:solidFill>
                <a:latin typeface="Calibri"/>
              </a:defRPr>
            </a:pPr>
            <a:r>
              <a:t>• Synchronized study rooms with shared markdown notes to conquer difficult STEM problem sets together.</a:t>
            </a:r>
          </a:p>
        </p:txBody>
      </p:sp>
      <p:sp>
        <p:nvSpPr>
          <p:cNvPr id="14" name="Rounded Rectangle 13"/>
          <p:cNvSpPr/>
          <p:nvPr/>
        </p:nvSpPr>
        <p:spPr>
          <a:xfrm>
            <a:off x="4330000" y="1460000"/>
            <a:ext cx="3520000" cy="4750000"/>
          </a:xfrm>
          <a:prstGeom prst="roundRect">
            <a:avLst/>
          </a:prstGeom>
          <a:solidFill>
            <a:srgbClr val="F8FAFC"/>
          </a:solidFill>
          <a:ln w="19050">
            <a:solidFill>
              <a:srgbClr val="C3C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50000" y="1560000"/>
            <a:ext cx="3280000" cy="320000"/>
          </a:xfrm>
          <a:prstGeom prst="rect">
            <a:avLst/>
          </a:prstGeom>
          <a:noFill/>
        </p:spPr>
        <p:txBody>
          <a:bodyPr wrap="square" lIns="0" tIns="0" rIns="0" bIns="0">
            <a:spAutoFit/>
          </a:bodyPr>
          <a:lstStyle/>
          <a:p>
            <a:pPr>
              <a:defRPr sz="1300" b="1">
                <a:solidFill>
                  <a:srgbClr val="071A45"/>
                </a:solidFill>
                <a:latin typeface="Calibri"/>
              </a:defRPr>
            </a:pPr>
            <a:r>
              <a:t>Pomodoro &amp; Focus Timer</a:t>
            </a:r>
          </a:p>
        </p:txBody>
      </p:sp>
      <p:pic>
        <p:nvPicPr>
          <p:cNvPr id="16" name="Picture 15" descr="raw_screen_4.jpeg"/>
          <p:cNvPicPr>
            <a:picLocks noChangeAspect="1"/>
          </p:cNvPicPr>
          <p:nvPr/>
        </p:nvPicPr>
        <p:blipFill>
          <a:blip r:embed="rId5"/>
          <a:stretch>
            <a:fillRect/>
          </a:stretch>
        </p:blipFill>
        <p:spPr>
          <a:xfrm>
            <a:off x="4450000" y="1920000"/>
            <a:ext cx="3280000" cy="1980000"/>
          </a:xfrm>
          <a:prstGeom prst="rect">
            <a:avLst/>
          </a:prstGeom>
        </p:spPr>
      </p:pic>
      <p:sp>
        <p:nvSpPr>
          <p:cNvPr id="17" name="TextBox 16"/>
          <p:cNvSpPr txBox="1"/>
          <p:nvPr/>
        </p:nvSpPr>
        <p:spPr>
          <a:xfrm>
            <a:off x="4450000" y="3960000"/>
            <a:ext cx="3280000" cy="2150000"/>
          </a:xfrm>
          <a:prstGeom prst="rect">
            <a:avLst/>
          </a:prstGeom>
          <a:noFill/>
        </p:spPr>
        <p:txBody>
          <a:bodyPr wrap="square" lIns="0" tIns="0" rIns="0" bIns="0">
            <a:spAutoFit/>
          </a:bodyPr>
          <a:lstStyle/>
          <a:p>
            <a:pPr>
              <a:spcAft>
                <a:spcPts val="400"/>
              </a:spcAft>
              <a:defRPr sz="1050">
                <a:solidFill>
                  <a:srgbClr val="0F172A"/>
                </a:solidFill>
                <a:latin typeface="Calibri"/>
              </a:defRPr>
            </a:pPr>
            <a:r>
              <a:t>• Customizable study intervals: 25m Pomodoro, 50m Deep Work, 90m Ultra, and 5m Rest breaks.</a:t>
            </a:r>
          </a:p>
          <a:p>
            <a:pPr>
              <a:spcAft>
                <a:spcPts val="400"/>
              </a:spcAft>
              <a:defRPr sz="1050">
                <a:solidFill>
                  <a:srgbClr val="0F172A"/>
                </a:solidFill>
                <a:latin typeface="Calibri"/>
              </a:defRPr>
            </a:pPr>
            <a:r>
              <a:t>• Directly links each focus block to specific study planner tasks and subjects for automated logging.</a:t>
            </a:r>
          </a:p>
          <a:p>
            <a:pPr>
              <a:spcAft>
                <a:spcPts val="400"/>
              </a:spcAft>
              <a:defRPr sz="1050">
                <a:solidFill>
                  <a:srgbClr val="0F172A"/>
                </a:solidFill>
                <a:latin typeface="Calibri"/>
              </a:defRPr>
            </a:pPr>
            <a:r>
              <a:t>• Integrated ambient soundscapes: Rain Sounds, Deep Brown Noise, Alpha Waves (10Hz), and Forest.</a:t>
            </a:r>
          </a:p>
        </p:txBody>
      </p:sp>
      <p:sp>
        <p:nvSpPr>
          <p:cNvPr id="18" name="Rounded Rectangle 17"/>
          <p:cNvSpPr/>
          <p:nvPr/>
        </p:nvSpPr>
        <p:spPr>
          <a:xfrm>
            <a:off x="8160000" y="1460000"/>
            <a:ext cx="3520000" cy="4750000"/>
          </a:xfrm>
          <a:prstGeom prst="roundRect">
            <a:avLst/>
          </a:prstGeom>
          <a:solidFill>
            <a:srgbClr val="F8FAFC"/>
          </a:solidFill>
          <a:ln w="19050">
            <a:solidFill>
              <a:srgbClr val="C3C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80000" y="1560000"/>
            <a:ext cx="3280000" cy="320000"/>
          </a:xfrm>
          <a:prstGeom prst="rect">
            <a:avLst/>
          </a:prstGeom>
          <a:noFill/>
        </p:spPr>
        <p:txBody>
          <a:bodyPr wrap="square" lIns="0" tIns="0" rIns="0" bIns="0">
            <a:spAutoFit/>
          </a:bodyPr>
          <a:lstStyle/>
          <a:p>
            <a:pPr>
              <a:defRPr sz="1300" b="1">
                <a:solidFill>
                  <a:srgbClr val="071A45"/>
                </a:solidFill>
                <a:latin typeface="Calibri"/>
              </a:defRPr>
            </a:pPr>
            <a:r>
              <a:t>24/7 AI Course Tutor Assistant</a:t>
            </a:r>
          </a:p>
        </p:txBody>
      </p:sp>
      <p:pic>
        <p:nvPicPr>
          <p:cNvPr id="20" name="Picture 19" descr="raw_screen_11.jpeg"/>
          <p:cNvPicPr>
            <a:picLocks noChangeAspect="1"/>
          </p:cNvPicPr>
          <p:nvPr/>
        </p:nvPicPr>
        <p:blipFill>
          <a:blip r:embed="rId6"/>
          <a:stretch>
            <a:fillRect/>
          </a:stretch>
        </p:blipFill>
        <p:spPr>
          <a:xfrm>
            <a:off x="8280000" y="1920000"/>
            <a:ext cx="3280000" cy="1980000"/>
          </a:xfrm>
          <a:prstGeom prst="rect">
            <a:avLst/>
          </a:prstGeom>
        </p:spPr>
      </p:pic>
      <p:sp>
        <p:nvSpPr>
          <p:cNvPr id="21" name="TextBox 20"/>
          <p:cNvSpPr txBox="1"/>
          <p:nvPr/>
        </p:nvSpPr>
        <p:spPr>
          <a:xfrm>
            <a:off x="8280000" y="3960000"/>
            <a:ext cx="3280000" cy="2150000"/>
          </a:xfrm>
          <a:prstGeom prst="rect">
            <a:avLst/>
          </a:prstGeom>
          <a:noFill/>
        </p:spPr>
        <p:txBody>
          <a:bodyPr wrap="square" lIns="0" tIns="0" rIns="0" bIns="0">
            <a:spAutoFit/>
          </a:bodyPr>
          <a:lstStyle/>
          <a:p>
            <a:pPr>
              <a:spcAft>
                <a:spcPts val="400"/>
              </a:spcAft>
              <a:defRPr sz="1050">
                <a:solidFill>
                  <a:srgbClr val="0F172A"/>
                </a:solidFill>
                <a:latin typeface="Calibri"/>
              </a:defRPr>
            </a:pPr>
            <a:r>
              <a:t>• Context-grounded conversational AI tutor providing step-by-step collegiate problem explanations.</a:t>
            </a:r>
          </a:p>
          <a:p>
            <a:pPr>
              <a:spcAft>
                <a:spcPts val="400"/>
              </a:spcAft>
              <a:defRPr sz="1050">
                <a:solidFill>
                  <a:srgbClr val="0F172A"/>
                </a:solidFill>
                <a:latin typeface="Calibri"/>
              </a:defRPr>
            </a:pPr>
            <a:r>
              <a:t>• Allows students to ask clarifying questions on lecture PDFs, algorithms, and complex theorems.</a:t>
            </a:r>
          </a:p>
          <a:p>
            <a:pPr>
              <a:spcAft>
                <a:spcPts val="400"/>
              </a:spcAft>
              <a:defRPr sz="1050">
                <a:solidFill>
                  <a:srgbClr val="0F172A"/>
                </a:solidFill>
                <a:latin typeface="Calibri"/>
              </a:defRPr>
            </a:pPr>
            <a:r>
              <a:t>• Offers personalized study tips and simplifies difficult engineering concepts with analogies.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457200" y="237744"/>
            <a:ext cx="1024128" cy="283464"/>
          </a:xfrm>
          <a:prstGeom prst="rect">
            <a:avLst/>
          </a:prstGeom>
        </p:spPr>
      </p:pic>
      <p:pic>
        <p:nvPicPr>
          <p:cNvPr id="3" name="Picture 2" descr="image.png"/>
          <p:cNvPicPr>
            <a:picLocks noChangeAspect="1"/>
          </p:cNvPicPr>
          <p:nvPr/>
        </p:nvPicPr>
        <p:blipFill>
          <a:blip r:embed="rId3"/>
          <a:stretch>
            <a:fillRect/>
          </a:stretch>
        </p:blipFill>
        <p:spPr>
          <a:xfrm>
            <a:off x="10363654" y="371776"/>
            <a:ext cx="1325426" cy="603504"/>
          </a:xfrm>
          <a:prstGeom prst="rect">
            <a:avLst/>
          </a:prstGeom>
        </p:spPr>
      </p:pic>
      <p:sp>
        <p:nvSpPr>
          <p:cNvPr id="4" name="TextBox 3"/>
          <p:cNvSpPr txBox="1"/>
          <p:nvPr/>
        </p:nvSpPr>
        <p:spPr>
          <a:xfrm>
            <a:off x="502920" y="658368"/>
            <a:ext cx="9600000" cy="420000"/>
          </a:xfrm>
          <a:prstGeom prst="rect">
            <a:avLst/>
          </a:prstGeom>
          <a:noFill/>
        </p:spPr>
        <p:txBody>
          <a:bodyPr wrap="square" lIns="0" tIns="0" rIns="0" bIns="0">
            <a:spAutoFit/>
          </a:bodyPr>
          <a:lstStyle/>
          <a:p>
            <a:pPr>
              <a:defRPr sz="2800" b="1">
                <a:solidFill>
                  <a:srgbClr val="071A45"/>
                </a:solidFill>
                <a:latin typeface="Calibri"/>
              </a:defRPr>
            </a:pPr>
            <a:r>
              <a:t>Implemented System: Analytics, Reminders &amp; Settings</a:t>
            </a:r>
          </a:p>
        </p:txBody>
      </p:sp>
      <p:sp>
        <p:nvSpPr>
          <p:cNvPr id="5" name="TextBox 4"/>
          <p:cNvSpPr txBox="1"/>
          <p:nvPr/>
        </p:nvSpPr>
        <p:spPr>
          <a:xfrm>
            <a:off x="502920" y="1080000"/>
            <a:ext cx="9600000" cy="260000"/>
          </a:xfrm>
          <a:prstGeom prst="rect">
            <a:avLst/>
          </a:prstGeom>
          <a:noFill/>
        </p:spPr>
        <p:txBody>
          <a:bodyPr wrap="square" lIns="0" tIns="0" rIns="0" bIns="0">
            <a:spAutoFit/>
          </a:bodyPr>
          <a:lstStyle/>
          <a:p>
            <a:pPr>
              <a:defRPr sz="1200">
                <a:solidFill>
                  <a:srgbClr val="475569"/>
                </a:solidFill>
                <a:latin typeface="Calibri"/>
              </a:defRPr>
            </a:pPr>
            <a:r>
              <a:t>Quantitative mastery analytics, automated reminder schedules, and account preferences</a:t>
            </a:r>
          </a:p>
        </p:txBody>
      </p:sp>
      <p:sp>
        <p:nvSpPr>
          <p:cNvPr id="6" name="Rectangle 5"/>
          <p:cNvSpPr/>
          <p:nvPr/>
        </p:nvSpPr>
        <p:spPr>
          <a:xfrm>
            <a:off x="502920" y="1350000"/>
            <a:ext cx="11183112" cy="15000"/>
          </a:xfrm>
          <a:prstGeom prst="rect">
            <a:avLst/>
          </a:prstGeom>
          <a:solidFill>
            <a:srgbClr val="DFE4EE"/>
          </a:solidFill>
          <a:ln>
            <a:solidFill>
              <a:srgbClr val="DF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382512"/>
            <a:ext cx="2926080" cy="256032"/>
          </a:xfrm>
          <a:prstGeom prst="rect">
            <a:avLst/>
          </a:prstGeom>
          <a:noFill/>
        </p:spPr>
        <p:txBody>
          <a:bodyPr wrap="square" lIns="0" tIns="0" rIns="0" bIns="0">
            <a:spAutoFit/>
          </a:bodyPr>
          <a:lstStyle/>
          <a:p>
            <a:pPr>
              <a:defRPr sz="1000">
                <a:solidFill>
                  <a:srgbClr val="475569"/>
                </a:solidFill>
                <a:latin typeface="Calibri"/>
              </a:defRPr>
            </a:pPr>
            <a:r>
              <a:t>25-07-2026</a:t>
            </a:r>
          </a:p>
        </p:txBody>
      </p:sp>
      <p:sp>
        <p:nvSpPr>
          <p:cNvPr id="8" name="TextBox 7"/>
          <p:cNvSpPr txBox="1"/>
          <p:nvPr/>
        </p:nvSpPr>
        <p:spPr>
          <a:xfrm>
            <a:off x="3657600" y="6382512"/>
            <a:ext cx="4873752" cy="256032"/>
          </a:xfrm>
          <a:prstGeom prst="rect">
            <a:avLst/>
          </a:prstGeom>
          <a:noFill/>
        </p:spPr>
        <p:txBody>
          <a:bodyPr wrap="square" lIns="0" tIns="0" rIns="0" bIns="0">
            <a:spAutoFit/>
          </a:bodyPr>
          <a:lstStyle/>
          <a:p>
            <a:pPr>
              <a:defRPr sz="1000">
                <a:solidFill>
                  <a:srgbClr val="475569"/>
                </a:solidFill>
                <a:latin typeface="Calibri"/>
              </a:defRPr>
            </a:pPr>
            <a:r>
              <a:t>Sri Eshwar College of Engineering  ·  Design Thinking &amp; Innovation</a:t>
            </a:r>
          </a:p>
        </p:txBody>
      </p:sp>
      <p:sp>
        <p:nvSpPr>
          <p:cNvPr id="9" name="TextBox 8"/>
          <p:cNvSpPr txBox="1"/>
          <p:nvPr/>
        </p:nvSpPr>
        <p:spPr>
          <a:xfrm>
            <a:off x="10424160" y="6382512"/>
            <a:ext cx="1261872" cy="256032"/>
          </a:xfrm>
          <a:prstGeom prst="rect">
            <a:avLst/>
          </a:prstGeom>
          <a:noFill/>
        </p:spPr>
        <p:txBody>
          <a:bodyPr wrap="square" lIns="0" tIns="0" rIns="0" bIns="0">
            <a:spAutoFit/>
          </a:bodyPr>
          <a:lstStyle/>
          <a:p>
            <a:pPr>
              <a:defRPr sz="1000">
                <a:solidFill>
                  <a:srgbClr val="475569"/>
                </a:solidFill>
                <a:latin typeface="Calibri"/>
              </a:defRPr>
            </a:pPr>
            <a:r>
              <a:t>16</a:t>
            </a:r>
          </a:p>
        </p:txBody>
      </p:sp>
      <p:sp>
        <p:nvSpPr>
          <p:cNvPr id="10" name="Rounded Rectangle 9"/>
          <p:cNvSpPr/>
          <p:nvPr/>
        </p:nvSpPr>
        <p:spPr>
          <a:xfrm>
            <a:off x="502920" y="1460000"/>
            <a:ext cx="3520000" cy="4750000"/>
          </a:xfrm>
          <a:prstGeom prst="roundRect">
            <a:avLst/>
          </a:prstGeom>
          <a:solidFill>
            <a:srgbClr val="F8FAFC"/>
          </a:solidFill>
          <a:ln w="19050">
            <a:solidFill>
              <a:srgbClr val="C3C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2920" y="1560000"/>
            <a:ext cx="3280000" cy="320000"/>
          </a:xfrm>
          <a:prstGeom prst="rect">
            <a:avLst/>
          </a:prstGeom>
          <a:noFill/>
        </p:spPr>
        <p:txBody>
          <a:bodyPr wrap="square" lIns="0" tIns="0" rIns="0" bIns="0">
            <a:spAutoFit/>
          </a:bodyPr>
          <a:lstStyle/>
          <a:p>
            <a:pPr>
              <a:defRPr sz="1300" b="1">
                <a:solidFill>
                  <a:srgbClr val="071A45"/>
                </a:solidFill>
                <a:latin typeface="Calibri"/>
              </a:defRPr>
            </a:pPr>
            <a:r>
              <a:t>Progress &amp; Performance Analytics</a:t>
            </a:r>
          </a:p>
        </p:txBody>
      </p:sp>
      <p:pic>
        <p:nvPicPr>
          <p:cNvPr id="12" name="Picture 11" descr="raw_screen_10.jpeg"/>
          <p:cNvPicPr>
            <a:picLocks noChangeAspect="1"/>
          </p:cNvPicPr>
          <p:nvPr/>
        </p:nvPicPr>
        <p:blipFill>
          <a:blip r:embed="rId4"/>
          <a:stretch>
            <a:fillRect/>
          </a:stretch>
        </p:blipFill>
        <p:spPr>
          <a:xfrm>
            <a:off x="622920" y="1920000"/>
            <a:ext cx="3280000" cy="1980000"/>
          </a:xfrm>
          <a:prstGeom prst="rect">
            <a:avLst/>
          </a:prstGeom>
        </p:spPr>
      </p:pic>
      <p:sp>
        <p:nvSpPr>
          <p:cNvPr id="13" name="TextBox 12"/>
          <p:cNvSpPr txBox="1"/>
          <p:nvPr/>
        </p:nvSpPr>
        <p:spPr>
          <a:xfrm>
            <a:off x="622920" y="3960000"/>
            <a:ext cx="3280000" cy="2150000"/>
          </a:xfrm>
          <a:prstGeom prst="rect">
            <a:avLst/>
          </a:prstGeom>
          <a:noFill/>
        </p:spPr>
        <p:txBody>
          <a:bodyPr wrap="square" lIns="0" tIns="0" rIns="0" bIns="0">
            <a:spAutoFit/>
          </a:bodyPr>
          <a:lstStyle/>
          <a:p>
            <a:pPr>
              <a:spcAft>
                <a:spcPts val="400"/>
              </a:spcAft>
              <a:defRPr sz="1050">
                <a:solidFill>
                  <a:srgbClr val="0F172A"/>
                </a:solidFill>
                <a:latin typeface="Calibri"/>
              </a:defRPr>
            </a:pPr>
            <a:r>
              <a:t>• Weekly study goal tracker (0m / 12h) displaying overall accuracy and total focused study minutes.</a:t>
            </a:r>
          </a:p>
          <a:p>
            <a:pPr>
              <a:spcAft>
                <a:spcPts val="400"/>
              </a:spcAft>
              <a:defRPr sz="1050">
                <a:solidFill>
                  <a:srgbClr val="0F172A"/>
                </a:solidFill>
                <a:latin typeface="Calibri"/>
              </a:defRPr>
            </a:pPr>
            <a:r>
              <a:t>• Dynamic Recharts data visualizations: 'Quiz Accuracy Over Time' tracking chronological mastery.</a:t>
            </a:r>
          </a:p>
          <a:p>
            <a:pPr>
              <a:spcAft>
                <a:spcPts val="400"/>
              </a:spcAft>
              <a:defRPr sz="1050">
                <a:solidFill>
                  <a:srgbClr val="0F172A"/>
                </a:solidFill>
                <a:latin typeface="Calibri"/>
              </a:defRPr>
            </a:pPr>
            <a:r>
              <a:t>• Gamified milestone badges and StudySpark reward points celebrating consistent study habits.</a:t>
            </a:r>
          </a:p>
        </p:txBody>
      </p:sp>
      <p:sp>
        <p:nvSpPr>
          <p:cNvPr id="14" name="Rounded Rectangle 13"/>
          <p:cNvSpPr/>
          <p:nvPr/>
        </p:nvSpPr>
        <p:spPr>
          <a:xfrm>
            <a:off x="4330000" y="1460000"/>
            <a:ext cx="3520000" cy="4750000"/>
          </a:xfrm>
          <a:prstGeom prst="roundRect">
            <a:avLst/>
          </a:prstGeom>
          <a:solidFill>
            <a:srgbClr val="F8FAFC"/>
          </a:solidFill>
          <a:ln w="19050">
            <a:solidFill>
              <a:srgbClr val="C3C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50000" y="1560000"/>
            <a:ext cx="3280000" cy="320000"/>
          </a:xfrm>
          <a:prstGeom prst="rect">
            <a:avLst/>
          </a:prstGeom>
          <a:noFill/>
        </p:spPr>
        <p:txBody>
          <a:bodyPr wrap="square" lIns="0" tIns="0" rIns="0" bIns="0">
            <a:spAutoFit/>
          </a:bodyPr>
          <a:lstStyle/>
          <a:p>
            <a:pPr>
              <a:defRPr sz="1300" b="1">
                <a:solidFill>
                  <a:srgbClr val="071A45"/>
                </a:solidFill>
                <a:latin typeface="Calibri"/>
              </a:defRPr>
            </a:pPr>
            <a:r>
              <a:t>Automated Study Reminders</a:t>
            </a:r>
          </a:p>
        </p:txBody>
      </p:sp>
      <p:pic>
        <p:nvPicPr>
          <p:cNvPr id="16" name="Picture 15" descr="raw_screen_12.jpeg"/>
          <p:cNvPicPr>
            <a:picLocks noChangeAspect="1"/>
          </p:cNvPicPr>
          <p:nvPr/>
        </p:nvPicPr>
        <p:blipFill>
          <a:blip r:embed="rId5"/>
          <a:stretch>
            <a:fillRect/>
          </a:stretch>
        </p:blipFill>
        <p:spPr>
          <a:xfrm>
            <a:off x="4450000" y="1920000"/>
            <a:ext cx="3280000" cy="1980000"/>
          </a:xfrm>
          <a:prstGeom prst="rect">
            <a:avLst/>
          </a:prstGeom>
        </p:spPr>
      </p:pic>
      <p:sp>
        <p:nvSpPr>
          <p:cNvPr id="17" name="TextBox 16"/>
          <p:cNvSpPr txBox="1"/>
          <p:nvPr/>
        </p:nvSpPr>
        <p:spPr>
          <a:xfrm>
            <a:off x="4450000" y="3960000"/>
            <a:ext cx="3280000" cy="2150000"/>
          </a:xfrm>
          <a:prstGeom prst="rect">
            <a:avLst/>
          </a:prstGeom>
          <a:noFill/>
        </p:spPr>
        <p:txBody>
          <a:bodyPr wrap="square" lIns="0" tIns="0" rIns="0" bIns="0">
            <a:spAutoFit/>
          </a:bodyPr>
          <a:lstStyle/>
          <a:p>
            <a:pPr>
              <a:spcAft>
                <a:spcPts val="400"/>
              </a:spcAft>
              <a:defRPr sz="1050">
                <a:solidFill>
                  <a:srgbClr val="0F172A"/>
                </a:solidFill>
                <a:latin typeface="Calibri"/>
              </a:defRPr>
            </a:pPr>
            <a:r>
              <a:t>• Proactive browser and in-app scheduled notification system alerting students of study sessions.</a:t>
            </a:r>
          </a:p>
          <a:p>
            <a:pPr>
              <a:spcAft>
                <a:spcPts val="400"/>
              </a:spcAft>
              <a:defRPr sz="1050">
                <a:solidFill>
                  <a:srgbClr val="0F172A"/>
                </a:solidFill>
                <a:latin typeface="Calibri"/>
              </a:defRPr>
            </a:pPr>
            <a:r>
              <a:t>• Background worker checks active reminder schedules every 30 seconds to prevent missed tasks.</a:t>
            </a:r>
          </a:p>
          <a:p>
            <a:pPr>
              <a:spcAft>
                <a:spcPts val="400"/>
              </a:spcAft>
              <a:defRPr sz="1050">
                <a:solidFill>
                  <a:srgbClr val="0F172A"/>
                </a:solidFill>
                <a:latin typeface="Calibri"/>
              </a:defRPr>
            </a:pPr>
            <a:r>
              <a:t>• Customizable alert frequencies ensuring students never miss an upcoming exam revision window.</a:t>
            </a:r>
          </a:p>
        </p:txBody>
      </p:sp>
      <p:sp>
        <p:nvSpPr>
          <p:cNvPr id="18" name="Rounded Rectangle 17"/>
          <p:cNvSpPr/>
          <p:nvPr/>
        </p:nvSpPr>
        <p:spPr>
          <a:xfrm>
            <a:off x="8160000" y="1460000"/>
            <a:ext cx="3520000" cy="4750000"/>
          </a:xfrm>
          <a:prstGeom prst="roundRect">
            <a:avLst/>
          </a:prstGeom>
          <a:solidFill>
            <a:srgbClr val="F8FAFC"/>
          </a:solidFill>
          <a:ln w="19050">
            <a:solidFill>
              <a:srgbClr val="C3C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80000" y="1560000"/>
            <a:ext cx="3280000" cy="320000"/>
          </a:xfrm>
          <a:prstGeom prst="rect">
            <a:avLst/>
          </a:prstGeom>
          <a:noFill/>
        </p:spPr>
        <p:txBody>
          <a:bodyPr wrap="square" lIns="0" tIns="0" rIns="0" bIns="0">
            <a:spAutoFit/>
          </a:bodyPr>
          <a:lstStyle/>
          <a:p>
            <a:pPr>
              <a:defRPr sz="1300" b="1">
                <a:solidFill>
                  <a:srgbClr val="071A45"/>
                </a:solidFill>
                <a:latin typeface="Calibri"/>
              </a:defRPr>
            </a:pPr>
            <a:r>
              <a:t>Account Settings &amp; Personalization</a:t>
            </a:r>
          </a:p>
        </p:txBody>
      </p:sp>
      <p:pic>
        <p:nvPicPr>
          <p:cNvPr id="20" name="Picture 19" descr="raw_screen_13.jpeg"/>
          <p:cNvPicPr>
            <a:picLocks noChangeAspect="1"/>
          </p:cNvPicPr>
          <p:nvPr/>
        </p:nvPicPr>
        <p:blipFill>
          <a:blip r:embed="rId6"/>
          <a:stretch>
            <a:fillRect/>
          </a:stretch>
        </p:blipFill>
        <p:spPr>
          <a:xfrm>
            <a:off x="8280000" y="1920000"/>
            <a:ext cx="3280000" cy="1980000"/>
          </a:xfrm>
          <a:prstGeom prst="rect">
            <a:avLst/>
          </a:prstGeom>
        </p:spPr>
      </p:pic>
      <p:sp>
        <p:nvSpPr>
          <p:cNvPr id="21" name="TextBox 20"/>
          <p:cNvSpPr txBox="1"/>
          <p:nvPr/>
        </p:nvSpPr>
        <p:spPr>
          <a:xfrm>
            <a:off x="8280000" y="3960000"/>
            <a:ext cx="3280000" cy="2150000"/>
          </a:xfrm>
          <a:prstGeom prst="rect">
            <a:avLst/>
          </a:prstGeom>
          <a:noFill/>
        </p:spPr>
        <p:txBody>
          <a:bodyPr wrap="square" lIns="0" tIns="0" rIns="0" bIns="0">
            <a:spAutoFit/>
          </a:bodyPr>
          <a:lstStyle/>
          <a:p>
            <a:pPr>
              <a:spcAft>
                <a:spcPts val="400"/>
              </a:spcAft>
              <a:defRPr sz="1050">
                <a:solidFill>
                  <a:srgbClr val="0F172A"/>
                </a:solidFill>
                <a:latin typeface="Calibri"/>
              </a:defRPr>
            </a:pPr>
            <a:r>
              <a:t>• Customizable academic profiles: University / College, Course, Major, and weekly study goal hours.</a:t>
            </a:r>
          </a:p>
          <a:p>
            <a:pPr>
              <a:spcAft>
                <a:spcPts val="400"/>
              </a:spcAft>
              <a:defRPr sz="1050">
                <a:solidFill>
                  <a:srgbClr val="0F172A"/>
                </a:solidFill>
                <a:latin typeface="Calibri"/>
              </a:defRPr>
            </a:pPr>
            <a:r>
              <a:t>• Timezone auto-alignment ensures precision notification delivery across study schedules.</a:t>
            </a:r>
          </a:p>
          <a:p>
            <a:pPr>
              <a:spcAft>
                <a:spcPts val="400"/>
              </a:spcAft>
              <a:defRPr sz="1050">
                <a:solidFill>
                  <a:srgbClr val="0F172A"/>
                </a:solidFill>
                <a:latin typeface="Calibri"/>
              </a:defRPr>
            </a:pPr>
            <a:r>
              <a:t>• Full theme customization: System Default, Light Mode, and high-contrast Dark Mode.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457200" y="237744"/>
            <a:ext cx="1024128" cy="283464"/>
          </a:xfrm>
          <a:prstGeom prst="rect">
            <a:avLst/>
          </a:prstGeom>
        </p:spPr>
      </p:pic>
      <p:pic>
        <p:nvPicPr>
          <p:cNvPr id="3" name="Picture 2" descr="image.png"/>
          <p:cNvPicPr>
            <a:picLocks noChangeAspect="1"/>
          </p:cNvPicPr>
          <p:nvPr/>
        </p:nvPicPr>
        <p:blipFill>
          <a:blip r:embed="rId3"/>
          <a:stretch>
            <a:fillRect/>
          </a:stretch>
        </p:blipFill>
        <p:spPr>
          <a:xfrm>
            <a:off x="10363654" y="371776"/>
            <a:ext cx="1325426" cy="603504"/>
          </a:xfrm>
          <a:prstGeom prst="rect">
            <a:avLst/>
          </a:prstGeom>
        </p:spPr>
      </p:pic>
      <p:sp>
        <p:nvSpPr>
          <p:cNvPr id="4" name="TextBox 3"/>
          <p:cNvSpPr txBox="1"/>
          <p:nvPr/>
        </p:nvSpPr>
        <p:spPr>
          <a:xfrm>
            <a:off x="502920" y="658368"/>
            <a:ext cx="9600000" cy="420000"/>
          </a:xfrm>
          <a:prstGeom prst="rect">
            <a:avLst/>
          </a:prstGeom>
          <a:noFill/>
        </p:spPr>
        <p:txBody>
          <a:bodyPr wrap="square" lIns="0" tIns="0" rIns="0" bIns="0">
            <a:spAutoFit/>
          </a:bodyPr>
          <a:lstStyle/>
          <a:p>
            <a:pPr>
              <a:defRPr sz="2800" b="1">
                <a:solidFill>
                  <a:srgbClr val="071A45"/>
                </a:solidFill>
                <a:latin typeface="Calibri"/>
              </a:defRPr>
            </a:pPr>
            <a:r>
              <a:t>Results &amp; Performance Evaluation</a:t>
            </a:r>
          </a:p>
        </p:txBody>
      </p:sp>
      <p:sp>
        <p:nvSpPr>
          <p:cNvPr id="5" name="TextBox 4"/>
          <p:cNvSpPr txBox="1"/>
          <p:nvPr/>
        </p:nvSpPr>
        <p:spPr>
          <a:xfrm>
            <a:off x="502920" y="1080000"/>
            <a:ext cx="9600000" cy="260000"/>
          </a:xfrm>
          <a:prstGeom prst="rect">
            <a:avLst/>
          </a:prstGeom>
          <a:noFill/>
        </p:spPr>
        <p:txBody>
          <a:bodyPr wrap="square" lIns="0" tIns="0" rIns="0" bIns="0">
            <a:spAutoFit/>
          </a:bodyPr>
          <a:lstStyle/>
          <a:p>
            <a:pPr>
              <a:defRPr sz="1200">
                <a:solidFill>
                  <a:srgbClr val="475569"/>
                </a:solidFill>
                <a:latin typeface="Calibri"/>
              </a:defRPr>
            </a:pPr>
            <a:r>
              <a:t>Empirical pilot testing results, quantitative productivity metrics, and user validation</a:t>
            </a:r>
          </a:p>
        </p:txBody>
      </p:sp>
      <p:sp>
        <p:nvSpPr>
          <p:cNvPr id="6" name="Rectangle 5"/>
          <p:cNvSpPr/>
          <p:nvPr/>
        </p:nvSpPr>
        <p:spPr>
          <a:xfrm>
            <a:off x="502920" y="1350000"/>
            <a:ext cx="11183112" cy="15000"/>
          </a:xfrm>
          <a:prstGeom prst="rect">
            <a:avLst/>
          </a:prstGeom>
          <a:solidFill>
            <a:srgbClr val="DFE4EE"/>
          </a:solidFill>
          <a:ln>
            <a:solidFill>
              <a:srgbClr val="DF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382512"/>
            <a:ext cx="2926080" cy="256032"/>
          </a:xfrm>
          <a:prstGeom prst="rect">
            <a:avLst/>
          </a:prstGeom>
          <a:noFill/>
        </p:spPr>
        <p:txBody>
          <a:bodyPr wrap="square" lIns="0" tIns="0" rIns="0" bIns="0">
            <a:spAutoFit/>
          </a:bodyPr>
          <a:lstStyle/>
          <a:p>
            <a:pPr>
              <a:defRPr sz="1000">
                <a:solidFill>
                  <a:srgbClr val="475569"/>
                </a:solidFill>
                <a:latin typeface="Calibri"/>
              </a:defRPr>
            </a:pPr>
            <a:r>
              <a:t>25-07-2026</a:t>
            </a:r>
          </a:p>
        </p:txBody>
      </p:sp>
      <p:sp>
        <p:nvSpPr>
          <p:cNvPr id="8" name="TextBox 7"/>
          <p:cNvSpPr txBox="1"/>
          <p:nvPr/>
        </p:nvSpPr>
        <p:spPr>
          <a:xfrm>
            <a:off x="3657600" y="6382512"/>
            <a:ext cx="4873752" cy="256032"/>
          </a:xfrm>
          <a:prstGeom prst="rect">
            <a:avLst/>
          </a:prstGeom>
          <a:noFill/>
        </p:spPr>
        <p:txBody>
          <a:bodyPr wrap="square" lIns="0" tIns="0" rIns="0" bIns="0">
            <a:spAutoFit/>
          </a:bodyPr>
          <a:lstStyle/>
          <a:p>
            <a:pPr>
              <a:defRPr sz="1000">
                <a:solidFill>
                  <a:srgbClr val="475569"/>
                </a:solidFill>
                <a:latin typeface="Calibri"/>
              </a:defRPr>
            </a:pPr>
            <a:r>
              <a:t>Sri Eshwar College of Engineering  ·  Design Thinking &amp; Innovation</a:t>
            </a:r>
          </a:p>
        </p:txBody>
      </p:sp>
      <p:sp>
        <p:nvSpPr>
          <p:cNvPr id="9" name="TextBox 8"/>
          <p:cNvSpPr txBox="1"/>
          <p:nvPr/>
        </p:nvSpPr>
        <p:spPr>
          <a:xfrm>
            <a:off x="10424160" y="6382512"/>
            <a:ext cx="1261872" cy="256032"/>
          </a:xfrm>
          <a:prstGeom prst="rect">
            <a:avLst/>
          </a:prstGeom>
          <a:noFill/>
        </p:spPr>
        <p:txBody>
          <a:bodyPr wrap="square" lIns="0" tIns="0" rIns="0" bIns="0">
            <a:spAutoFit/>
          </a:bodyPr>
          <a:lstStyle/>
          <a:p>
            <a:pPr>
              <a:defRPr sz="1000">
                <a:solidFill>
                  <a:srgbClr val="475569"/>
                </a:solidFill>
                <a:latin typeface="Calibri"/>
              </a:defRPr>
            </a:pPr>
            <a:r>
              <a:t>17</a:t>
            </a:r>
          </a:p>
        </p:txBody>
      </p:sp>
      <p:sp>
        <p:nvSpPr>
          <p:cNvPr id="10" name="Rounded Rectangle 9"/>
          <p:cNvSpPr/>
          <p:nvPr/>
        </p:nvSpPr>
        <p:spPr>
          <a:xfrm>
            <a:off x="502920" y="1460000"/>
            <a:ext cx="5560000" cy="1780000"/>
          </a:xfrm>
          <a:prstGeom prst="roundRect">
            <a:avLst/>
          </a:prstGeom>
          <a:solidFill>
            <a:srgbClr val="EEF2FF"/>
          </a:solidFill>
          <a:ln w="19050">
            <a:solidFill>
              <a:srgbClr val="C3CDE8"/>
            </a:solidFill>
          </a:ln>
        </p:spPr>
        <p:style>
          <a:lnRef idx="1">
            <a:schemeClr val="accent1"/>
          </a:lnRef>
          <a:fillRef idx="3">
            <a:schemeClr val="accent1"/>
          </a:fillRef>
          <a:effectRef idx="2">
            <a:schemeClr val="accent1"/>
          </a:effectRef>
          <a:fontRef idx="minor">
            <a:schemeClr val="lt1"/>
          </a:fontRef>
        </p:style>
        <p:txBody>
          <a:bodyPr rtlCol="0" anchor="ctr" wrap="square" lIns="240000" tIns="140000" rIns="240000" bIns="100000"/>
          <a:lstStyle/>
          <a:p>
            <a:pPr algn="ctr">
              <a:defRPr sz="2000" b="1">
                <a:solidFill>
                  <a:srgbClr val="1C52C2"/>
                </a:solidFill>
                <a:latin typeface="Calibri"/>
              </a:defRPr>
            </a:pPr>
            <a:r>
              <a:t>2.5+ Hours Saved Weekly</a:t>
            </a:r>
          </a:p>
          <a:p>
            <a:pPr>
              <a:spcAft>
                <a:spcPts val="400"/>
              </a:spcAft>
              <a:defRPr sz="1300" b="1">
                <a:solidFill>
                  <a:srgbClr val="071A45"/>
                </a:solidFill>
                <a:latin typeface="Calibri"/>
              </a:defRPr>
            </a:pPr>
            <a:r>
              <a:t>+35% Study Time Efficiency</a:t>
            </a:r>
          </a:p>
          <a:p>
            <a:pPr>
              <a:defRPr sz="1100">
                <a:solidFill>
                  <a:srgbClr val="0F172A"/>
                </a:solidFill>
                <a:latin typeface="Calibri"/>
              </a:defRPr>
            </a:pPr>
            <a:r>
              <a:t>Students eliminated 30-45 minutes of daily indecision and material searching through automated AI study plan generation and instant document-to-quiz synthesis.</a:t>
            </a:r>
          </a:p>
        </p:txBody>
      </p:sp>
      <p:sp>
        <p:nvSpPr>
          <p:cNvPr id="11" name="Rounded Rectangle 10"/>
          <p:cNvSpPr/>
          <p:nvPr/>
        </p:nvSpPr>
        <p:spPr>
          <a:xfrm>
            <a:off x="6120000" y="1460000"/>
            <a:ext cx="5560000" cy="1780000"/>
          </a:xfrm>
          <a:prstGeom prst="roundRect">
            <a:avLst/>
          </a:prstGeom>
          <a:solidFill>
            <a:srgbClr val="ECFDF5"/>
          </a:solidFill>
          <a:ln w="19050">
            <a:solidFill>
              <a:srgbClr val="047857"/>
            </a:solidFill>
          </a:ln>
        </p:spPr>
        <p:style>
          <a:lnRef idx="1">
            <a:schemeClr val="accent1"/>
          </a:lnRef>
          <a:fillRef idx="3">
            <a:schemeClr val="accent1"/>
          </a:fillRef>
          <a:effectRef idx="2">
            <a:schemeClr val="accent1"/>
          </a:effectRef>
          <a:fontRef idx="minor">
            <a:schemeClr val="lt1"/>
          </a:fontRef>
        </p:style>
        <p:txBody>
          <a:bodyPr rtlCol="0" anchor="ctr" wrap="square" lIns="240000" tIns="140000" rIns="240000" bIns="100000"/>
          <a:lstStyle/>
          <a:p>
            <a:pPr algn="ctr">
              <a:defRPr sz="2000" b="1">
                <a:solidFill>
                  <a:srgbClr val="047857"/>
                </a:solidFill>
                <a:latin typeface="Calibri"/>
              </a:defRPr>
            </a:pPr>
            <a:r>
              <a:t>78% Retention Boost</a:t>
            </a:r>
          </a:p>
          <a:p>
            <a:pPr>
              <a:spcAft>
                <a:spcPts val="400"/>
              </a:spcAft>
              <a:defRPr sz="1300" b="1">
                <a:solidFill>
                  <a:srgbClr val="071A45"/>
                </a:solidFill>
                <a:latin typeface="Calibri"/>
              </a:defRPr>
            </a:pPr>
            <a:r>
              <a:t>Active Recall &amp; Spaced Repetition</a:t>
            </a:r>
          </a:p>
          <a:p>
            <a:pPr>
              <a:defRPr sz="1100">
                <a:solidFill>
                  <a:srgbClr val="0F172A"/>
                </a:solidFill>
                <a:latin typeface="Calibri"/>
              </a:defRPr>
            </a:pPr>
            <a:r>
              <a:t>Evaluation over a 14-day test cycle demonstrated a 78% higher concept recall rate using StudySpark's SM-2 flashcards and adaptive quizzes compared to passive textbook reading.</a:t>
            </a:r>
          </a:p>
        </p:txBody>
      </p:sp>
      <p:sp>
        <p:nvSpPr>
          <p:cNvPr id="12" name="Rounded Rectangle 11"/>
          <p:cNvSpPr/>
          <p:nvPr/>
        </p:nvSpPr>
        <p:spPr>
          <a:xfrm>
            <a:off x="502920" y="3400000"/>
            <a:ext cx="5560000" cy="1780000"/>
          </a:xfrm>
          <a:prstGeom prst="roundRect">
            <a:avLst/>
          </a:prstGeom>
          <a:solidFill>
            <a:srgbClr val="FEF3C7"/>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240000" tIns="140000" rIns="240000" bIns="100000"/>
          <a:lstStyle/>
          <a:p>
            <a:pPr algn="ctr">
              <a:defRPr sz="2000" b="1">
                <a:solidFill>
                  <a:srgbClr val="D97706"/>
                </a:solidFill>
                <a:latin typeface="Calibri"/>
              </a:defRPr>
            </a:pPr>
            <a:r>
              <a:t>92% Exam Confidence</a:t>
            </a:r>
          </a:p>
          <a:p>
            <a:pPr>
              <a:spcAft>
                <a:spcPts val="400"/>
              </a:spcAft>
              <a:defRPr sz="1300" b="1">
                <a:solidFill>
                  <a:srgbClr val="071A45"/>
                </a:solidFill>
                <a:latin typeface="Calibri"/>
              </a:defRPr>
            </a:pPr>
            <a:r>
              <a:t>Rigorous Simulation Diagnostics</a:t>
            </a:r>
          </a:p>
          <a:p>
            <a:pPr>
              <a:defRPr sz="1100">
                <a:solidFill>
                  <a:srgbClr val="0F172A"/>
                </a:solidFill>
                <a:latin typeface="Calibri"/>
              </a:defRPr>
            </a:pPr>
            <a:r>
              <a:t>Zero-hint timed exam simulations accurately replicated university midterm pressure, reducing exam anxiety and improving test-pacing among 92% of pilot students.</a:t>
            </a:r>
          </a:p>
        </p:txBody>
      </p:sp>
      <p:sp>
        <p:nvSpPr>
          <p:cNvPr id="13" name="Rounded Rectangle 12"/>
          <p:cNvSpPr/>
          <p:nvPr/>
        </p:nvSpPr>
        <p:spPr>
          <a:xfrm>
            <a:off x="6120000" y="3400000"/>
            <a:ext cx="5560000" cy="1780000"/>
          </a:xfrm>
          <a:prstGeom prst="roundRect">
            <a:avLst/>
          </a:prstGeom>
          <a:solidFill>
            <a:srgbClr val="F8FAFC"/>
          </a:solidFill>
          <a:ln w="19050">
            <a:solidFill>
              <a:srgbClr val="DFE4EE"/>
            </a:solidFill>
          </a:ln>
        </p:spPr>
        <p:style>
          <a:lnRef idx="1">
            <a:schemeClr val="accent1"/>
          </a:lnRef>
          <a:fillRef idx="3">
            <a:schemeClr val="accent1"/>
          </a:fillRef>
          <a:effectRef idx="2">
            <a:schemeClr val="accent1"/>
          </a:effectRef>
          <a:fontRef idx="minor">
            <a:schemeClr val="lt1"/>
          </a:fontRef>
        </p:style>
        <p:txBody>
          <a:bodyPr rtlCol="0" anchor="ctr" wrap="square" lIns="240000" tIns="140000" rIns="240000" bIns="100000"/>
          <a:lstStyle/>
          <a:p>
            <a:pPr algn="ctr">
              <a:defRPr sz="2000" b="1">
                <a:solidFill>
                  <a:srgbClr val="071A45"/>
                </a:solidFill>
                <a:latin typeface="Calibri"/>
              </a:defRPr>
            </a:pPr>
            <a:r>
              <a:t>100% Offline Resilience</a:t>
            </a:r>
          </a:p>
          <a:p>
            <a:pPr>
              <a:spcAft>
                <a:spcPts val="400"/>
              </a:spcAft>
              <a:defRPr sz="1300" b="1">
                <a:solidFill>
                  <a:srgbClr val="071A45"/>
                </a:solidFill>
                <a:latin typeface="Calibri"/>
              </a:defRPr>
            </a:pPr>
            <a:r>
              <a:t>IndexedDB &amp; PWA Reliability</a:t>
            </a:r>
          </a:p>
          <a:p>
            <a:pPr>
              <a:defRPr sz="1100">
                <a:solidFill>
                  <a:srgbClr val="0F172A"/>
                </a:solidFill>
                <a:latin typeface="Calibri"/>
              </a:defRPr>
            </a:pPr>
            <a:r>
              <a:t>Local client-side caching ensures seamless offline operation during campus Wi-Fi drops with zero data loss and automated cloud synchronization when reconnected.</a:t>
            </a:r>
          </a:p>
        </p:txBody>
      </p:sp>
      <p:sp>
        <p:nvSpPr>
          <p:cNvPr id="14" name="Rounded Rectangle 13"/>
          <p:cNvSpPr/>
          <p:nvPr/>
        </p:nvSpPr>
        <p:spPr>
          <a:xfrm>
            <a:off x="502920" y="5340000"/>
            <a:ext cx="11183112" cy="860000"/>
          </a:xfrm>
          <a:prstGeom prst="roundRect">
            <a:avLst/>
          </a:prstGeom>
          <a:solidFill>
            <a:srgbClr val="FFFFFF"/>
          </a:solidFill>
          <a:ln w="12700">
            <a:solidFill>
              <a:srgbClr val="DFE4EE"/>
            </a:solidFill>
          </a:ln>
        </p:spPr>
        <p:style>
          <a:lnRef idx="1">
            <a:schemeClr val="accent1"/>
          </a:lnRef>
          <a:fillRef idx="3">
            <a:schemeClr val="accent1"/>
          </a:fillRef>
          <a:effectRef idx="2">
            <a:schemeClr val="accent1"/>
          </a:effectRef>
          <a:fontRef idx="minor">
            <a:schemeClr val="lt1"/>
          </a:fontRef>
        </p:style>
        <p:txBody>
          <a:bodyPr rtlCol="0" anchor="ctr" wrap="square" lIns="240000" tIns="120000" rIns="240000" bIns="80000"/>
          <a:lstStyle/>
          <a:p>
            <a:pPr algn="ctr">
              <a:defRPr sz="1100" i="1">
                <a:solidFill>
                  <a:srgbClr val="071A45"/>
                </a:solidFill>
                <a:latin typeface="Calibri"/>
              </a:defRPr>
            </a:pPr>
            <a:r>
              <a:t>Student Pilot Feedback: "The automated Weak Topic Detector eliminated my guesswork before midterms. Instead of rereading entire 80-page PDFs, StudySpark immediately pointed me to the 3 formulas I kept missing and scheduled 15-minute drills until I mastered them."</a:t>
            </a:r>
          </a:p>
          <a:p>
            <a:pPr>
              <a:defRPr sz="1050" b="1">
                <a:solidFill>
                  <a:srgbClr val="475569"/>
                </a:solidFill>
                <a:latin typeface="Calibri"/>
              </a:defRPr>
            </a:pPr>
            <a:r>
              <a:t>— Tested with 25+ First-Year AI &amp; Data Science Students, Sri Eshwar College of Engineering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457200" y="237744"/>
            <a:ext cx="1024128" cy="283464"/>
          </a:xfrm>
          <a:prstGeom prst="rect">
            <a:avLst/>
          </a:prstGeom>
        </p:spPr>
      </p:pic>
      <p:pic>
        <p:nvPicPr>
          <p:cNvPr id="3" name="Picture 2" descr="image.png"/>
          <p:cNvPicPr>
            <a:picLocks noChangeAspect="1"/>
          </p:cNvPicPr>
          <p:nvPr/>
        </p:nvPicPr>
        <p:blipFill>
          <a:blip r:embed="rId3"/>
          <a:stretch>
            <a:fillRect/>
          </a:stretch>
        </p:blipFill>
        <p:spPr>
          <a:xfrm>
            <a:off x="10363654" y="371776"/>
            <a:ext cx="1325426" cy="603504"/>
          </a:xfrm>
          <a:prstGeom prst="rect">
            <a:avLst/>
          </a:prstGeom>
        </p:spPr>
      </p:pic>
      <p:sp>
        <p:nvSpPr>
          <p:cNvPr id="4" name="TextBox 3"/>
          <p:cNvSpPr txBox="1"/>
          <p:nvPr/>
        </p:nvSpPr>
        <p:spPr>
          <a:xfrm>
            <a:off x="502920" y="658368"/>
            <a:ext cx="9600000" cy="420000"/>
          </a:xfrm>
          <a:prstGeom prst="rect">
            <a:avLst/>
          </a:prstGeom>
          <a:noFill/>
        </p:spPr>
        <p:txBody>
          <a:bodyPr wrap="square" lIns="0" tIns="0" rIns="0" bIns="0">
            <a:spAutoFit/>
          </a:bodyPr>
          <a:lstStyle/>
          <a:p>
            <a:pPr>
              <a:defRPr sz="2800" b="1">
                <a:solidFill>
                  <a:srgbClr val="071A45"/>
                </a:solidFill>
                <a:latin typeface="Calibri"/>
              </a:defRPr>
            </a:pPr>
            <a:r>
              <a:t>Conclusion &amp; Future Scope</a:t>
            </a:r>
          </a:p>
        </p:txBody>
      </p:sp>
      <p:sp>
        <p:nvSpPr>
          <p:cNvPr id="5" name="TextBox 4"/>
          <p:cNvSpPr txBox="1"/>
          <p:nvPr/>
        </p:nvSpPr>
        <p:spPr>
          <a:xfrm>
            <a:off x="502920" y="1080000"/>
            <a:ext cx="9600000" cy="260000"/>
          </a:xfrm>
          <a:prstGeom prst="rect">
            <a:avLst/>
          </a:prstGeom>
          <a:noFill/>
        </p:spPr>
        <p:txBody>
          <a:bodyPr wrap="square" lIns="0" tIns="0" rIns="0" bIns="0">
            <a:spAutoFit/>
          </a:bodyPr>
          <a:lstStyle/>
          <a:p>
            <a:pPr>
              <a:defRPr sz="1200">
                <a:solidFill>
                  <a:srgbClr val="475569"/>
                </a:solidFill>
                <a:latin typeface="Calibri"/>
              </a:defRPr>
            </a:pPr>
            <a:r>
              <a:t>Summary of Design Thinking outcomes and sustainable expansion roadmap</a:t>
            </a:r>
          </a:p>
        </p:txBody>
      </p:sp>
      <p:sp>
        <p:nvSpPr>
          <p:cNvPr id="6" name="Rectangle 5"/>
          <p:cNvSpPr/>
          <p:nvPr/>
        </p:nvSpPr>
        <p:spPr>
          <a:xfrm>
            <a:off x="502920" y="1350000"/>
            <a:ext cx="11183112" cy="15000"/>
          </a:xfrm>
          <a:prstGeom prst="rect">
            <a:avLst/>
          </a:prstGeom>
          <a:solidFill>
            <a:srgbClr val="DFE4EE"/>
          </a:solidFill>
          <a:ln>
            <a:solidFill>
              <a:srgbClr val="DF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382512"/>
            <a:ext cx="2926080" cy="256032"/>
          </a:xfrm>
          <a:prstGeom prst="rect">
            <a:avLst/>
          </a:prstGeom>
          <a:noFill/>
        </p:spPr>
        <p:txBody>
          <a:bodyPr wrap="square" lIns="0" tIns="0" rIns="0" bIns="0">
            <a:spAutoFit/>
          </a:bodyPr>
          <a:lstStyle/>
          <a:p>
            <a:pPr>
              <a:defRPr sz="1000">
                <a:solidFill>
                  <a:srgbClr val="475569"/>
                </a:solidFill>
                <a:latin typeface="Calibri"/>
              </a:defRPr>
            </a:pPr>
            <a:r>
              <a:t>25-07-2026</a:t>
            </a:r>
          </a:p>
        </p:txBody>
      </p:sp>
      <p:sp>
        <p:nvSpPr>
          <p:cNvPr id="8" name="TextBox 7"/>
          <p:cNvSpPr txBox="1"/>
          <p:nvPr/>
        </p:nvSpPr>
        <p:spPr>
          <a:xfrm>
            <a:off x="3657600" y="6382512"/>
            <a:ext cx="4873752" cy="256032"/>
          </a:xfrm>
          <a:prstGeom prst="rect">
            <a:avLst/>
          </a:prstGeom>
          <a:noFill/>
        </p:spPr>
        <p:txBody>
          <a:bodyPr wrap="square" lIns="0" tIns="0" rIns="0" bIns="0">
            <a:spAutoFit/>
          </a:bodyPr>
          <a:lstStyle/>
          <a:p>
            <a:pPr>
              <a:defRPr sz="1000">
                <a:solidFill>
                  <a:srgbClr val="475569"/>
                </a:solidFill>
                <a:latin typeface="Calibri"/>
              </a:defRPr>
            </a:pPr>
            <a:r>
              <a:t>Sri Eshwar College of Engineering  ·  Design Thinking &amp; Innovation</a:t>
            </a:r>
          </a:p>
        </p:txBody>
      </p:sp>
      <p:sp>
        <p:nvSpPr>
          <p:cNvPr id="9" name="TextBox 8"/>
          <p:cNvSpPr txBox="1"/>
          <p:nvPr/>
        </p:nvSpPr>
        <p:spPr>
          <a:xfrm>
            <a:off x="10424160" y="6382512"/>
            <a:ext cx="1261872" cy="256032"/>
          </a:xfrm>
          <a:prstGeom prst="rect">
            <a:avLst/>
          </a:prstGeom>
          <a:noFill/>
        </p:spPr>
        <p:txBody>
          <a:bodyPr wrap="square" lIns="0" tIns="0" rIns="0" bIns="0">
            <a:spAutoFit/>
          </a:bodyPr>
          <a:lstStyle/>
          <a:p>
            <a:pPr>
              <a:defRPr sz="1000">
                <a:solidFill>
                  <a:srgbClr val="475569"/>
                </a:solidFill>
                <a:latin typeface="Calibri"/>
              </a:defRPr>
            </a:pPr>
            <a:r>
              <a:t>18</a:t>
            </a:r>
          </a:p>
        </p:txBody>
      </p:sp>
      <p:sp>
        <p:nvSpPr>
          <p:cNvPr id="10" name="Rounded Rectangle 9"/>
          <p:cNvSpPr/>
          <p:nvPr/>
        </p:nvSpPr>
        <p:spPr>
          <a:xfrm>
            <a:off x="502920" y="1460000"/>
            <a:ext cx="5450000" cy="4750000"/>
          </a:xfrm>
          <a:prstGeom prst="roundRect">
            <a:avLst/>
          </a:prstGeom>
          <a:solidFill>
            <a:srgbClr val="F8FAFC"/>
          </a:solidFill>
          <a:ln w="19050">
            <a:solidFill>
              <a:srgbClr val="C3CDE8"/>
            </a:solidFill>
          </a:ln>
        </p:spPr>
        <p:style>
          <a:lnRef idx="1">
            <a:schemeClr val="accent1"/>
          </a:lnRef>
          <a:fillRef idx="3">
            <a:schemeClr val="accent1"/>
          </a:fillRef>
          <a:effectRef idx="2">
            <a:schemeClr val="accent1"/>
          </a:effectRef>
          <a:fontRef idx="minor">
            <a:schemeClr val="lt1"/>
          </a:fontRef>
        </p:style>
        <p:txBody>
          <a:bodyPr rtlCol="0" anchor="ctr" wrap="square" lIns="240000" tIns="180000" rIns="240000" bIns="140000"/>
          <a:lstStyle/>
          <a:p>
            <a:pPr algn="ctr">
              <a:spcAft>
                <a:spcPts val="1000"/>
              </a:spcAft>
              <a:defRPr sz="1600" b="1">
                <a:solidFill>
                  <a:srgbClr val="071A45"/>
                </a:solidFill>
                <a:latin typeface="Calibri"/>
              </a:defRPr>
            </a:pPr>
            <a:r>
              <a:t>PROJECT CONCLUSION</a:t>
            </a:r>
          </a:p>
          <a:p>
            <a:pPr>
              <a:spcAft>
                <a:spcPts val="800"/>
              </a:spcAft>
              <a:defRPr sz="1100">
                <a:solidFill>
                  <a:srgbClr val="0F172A"/>
                </a:solidFill>
                <a:latin typeface="Calibri"/>
              </a:defRPr>
            </a:pPr>
            <a:r>
              <a:t>• Design Thinking Validation: Starting from genuine first-year engineering student empathy interviews, we successfully diagnosed and solved the root causes of study disorganization, procrastination, and exam panic.</a:t>
            </a:r>
          </a:p>
          <a:p>
            <a:pPr>
              <a:spcAft>
                <a:spcPts val="800"/>
              </a:spcAft>
              <a:defRPr sz="1100">
                <a:solidFill>
                  <a:srgbClr val="0F172A"/>
                </a:solidFill>
                <a:latin typeface="Calibri"/>
              </a:defRPr>
            </a:pPr>
            <a:r>
              <a:t>• Working Production Prototype: Successfully engineered a deployed, highly responsive Progressive Web App (PWA) incorporating generative AI, WebRTC collaborative pair coding, Pomodoro timers, and adaptive schedulers.</a:t>
            </a:r>
          </a:p>
          <a:p>
            <a:pPr>
              <a:spcAft>
                <a:spcPts val="800"/>
              </a:spcAft>
              <a:defRPr sz="1100">
                <a:solidFill>
                  <a:srgbClr val="0F172A"/>
                </a:solidFill>
                <a:latin typeface="Calibri"/>
              </a:defRPr>
            </a:pPr>
            <a:r>
              <a:t>• Closed-Loop Mastery Cycle: Replaced static, one-way study planners with a dynamic feedback loop: Upload Notes → Generate Quizzes → Detect Weaknesses (&lt;60%) → Smart Re-Plan → Master Topics.</a:t>
            </a:r>
          </a:p>
          <a:p>
            <a:pPr>
              <a:spcAft>
                <a:spcPts val="800"/>
              </a:spcAft>
              <a:defRPr sz="1100">
                <a:solidFill>
                  <a:srgbClr val="0F172A"/>
                </a:solidFill>
                <a:latin typeface="Calibri"/>
              </a:defRPr>
            </a:pPr>
            <a:r>
              <a:t>• Sustainable Educational Impact: Directly advances UN Sustainable Development Goal 4 (Quality Education) by democratizing high-quality, personalized AI tutoring at zero barrier to entry.</a:t>
            </a:r>
          </a:p>
        </p:txBody>
      </p:sp>
      <p:sp>
        <p:nvSpPr>
          <p:cNvPr id="11" name="Rounded Rectangle 10"/>
          <p:cNvSpPr/>
          <p:nvPr/>
        </p:nvSpPr>
        <p:spPr>
          <a:xfrm>
            <a:off x="6230000" y="1460000"/>
            <a:ext cx="5450000" cy="4750000"/>
          </a:xfrm>
          <a:prstGeom prst="roundRect">
            <a:avLst/>
          </a:prstGeom>
          <a:solidFill>
            <a:srgbClr val="F8FAFC"/>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240000" tIns="180000" rIns="240000" bIns="140000"/>
          <a:lstStyle/>
          <a:p>
            <a:pPr algn="ctr">
              <a:spcAft>
                <a:spcPts val="1000"/>
              </a:spcAft>
              <a:defRPr sz="1600" b="1">
                <a:solidFill>
                  <a:srgbClr val="D97706"/>
                </a:solidFill>
                <a:latin typeface="Calibri"/>
              </a:defRPr>
            </a:pPr>
            <a:r>
              <a:t>FUTURE SCOPE &amp; NEXT STEPS</a:t>
            </a:r>
          </a:p>
          <a:p>
            <a:pPr>
              <a:spcAft>
                <a:spcPts val="800"/>
              </a:spcAft>
              <a:defRPr sz="1100">
                <a:solidFill>
                  <a:srgbClr val="0F172A"/>
                </a:solidFill>
                <a:latin typeface="Calibri"/>
              </a:defRPr>
            </a:pPr>
            <a:r>
              <a:t>1.  Institutional LMS &amp; Timetable Sync: Integrate automated API connections to Anna University curriculum databases, Google Classroom, and college ERP to auto-populate exam dates and course syllabi.</a:t>
            </a:r>
          </a:p>
          <a:p>
            <a:pPr>
              <a:spcAft>
                <a:spcPts val="800"/>
              </a:spcAft>
              <a:defRPr sz="1100">
                <a:solidFill>
                  <a:srgbClr val="0F172A"/>
                </a:solidFill>
                <a:latin typeface="Calibri"/>
              </a:defRPr>
            </a:pPr>
            <a:r>
              <a:t>• On-Device Speech-to-Text Lecture AI: Implement Whisper on-device speech transcription to convert live physical classroom audio into structured study notes, flashcards, and quizzes in real-time.</a:t>
            </a:r>
          </a:p>
          <a:p>
            <a:pPr>
              <a:spcAft>
                <a:spcPts val="800"/>
              </a:spcAft>
              <a:defRPr sz="1100">
                <a:solidFill>
                  <a:srgbClr val="0F172A"/>
                </a:solidFill>
                <a:latin typeface="Calibri"/>
              </a:defRPr>
            </a:pPr>
            <a:r>
              <a:t>• Cross-Platform Native Mobile Apps: Package the PWA into native iOS and Android apps with lock-screen widgets, background alarm notifications, and offline study reminders.</a:t>
            </a:r>
          </a:p>
          <a:p>
            <a:pPr>
              <a:spcAft>
                <a:spcPts val="800"/>
              </a:spcAft>
              <a:defRPr sz="1100">
                <a:solidFill>
                  <a:srgbClr val="0F172A"/>
                </a:solidFill>
                <a:latin typeface="Calibri"/>
              </a:defRPr>
            </a:pPr>
            <a:r>
              <a:t>• Faculty &amp; Mentor Diagnostic Portals: Provide anonymized cohort-level heatmaps to professors, showing aggregate weak concepts across classrooms so teaching faculty can adjust lecture pacing.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515</TotalTime>
  <Words>1664</Words>
  <Application>Microsoft Office PowerPoint</Application>
  <PresentationFormat>Widescreen</PresentationFormat>
  <Paragraphs>269</Paragraphs>
  <Slides>13</Slides>
  <Notes>13</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13</vt:i4>
      </vt:variant>
    </vt:vector>
  </HeadingPairs>
  <TitlesOfParts>
    <vt:vector size="18" baseType="lpstr">
      <vt:lpstr>Aptos</vt:lpstr>
      <vt:lpstr>Arial</vt:lpstr>
      <vt:lpstr>Calibri</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Thinking &amp; Innovation - Idea Showcase Template</dc:title>
  <dc:subject>PptxGenJS Presentation</dc:subject>
  <dc:creator>Sri Eshwar College of Engineering</dc:creator>
  <cp:lastModifiedBy>Bragalya Yazhini</cp:lastModifiedBy>
  <cp:revision>23</cp:revision>
  <dcterms:created xsi:type="dcterms:W3CDTF">2026-07-23T03:19:16Z</dcterms:created>
  <dcterms:modified xsi:type="dcterms:W3CDTF">2026-07-27T03:20:13Z</dcterms:modified>
</cp:coreProperties>
</file>